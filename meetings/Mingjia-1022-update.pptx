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Corbel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5DB5B4-9D57-4105-80F7-641AF46B6E8A}">
  <a:tblStyle styleId="{E25DB5B4-9D57-4105-80F7-641AF46B6E8A}" styleName="Table_0">
    <a:wholeTbl>
      <a:tcTxStyle b="off" i="off">
        <a:font>
          <a:latin typeface="Arial"/>
          <a:ea typeface="Arial"/>
          <a:cs typeface="Arial"/>
        </a:font>
        <a:schemeClr val="dk1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560E7119-B5C1-419B-856C-2FA07D2E47C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orbel-boldItalic.fntdata"/><Relationship Id="rId10" Type="http://schemas.openxmlformats.org/officeDocument/2006/relationships/font" Target="fonts/Corbel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Corbel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Corbel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74f33eedff7517af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74f33eedff7517af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2438" y="404813"/>
            <a:ext cx="82392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2438" y="889861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2438" y="1593189"/>
            <a:ext cx="8239200" cy="3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94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500562" y="4905375"/>
            <a:ext cx="1383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1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7315200" y="800100"/>
            <a:ext cx="0" cy="337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5"/>
          <p:cNvCxnSpPr/>
          <p:nvPr/>
        </p:nvCxnSpPr>
        <p:spPr>
          <a:xfrm>
            <a:off x="304800" y="2542172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70241" y="2785429"/>
            <a:ext cx="69342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680"/>
              <a:buFont typeface="Noto Sans Symbols"/>
              <a:buNone/>
              <a:defRPr b="0" i="0" sz="2400" u="none" cap="none" strike="noStrike">
                <a:solidFill>
                  <a:srgbClr val="36609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168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381000" y="1152149"/>
            <a:ext cx="6934200" cy="139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5454"/>
              </a:buClr>
              <a:buSzPts val="4200"/>
              <a:buFont typeface="Corbel"/>
              <a:buNone/>
              <a:defRPr b="1" i="0" sz="4200" u="none" cap="none" strike="noStrike">
                <a:solidFill>
                  <a:srgbClr val="545454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457200" y="4767263"/>
            <a:ext cx="8229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see_logo.png"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39000" y="2656472"/>
            <a:ext cx="1294726" cy="1143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" name="Google Shape;66;p15"/>
          <p:cNvGraphicFramePr/>
          <p:nvPr/>
        </p:nvGraphicFramePr>
        <p:xfrm>
          <a:off x="977900" y="40366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{E25DB5B4-9D57-4105-80F7-641AF46B6E8A}</a:tableStyleId>
              </a:tblPr>
              <a:tblGrid>
                <a:gridCol w="1225225"/>
                <a:gridCol w="4732575"/>
                <a:gridCol w="1205025"/>
              </a:tblGrid>
              <a:tr h="56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365D"/>
                        </a:buClr>
                        <a:buSzPts val="400"/>
                        <a:buFont typeface="Corbel"/>
                        <a:buNone/>
                      </a:pPr>
                      <a:r>
                        <a:rPr lang="en" sz="1500" u="none" cap="none" strike="noStrike">
                          <a:solidFill>
                            <a:srgbClr val="17365D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System Energy Efficiency Lab</a:t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3B9343"/>
                        </a:buClr>
                        <a:buSzPts val="300"/>
                        <a:buFont typeface="Corbel"/>
                        <a:buNone/>
                      </a:pPr>
                      <a:r>
                        <a:rPr lang="en" sz="1400" u="none" cap="none" strike="noStrike">
                          <a:solidFill>
                            <a:srgbClr val="3B9343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seelab.ucsd.edu</a:t>
                      </a:r>
                      <a:endParaRPr sz="1100" u="none" cap="none" strike="noStrike"/>
                    </a:p>
                  </a:txBody>
                  <a:tcPr marT="0" marB="0" marR="68575" marL="6857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0" marB="0" marR="68575" marL="6857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6"/>
          <p:cNvCxnSpPr/>
          <p:nvPr/>
        </p:nvCxnSpPr>
        <p:spPr>
          <a:xfrm>
            <a:off x="457200" y="1028700"/>
            <a:ext cx="762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85750"/>
            <a:ext cx="75438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orbel"/>
              <a:buNone/>
              <a:defRPr b="1" i="0" sz="35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  <a:defRPr b="1" i="0" sz="3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57200" y="1143000"/>
            <a:ext cx="822960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4170" lvl="0" marL="457200" marR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3528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168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26390" lvl="2" marL="1371600" marR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2004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302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457200" y="4767263"/>
            <a:ext cx="8229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686800" y="4812506"/>
            <a:ext cx="381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93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Mingjia Huo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955000"/>
            <a:ext cx="8520600" cy="42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Glass ML + causal video gen inference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Model Setting</a:t>
            </a:r>
            <a:r>
              <a:rPr lang="en" sz="1200">
                <a:solidFill>
                  <a:schemeClr val="dk1"/>
                </a:solidFill>
              </a:rPr>
              <a:t>: LingBot-World v2 14B causal-fast: 512p, 16 fps; 1 chunk = 1 s; 4 denoising steps 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b="1" lang="en" sz="1200">
                <a:solidFill>
                  <a:schemeClr val="dk1"/>
                </a:solidFill>
              </a:rPr>
              <a:t>Sequence Parallel</a:t>
            </a:r>
            <a:r>
              <a:rPr lang="en" sz="1200">
                <a:solidFill>
                  <a:schemeClr val="dk1"/>
                </a:solidFill>
              </a:rPr>
              <a:t>: </a:t>
            </a:r>
            <a:r>
              <a:rPr lang="en" sz="1200">
                <a:solidFill>
                  <a:schemeClr val="dk1"/>
                </a:solidFill>
              </a:rPr>
              <a:t>Ulysses </a:t>
            </a:r>
            <a:r>
              <a:rPr lang="en" sz="1200">
                <a:solidFill>
                  <a:schemeClr val="dk1"/>
                </a:solidFill>
              </a:rPr>
              <a:t>Sequence Parallel on 8x H200 (5 heads per GPU)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</a:pPr>
            <a:r>
              <a:rPr b="1" lang="en" sz="1200">
                <a:solidFill>
                  <a:schemeClr val="dk1"/>
                </a:solidFill>
              </a:rPr>
              <a:t>Memory Capacity</a:t>
            </a:r>
            <a:r>
              <a:rPr lang="en" sz="1200">
                <a:solidFill>
                  <a:schemeClr val="dk1"/>
                </a:solidFill>
              </a:rPr>
              <a:t>: Full-history KV up to 120 s: 0.157 GB per latent frame per GPU, 75 GB per GPU at 120 s, ~3 TB per stream at 10 min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○"/>
            </a:pPr>
            <a:r>
              <a:rPr b="1" lang="en" sz="1200">
                <a:solidFill>
                  <a:schemeClr val="dk1"/>
                </a:solidFill>
              </a:rPr>
              <a:t>Sparse Attention: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■"/>
            </a:pPr>
            <a:r>
              <a:rPr lang="en" sz="1100">
                <a:solidFill>
                  <a:schemeClr val="dk1"/>
                </a:solidFill>
              </a:rPr>
              <a:t>last 12 latent frames dense + top 5% of older blocks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Next Week: Measure Communication Overhead of </a:t>
            </a:r>
            <a:r>
              <a:rPr b="1" lang="en" sz="1100">
                <a:solidFill>
                  <a:schemeClr val="dk1"/>
                </a:solidFill>
              </a:rPr>
              <a:t>Ring Attention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Ring attention is a commonly used method to </a:t>
            </a:r>
            <a:r>
              <a:rPr lang="en" sz="1100">
                <a:solidFill>
                  <a:schemeClr val="dk1"/>
                </a:solidFill>
              </a:rPr>
              <a:t>parallel</a:t>
            </a:r>
            <a:r>
              <a:rPr lang="en" sz="1100">
                <a:solidFill>
                  <a:schemeClr val="dk1"/>
                </a:solidFill>
              </a:rPr>
              <a:t> long video generation and reduce memory </a:t>
            </a:r>
            <a:r>
              <a:rPr b="1" lang="en" sz="1100">
                <a:solidFill>
                  <a:schemeClr val="dk1"/>
                </a:solidFill>
              </a:rPr>
              <a:t>across nodes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Communication overhead higher than </a:t>
            </a:r>
            <a:r>
              <a:rPr lang="en" sz="1200">
                <a:solidFill>
                  <a:schemeClr val="dk1"/>
                </a:solidFill>
              </a:rPr>
              <a:t>Sequence Parallel.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300" y="1898049"/>
            <a:ext cx="3343000" cy="24048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" name="Google Shape;80;p17"/>
          <p:cNvGraphicFramePr/>
          <p:nvPr/>
        </p:nvGraphicFramePr>
        <p:xfrm>
          <a:off x="1282400" y="263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{560E7119-B5C1-419B-856C-2FA07D2E47C7}</a:tableStyleId>
              </a:tblPr>
              <a:tblGrid>
                <a:gridCol w="2024950"/>
                <a:gridCol w="1160950"/>
                <a:gridCol w="837075"/>
              </a:tblGrid>
              <a:tr h="31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How to deal with KV cache?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Added Latency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Overhead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Stored KV in HBM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+18 ms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Stored KV in host DRAM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+137 ms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Recompute from latents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+757ms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75%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