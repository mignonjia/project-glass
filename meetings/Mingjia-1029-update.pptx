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Corbel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5DB5B4-9D57-4105-80F7-641AF46B6E8A}">
  <a:tblStyle styleId="{E25DB5B4-9D57-4105-80F7-641AF46B6E8A}" styleName="Table_0">
    <a:wholeTbl>
      <a:tcTxStyle b="off" i="off">
        <a:font>
          <a:latin typeface="Arial"/>
          <a:ea typeface="Arial"/>
          <a:cs typeface="Arial"/>
        </a:font>
        <a:schemeClr val="dk1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560E7119-B5C1-419B-856C-2FA07D2E47C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Corbel-regular.fntdata"/><Relationship Id="rId9" Type="http://schemas.openxmlformats.org/officeDocument/2006/relationships/font" Target="fonts/Corbel-bold.fntdata"/><Relationship Id="rId10" Type="http://schemas.openxmlformats.org/officeDocument/2006/relationships/font" Target="fonts/Corbel-italic.fntdata"/><Relationship Id="rId11" Type="http://schemas.openxmlformats.org/officeDocument/2006/relationships/font" Target="fonts/Corbel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74f33eedff7517af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74f33eedff7517af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Source: docs/ring_attn_overhead.md and model_ring.py. Overhead = distributed attention time / single-kernel flash-attention time - 1, training step (fwd+bwd), Wan2.1-14B shapes (40 heads x 128), H200 compute. 5 s = 680K tokens, 10 s = 1.33M tokens. Measured row: 2 nodes x 4 H200, NCCL_NCHANNELS_PER_NET_PEER=4 (NCCL default gets 20 GB/s and roughly doubles cross-node ring overhead). Projections: model fitted to all measurements (median error &lt; 4%); NVL72 0.9 TB/s, glass 4 TB/s per GPU. Sparse = compute x 0.135 (PAN trace), KV traffic unchanged. All rows are full-sequence passes (diffusion / training step), not KV-cache decode. Ulysses degree must divide 40 heads, so at most 8 inside a node; more GPUs need Ulysses x ring.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2438" y="889861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94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1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7315200" y="800100"/>
            <a:ext cx="0" cy="337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5"/>
          <p:cNvCxnSpPr/>
          <p:nvPr/>
        </p:nvCxnSpPr>
        <p:spPr>
          <a:xfrm>
            <a:off x="304800" y="2542172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70241" y="2785429"/>
            <a:ext cx="69342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680"/>
              <a:buFont typeface="Noto Sans Symbols"/>
              <a:buNone/>
              <a:defRPr b="0" i="0" sz="2400" u="none" cap="none" strike="noStrike">
                <a:solidFill>
                  <a:srgbClr val="36609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168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381000" y="1152149"/>
            <a:ext cx="6934200" cy="13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4200"/>
              <a:buFont typeface="Corbel"/>
              <a:buNone/>
              <a:defRPr b="1" i="0" sz="4200" u="none" cap="none" strike="noStrike">
                <a:solidFill>
                  <a:srgbClr val="545454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457200" y="4767263"/>
            <a:ext cx="8229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ee_logo.png" id="65" name="Google Shape;6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9000" y="2656472"/>
            <a:ext cx="1294726" cy="1143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" name="Google Shape;66;p15"/>
          <p:cNvGraphicFramePr/>
          <p:nvPr/>
        </p:nvGraphicFramePr>
        <p:xfrm>
          <a:off x="977900" y="4036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{E25DB5B4-9D57-4105-80F7-641AF46B6E8A}</a:tableStyleId>
              </a:tblPr>
              <a:tblGrid>
                <a:gridCol w="1225225"/>
                <a:gridCol w="4732575"/>
                <a:gridCol w="1205025"/>
              </a:tblGrid>
              <a:tr h="56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65D"/>
                        </a:buClr>
                        <a:buSzPts val="400"/>
                        <a:buFont typeface="Corbel"/>
                        <a:buNone/>
                      </a:pPr>
                      <a:r>
                        <a:rPr lang="en" sz="1500" u="none" cap="none" strike="noStrike">
                          <a:solidFill>
                            <a:srgbClr val="17365D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System Energy Efficiency Lab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3B9343"/>
                        </a:buClr>
                        <a:buSzPts val="300"/>
                        <a:buFont typeface="Corbel"/>
                        <a:buNone/>
                      </a:pPr>
                      <a:r>
                        <a:rPr lang="en" sz="1400" u="none" cap="none" strike="noStrike">
                          <a:solidFill>
                            <a:srgbClr val="3B9343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seelab.ucsd.edu</a:t>
                      </a:r>
                      <a:endParaRPr sz="1100" u="none" cap="none" strike="noStrike"/>
                    </a:p>
                  </a:txBody>
                  <a:tcPr marT="0" marB="0" marR="68575" marL="6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6"/>
          <p:cNvCxnSpPr/>
          <p:nvPr/>
        </p:nvCxnSpPr>
        <p:spPr>
          <a:xfrm>
            <a:off x="457200" y="1028700"/>
            <a:ext cx="762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85750"/>
            <a:ext cx="75438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orbel"/>
              <a:buNone/>
              <a:defRPr b="1" i="0" sz="35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57200" y="1143000"/>
            <a:ext cx="822960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4170" lvl="0" marL="457200" marR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3528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168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26390" lvl="2" marL="1371600" marR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2004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457200" y="4767263"/>
            <a:ext cx="8229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686800" y="4812506"/>
            <a:ext cx="381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293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 Huo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955000"/>
            <a:ext cx="8520600" cy="146304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Ring attention: bidirectional video is not comm-bound, even with sparse attention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Why</a:t>
            </a:r>
            <a:r>
              <a:rPr lang="en" sz="1200">
                <a:solidFill>
                  <a:schemeClr val="dk1"/>
                </a:solidFill>
              </a:rPr>
              <a:t>: per ring step compute grows as s², KV traffic as s (s = tokens/GPU); 4K video: s ≥ 80K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Dense</a:t>
            </a:r>
            <a:r>
              <a:rPr lang="en" sz="1200">
                <a:solidFill>
                  <a:schemeClr val="dk1"/>
                </a:solidFill>
              </a:rPr>
              <a:t>: Ulysses in node x ring across nodes hides comm on IB (1% measured); glass adds nothing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+ Sparse</a:t>
            </a:r>
            <a:r>
              <a:rPr lang="en" sz="1200">
                <a:solidFill>
                  <a:schemeClr val="dk1"/>
                </a:solidFill>
              </a:rPr>
              <a:t> (13.5% compute, same KV bytes): still 5% at 16 GPUs; shows only at 64 GPUs/sample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Need a causal workload</a:t>
            </a:r>
            <a:r>
              <a:rPr lang="en" sz="1200">
                <a:solidFill>
                  <a:schemeClr val="dk1"/>
                </a:solidFill>
              </a:rPr>
              <a:t>: chunk-by-chunk generation, full-history KV cache, sparse selection</a:t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411480" y="2487168"/>
          <a:ext cx="5440680" cy="1947672"/>
        </p:xfrm>
        <a:graphic>
          <a:graphicData uri="http://schemas.openxmlformats.org/drawingml/2006/table">
            <a:tbl>
              <a:tblPr>
                <a:noFill/>
                <a:tableStyleId>{560E7119-B5C1-419B-856C-2FA07D2E47C7}</a:tableStyleId>
              </a:tblPr>
              <a:tblGrid>
                <a:gridCol w="2743200"/>
                <a:gridCol w="457200"/>
                <a:gridCol w="777240"/>
                <a:gridCol w="731520"/>
                <a:gridCol w="731520"/>
              </a:tblGrid>
              <a:tr h="41148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Training overhead (bold: measured, blue: projected)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GPUs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IB 31 GB/s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NVL72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Glass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Dense 5 s, Ulysses 4×ring 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1%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–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–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Dense 10 s, Ulysses 8×ring 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1%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0%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0%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Sparse 10 s, Ulysses 8×ring 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5%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1%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0%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Dense 5 s, Ulysses 8×ring 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18%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12%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12%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Sparse 5 s, Ulysses 8×ring 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56%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14%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13%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Sparse + causal 5 s, Ulysses 8×ring 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137%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16%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5FBF"/>
                          </a:solidFill>
                        </a:rPr>
                        <a:t>13%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1" name="Picture 80" descr="ring_attn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50592"/>
            <a:ext cx="2697480" cy="1944796"/>
          </a:xfrm>
          <a:prstGeom prst="rect">
            <a:avLst/>
          </a:prstGeom>
        </p:spPr>
      </p:pic>
      <p:sp>
        <p:nvSpPr>
          <p:cNvPr id="82" name="Next week"/>
          <p:cNvSpPr txBox="1"/>
          <p:nvPr/>
        </p:nvSpPr>
        <p:spPr>
          <a:xfrm>
            <a:off x="310896" y="4572000"/>
            <a:ext cx="8522208" cy="365760"/>
          </a:xfrm>
          <a:prstGeom prst="rect">
            <a:avLst/>
          </a:prstGeom>
          <a:noFill/>
        </p:spPr>
        <p:txBody>
          <a:bodyPr wrap="square" anchorCtr="0" anchor="t" bIns="91425" lIns="91425" spcFirstLastPara="1" rIns="91425" tIns="91425">
            <a:sp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Next Week: </a:t>
            </a:r>
            <a:r>
              <a:rPr lang="en" sz="1100" b="1">
                <a:solidFill>
                  <a:schemeClr val="dk1"/>
                </a:solidFill>
              </a:rPr>
              <a:t>chunked causal decode</a:t>
            </a:r>
            <a:r>
              <a:rPr lang="en" sz="1100">
                <a:solidFill>
                  <a:schemeClr val="dk1"/>
                </a:solidFill>
              </a:rPr>
              <a:t> with a sharded full-history KV cache + sparse selection (LingBot / PAN shapes)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