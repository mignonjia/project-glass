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56" r:id="rId7"/>
    <p:sldId id="257" r:id="rId12"/>
  </p:sldIdLst>
  <p:sldSz cy="5143500" cx="9144000"/>
  <p:notesSz cx="6858000" cy="9144000"/>
  <p:embeddedFontLst>
    <p:embeddedFont>
      <p:font typeface="Corbel"/>
      <p:regular r:id="rId8"/>
      <p:bold r:id="rId9"/>
      <p:italic r:id="rId10"/>
      <p:boldItalic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5DB5B4-9D57-4105-80F7-641AF46B6E8A}">
  <a:tblStyle styleId="{E25DB5B4-9D57-4105-80F7-641AF46B6E8A}" styleName="Table_0">
    <a:wholeTbl>
      <a:tcTxStyle b="off" i="off">
        <a:font>
          <a:latin typeface="Arial"/>
          <a:ea typeface="Arial"/>
          <a:cs typeface="Arial"/>
        </a:font>
        <a:schemeClr val="dk1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560E7119-B5C1-419B-856C-2FA07D2E47C7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Corbel-regular.fntdata"/><Relationship Id="rId9" Type="http://schemas.openxmlformats.org/officeDocument/2006/relationships/font" Target="fonts/Corbel-bold.fntdata"/><Relationship Id="rId10" Type="http://schemas.openxmlformats.org/officeDocument/2006/relationships/font" Target="fonts/Corbel-italic.fntdata"/><Relationship Id="rId11" Type="http://schemas.openxmlformats.org/officeDocument/2006/relationships/font" Target="fonts/Corbel-boldItalic.fntdata"/><Relationship Id="rId1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h74f33eedff7517af_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h74f33eedff7517af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Source: docs/ring_attn_overhead.md (sections 2, 3.2, 5). One attention layer, Wan2.1-14B shapes (40 heads x 128), ring-flash-attn 0.1.8; overhead = distributed time / single-kernel flash-attention time - 1. 2-node rows: lowprio 2 x 4 H200; 4-channel rows average two node pairs.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docs/ring_attn_overhead.md section 4 and model_ring.py. Exposed comm fitted as max(beta x, x - eta) + phi on all measurements; NVL72 / glass use the NVLink pair-curve shape scaled to peak, H200 compute. Sparse = compute x 0.135, KV traffic unchanged.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Bullets">
  <p:cSld name="Title &amp; Bullet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2438" y="404813"/>
            <a:ext cx="8239200" cy="5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19050" spcFirstLastPara="1" rIns="19050" wrap="square" tIns="1905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2438" y="889861"/>
            <a:ext cx="82392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50" lIns="17150" spcFirstLastPara="1" rIns="17150" wrap="square" tIns="171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Helvetica Neue"/>
              <a:buNone/>
              <a:defRPr b="1" sz="2100"/>
            </a:lvl1pPr>
            <a:lvl2pPr indent="-279400" lvl="1" marL="914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2pPr>
            <a:lvl3pPr indent="-279400" lvl="2" marL="13716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3pPr>
            <a:lvl4pPr indent="-279400" lvl="3" marL="18288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4pPr>
            <a:lvl5pPr indent="-279400" lvl="4" marL="22860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5pPr>
            <a:lvl6pPr indent="-279400" lvl="5" marL="27432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indent="-279400" lvl="6" marL="3200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indent="-279400" lvl="7" marL="36576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indent="-279400" lvl="8" marL="41148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52438" y="1593189"/>
            <a:ext cx="8239200" cy="309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19050" spcFirstLastPara="1" rIns="19050" wrap="square" tIns="19050">
            <a:normAutofit/>
          </a:bodyPr>
          <a:lstStyle>
            <a:lvl1pPr indent="-279400" lvl="0" marL="4572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1pPr>
            <a:lvl2pPr indent="-279400" lvl="1" marL="914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2pPr>
            <a:lvl3pPr indent="-279400" lvl="2" marL="13716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3pPr>
            <a:lvl4pPr indent="-279400" lvl="3" marL="18288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4pPr>
            <a:lvl5pPr indent="-279400" lvl="4" marL="22860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5pPr>
            <a:lvl6pPr indent="-279400" lvl="5" marL="27432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6pPr>
            <a:lvl7pPr indent="-279400" lvl="6" marL="32004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●"/>
              <a:defRPr/>
            </a:lvl7pPr>
            <a:lvl8pPr indent="-279400" lvl="7" marL="36576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○"/>
              <a:defRPr/>
            </a:lvl8pPr>
            <a:lvl9pPr indent="-279400" lvl="8" marL="4114800" algn="l">
              <a:lnSpc>
                <a:spcPct val="9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800"/>
              <a:buChar char="■"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4500562" y="4905375"/>
            <a:ext cx="1383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b" bIns="19050" lIns="19050" spcFirstLastPara="1" rIns="19050" wrap="square" tIns="1905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Helvetica Neue"/>
              <a:buNone/>
              <a:defRPr sz="7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1">
  <p:cSld name="TITLE_AND_BODY_1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2" type="sldNum"/>
          </p:nvPr>
        </p:nvSpPr>
        <p:spPr>
          <a:xfrm>
            <a:off x="8472458" y="4663217"/>
            <a:ext cx="548700" cy="14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250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Google Shape;60;p15"/>
          <p:cNvCxnSpPr/>
          <p:nvPr/>
        </p:nvCxnSpPr>
        <p:spPr>
          <a:xfrm>
            <a:off x="7315200" y="800100"/>
            <a:ext cx="0" cy="3372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5"/>
          <p:cNvCxnSpPr/>
          <p:nvPr/>
        </p:nvCxnSpPr>
        <p:spPr>
          <a:xfrm>
            <a:off x="304800" y="2542172"/>
            <a:ext cx="8229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370241" y="2785429"/>
            <a:ext cx="69342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6092"/>
              </a:buClr>
              <a:buSzPts val="1680"/>
              <a:buFont typeface="Noto Sans Symbols"/>
              <a:buNone/>
              <a:defRPr b="0" i="0" sz="2400" u="none" cap="none" strike="noStrike">
                <a:solidFill>
                  <a:srgbClr val="366092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A5A5A5"/>
              </a:buClr>
              <a:buSzPts val="168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lvl="2" marR="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540"/>
              <a:buFont typeface="Noto Sans Symbols"/>
              <a:buChar char="▪"/>
              <a:defRPr b="0" i="0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lvl="3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5A5"/>
              </a:buClr>
              <a:buSzPts val="15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lvl="4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lvl="5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type="title"/>
          </p:nvPr>
        </p:nvSpPr>
        <p:spPr>
          <a:xfrm>
            <a:off x="381000" y="1152149"/>
            <a:ext cx="6934200" cy="1390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4200"/>
              <a:buFont typeface="Corbel"/>
              <a:buNone/>
              <a:defRPr b="1" i="0" sz="4200" u="none" cap="none" strike="noStrike">
                <a:solidFill>
                  <a:srgbClr val="545454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457200" y="4767263"/>
            <a:ext cx="82296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see_logo.png" id="65" name="Google Shape;65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39000" y="2656472"/>
            <a:ext cx="1294726" cy="1143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6" name="Google Shape;66;p15"/>
          <p:cNvGraphicFramePr/>
          <p:nvPr/>
        </p:nvGraphicFramePr>
        <p:xfrm>
          <a:off x="977900" y="40366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{E25DB5B4-9D57-4105-80F7-641AF46B6E8A}</a:tableStyleId>
              </a:tblPr>
              <a:tblGrid>
                <a:gridCol w="1225225"/>
                <a:gridCol w="4732575"/>
                <a:gridCol w="1205025"/>
              </a:tblGrid>
              <a:tr h="568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"/>
                        <a:buFont typeface="Arial"/>
                        <a:buNone/>
                      </a:pPr>
                      <a:r>
                        <a:t/>
                      </a:r>
                      <a:endParaRPr sz="800" u="none" cap="none" strike="noStrike">
                        <a:latin typeface="Corbel"/>
                        <a:ea typeface="Corbel"/>
                        <a:cs typeface="Corbel"/>
                        <a:sym typeface="Corbel"/>
                      </a:endParaRPr>
                    </a:p>
                  </a:txBody>
                  <a:tcPr marT="0" marB="0" marR="68575" marL="6857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65D"/>
                        </a:buClr>
                        <a:buSzPts val="400"/>
                        <a:buFont typeface="Corbel"/>
                        <a:buNone/>
                      </a:pPr>
                      <a:r>
                        <a:rPr lang="en" sz="1500" u="none" cap="none" strike="noStrike">
                          <a:solidFill>
                            <a:srgbClr val="17365D"/>
                          </a:solidFill>
                          <a:latin typeface="Corbel"/>
                          <a:ea typeface="Corbel"/>
                          <a:cs typeface="Corbel"/>
                          <a:sym typeface="Corbel"/>
                        </a:rPr>
                        <a:t>System Energy Efficiency Lab</a:t>
                      </a:r>
                      <a:endParaRPr sz="1100" u="none" cap="none" strike="noStrike"/>
                    </a:p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>
                          <a:srgbClr val="3B9343"/>
                        </a:buClr>
                        <a:buSzPts val="300"/>
                        <a:buFont typeface="Corbel"/>
                        <a:buNone/>
                      </a:pPr>
                      <a:r>
                        <a:rPr lang="en" sz="1400" u="none" cap="none" strike="noStrike">
                          <a:solidFill>
                            <a:srgbClr val="3B9343"/>
                          </a:solidFill>
                          <a:latin typeface="Corbel"/>
                          <a:ea typeface="Corbel"/>
                          <a:cs typeface="Corbel"/>
                          <a:sym typeface="Corbel"/>
                        </a:rPr>
                        <a:t>seelab.ucsd.edu</a:t>
                      </a:r>
                      <a:endParaRPr sz="1100" u="none" cap="none" strike="noStrike"/>
                    </a:p>
                  </a:txBody>
                  <a:tcPr marT="0" marB="0" marR="68575" marL="6857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"/>
                        <a:buFont typeface="Arial"/>
                        <a:buNone/>
                      </a:pPr>
                      <a:r>
                        <a:t/>
                      </a:r>
                      <a:endParaRPr sz="800" u="none" cap="none" strike="noStrike">
                        <a:latin typeface="Corbel"/>
                        <a:ea typeface="Corbel"/>
                        <a:cs typeface="Corbel"/>
                        <a:sym typeface="Corbel"/>
                      </a:endParaRPr>
                    </a:p>
                  </a:txBody>
                  <a:tcPr marT="0" marB="0" marR="68575" marL="68575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Google Shape;68;p16"/>
          <p:cNvCxnSpPr/>
          <p:nvPr/>
        </p:nvCxnSpPr>
        <p:spPr>
          <a:xfrm>
            <a:off x="457200" y="1028700"/>
            <a:ext cx="762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85750"/>
            <a:ext cx="7543800" cy="65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orbel"/>
              <a:buNone/>
              <a:defRPr b="1" i="0" sz="3500" u="none" cap="none" strike="noStrike">
                <a:solidFill>
                  <a:schemeClr val="dk2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  <a:defRPr b="1" i="0" sz="3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900"/>
              <a:buFont typeface="Arial"/>
              <a:buNone/>
              <a:defRPr b="1" i="0" sz="39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457200" y="1143000"/>
            <a:ext cx="8229600" cy="35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4170" lvl="0" marL="457200" marR="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1820"/>
              <a:buFont typeface="Noto Sans Symbols"/>
              <a:buChar char="▪"/>
              <a:defRPr b="0" i="0" sz="26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-335280" lvl="1" marL="9144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A5A5A5"/>
              </a:buClr>
              <a:buSzPts val="1680"/>
              <a:buFont typeface="Noto Sans Symbols"/>
              <a:buChar char="▪"/>
              <a:defRPr b="0" i="0" sz="2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-326390" lvl="2" marL="1371600" marR="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540"/>
              <a:buFont typeface="Noto Sans Symbols"/>
              <a:buChar char="▪"/>
              <a:defRPr b="0" i="0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-32385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5A5"/>
              </a:buClr>
              <a:buSzPts val="15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-320040" lvl="4" marL="22860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-3302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302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302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302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folHlink"/>
              </a:buClr>
              <a:buSzPts val="1600"/>
              <a:buFont typeface="Noto Sans Symbols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1" type="ftr"/>
          </p:nvPr>
        </p:nvSpPr>
        <p:spPr>
          <a:xfrm>
            <a:off x="457200" y="4767263"/>
            <a:ext cx="82296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8686800" y="4812506"/>
            <a:ext cx="381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293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Mingjia Huo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33"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955000"/>
            <a:ext cx="8520600" cy="13258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Glass ML + ring attention overhead (training and inference)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Why ring</a:t>
            </a:r>
            <a:r>
              <a:rPr lang="en" sz="1200">
                <a:solidFill>
                  <a:schemeClr val="dk1"/>
                </a:solidFill>
              </a:rPr>
              <a:t>: 4K video outgrows Ulysses; Wan2.1-14B has 40 heads, so Ulysses stops at 8 GPUs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Setting</a:t>
            </a:r>
            <a:r>
              <a:rPr lang="en" sz="1200">
                <a:solidFill>
                  <a:schemeClr val="dk1"/>
                </a:solidFill>
              </a:rPr>
              <a:t>: one attention layer, 4K 5 s = 680K tokens; 8x H200, NVLink vs 2 nodes x 4 over IB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Tokens per GPU (s) decide overhead</a:t>
            </a:r>
            <a:r>
              <a:rPr lang="en" sz="1200">
                <a:solidFill>
                  <a:schemeClr val="dk1"/>
                </a:solidFill>
              </a:rPr>
              <a:t>: per ring step compute grows as s², KV traffic as s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NCCL default uses 40% of IB</a:t>
            </a:r>
            <a:r>
              <a:rPr lang="en" sz="1200">
                <a:solidFill>
                  <a:schemeClr val="dk1"/>
                </a:solidFill>
              </a:rPr>
              <a:t>: 2 channels per peer = 20 of 50 GB/s; 4 channels: 26-34 GB/s</a:t>
            </a:r>
            <a:endParaRPr sz="1200">
              <a:solidFill>
                <a:schemeClr val="dk1"/>
              </a:solidFill>
            </a:endParaRPr>
          </a:p>
        </p:txBody>
      </p:sp>
      <p:graphicFrame>
        <p:nvGraphicFramePr>
          <p:cNvPr id="80" name="Google Shape;80;p17"/>
          <p:cNvGraphicFramePr/>
          <p:nvPr/>
        </p:nvGraphicFramePr>
        <p:xfrm>
          <a:off x="411480" y="2514600"/>
          <a:ext cx="4937760" cy="1571250"/>
        </p:xfrm>
        <a:graphic>
          <a:graphicData uri="http://schemas.openxmlformats.org/drawingml/2006/table">
            <a:tbl>
              <a:tblPr>
                <a:noFill/>
                <a:tableStyleId>{560E7119-B5C1-419B-856C-2FA07D2E47C7}</a:tableStyleId>
              </a:tblPr>
              <a:tblGrid>
                <a:gridCol w="2377440"/>
                <a:gridCol w="1280160"/>
                <a:gridCol w="1280160"/>
              </a:tblGrid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Overhead (inference / training)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16K tokens/GPU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85K tokens/GPU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Ring 8, NVLink, 1 node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11% / 7%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6% / 2%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Ring 8, IB, 2 nodes, NCCL default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73% / 54%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12% / 10%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Ring 8, IB, 2 nodes, 4 ch/peer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45% / 36%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3% / 5%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Ulysses 4 x ring 2, 2 nodes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16% / 14%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2% / 2%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81" name="Picture 80" descr="ring_att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240280"/>
            <a:ext cx="3291840" cy="23733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293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Projection: 4K 5 s video on 64 GPUs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955000"/>
            <a:ext cx="8520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Ring attention at scale: model fitted to all measurements (median error &lt; 4%)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Assumed links</a:t>
            </a:r>
            <a:r>
              <a:rPr lang="en" sz="1200">
                <a:solidFill>
                  <a:schemeClr val="dk1"/>
                </a:solidFill>
              </a:rPr>
              <a:t>: IB 20 / 31 GB/s per GPU, NVL72 0.9 TB/s, glass 4 TB/s; H200 compute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Dense</a:t>
            </a:r>
            <a:r>
              <a:rPr lang="en" sz="1200">
                <a:solidFill>
                  <a:schemeClr val="dk1"/>
                </a:solidFill>
              </a:rPr>
              <a:t>: NVL72 ≈ glass; the leftover ~13% is fixed cost (SM contention, kernel splitting)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Causal + sparse</a:t>
            </a:r>
            <a:r>
              <a:rPr lang="en" sz="1200">
                <a:solidFill>
                  <a:schemeClr val="dk1"/>
                </a:solidFill>
              </a:rPr>
              <a:t>: glass 21% vs NVL72 37%; less compute per byte sent, bandwidth matters</a:t>
            </a:r>
            <a:endParaRPr sz="1200">
              <a:solidFill>
                <a:schemeClr val="dk1"/>
              </a:solidFill>
            </a:endParaRPr>
          </a:p>
        </p:txBody>
      </p:sp>
      <p:graphicFrame>
        <p:nvGraphicFramePr>
          <p:cNvPr id="80" name="Google Shape;80;p17"/>
          <p:cNvGraphicFramePr/>
          <p:nvPr/>
        </p:nvGraphicFramePr>
        <p:xfrm>
          <a:off x="411480" y="2103120"/>
          <a:ext cx="8275320" cy="1885500"/>
        </p:xfrm>
        <a:graphic>
          <a:graphicData uri="http://schemas.openxmlformats.org/drawingml/2006/table">
            <a:tbl>
              <a:tblPr>
                <a:noFill/>
                <a:tableStyleId>{560E7119-B5C1-419B-856C-2FA07D2E47C7}</a:tableStyleId>
              </a:tblPr>
              <a:tblGrid>
                <a:gridCol w="2606040"/>
                <a:gridCol w="1417320"/>
                <a:gridCol w="1417320"/>
                <a:gridCol w="1417320"/>
                <a:gridCol w="1417320"/>
              </a:tblGrid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Overhead (inference / training)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IB (20 GB/s)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IB, 4 ch (31 GB/s)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NVL72 (0.9 TB/s)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Glass (4 TB/s)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Ring 64, bidirectional, dense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145% / 113%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80% / 61%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17% / 14%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16% / 12%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Ring 64, causal, dense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328% / 303%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197% / 166%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19% / 16%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16% / 13%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Ring 64, bidirectional, sparse 13.5%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1315% / 1329%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833% / 822%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27% / 25%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18% / 15%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Ring 64, causal, sparse 13.5%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2667% / 2735%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1703% / 1720%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37% / 38%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21% / 18%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Ulysses 8 x ring 8, causal, sparse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267% / 257%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160% / 137%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20% / 16%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17% / 13%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1" name="Next week"/>
          <p:cNvSpPr txBox="1"/>
          <p:nvPr/>
        </p:nvSpPr>
        <p:spPr>
          <a:xfrm>
            <a:off x="310896" y="4251960"/>
            <a:ext cx="8522208" cy="594360"/>
          </a:xfrm>
          <a:prstGeom prst="rect">
            <a:avLst/>
          </a:prstGeom>
          <a:noFill/>
        </p:spPr>
        <p:txBody>
          <a:bodyPr wrap="square" anchorCtr="0" anchor="t" bIns="91425" lIns="91425" spcFirstLastPara="1" rIns="91425" tIns="91425">
            <a:spAutoFit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Next Week: </a:t>
            </a:r>
            <a:r>
              <a:rPr lang="en" sz="1100" b="1">
                <a:solidFill>
                  <a:schemeClr val="dk1"/>
                </a:solidFill>
              </a:rPr>
              <a:t>chunked causal decode</a:t>
            </a:r>
            <a:r>
              <a:rPr lang="en" sz="1100">
                <a:solidFill>
                  <a:schemeClr val="dk1"/>
                </a:solidFill>
              </a:rPr>
              <a:t> with a ring / sharded KV cache (PAN shapes)</a:t>
            </a: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Above: full-sequence passes (diffusion or training step); 13.5% sparsity from the PAN trace</a:t>
            </a:r>
            <a:endParaRPr b="1"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