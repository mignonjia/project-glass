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0"/>
            <a:ext cx="11368735" cy="24262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B0B0B"/>
                </a:solidFill>
                <a:latin typeface="Calibri"/>
              </a:rPr>
              <a:t>Long-term memory for real-time world models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Calibri"/>
              </a:rPr>
              <a:t>Store the KV, not the latents, and what reading it costs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Part 1 (algorithm): two recent papers keep the full KV; our test shows latents + recompute do not give memory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Part 2 (systems): profiling LingBot-World 14B with a full-history KV: time, access pattern, fetch bandwidth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Mingjia, 2026-10-15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368735" cy="1511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B0B0B"/>
                </a:solidFill>
                <a:latin typeface="Calibri"/>
              </a:rPr>
              <a:t>Motivation 1. WorldKV: a stored KV bank keeps memory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LingBot-World-Fast 14B, training-free: keep every chunk's KV, retrieve 18 frames by camera pose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PSNR 15.7 / FID 76, vs full KV 15.9 / 86 and sliding window 12.2 / 144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4.78 fps, close to the window (5.05); full KV drops to 2.36</a:t>
            </a:r>
          </a:p>
        </p:txBody>
      </p:sp>
      <p:pic>
        <p:nvPicPr>
          <p:cNvPr id="3" name="Picture 2" descr="motiv_worldk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69008"/>
            <a:ext cx="11368735" cy="42405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368735" cy="23652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B0B0B"/>
                </a:solidFill>
                <a:latin typeface="Calibri"/>
              </a:rPr>
              <a:t>Motivation 2. OmniMem: full KV in host memory, per-head retrieval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Wan2.1-1.3B + Self-Forcing. Keeps the full-resolution KV per head and chunk; offloaded blocks are reloaded over PCIe, the GPU keeps 7 chunks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Dynamic Degree 82 vs ~54 for the best baseline; selection must be per head (CLIP 26.5 vs 23.6 shared); a larger top-K is better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The authors name the systems problem: "union explosion", sparse in compute but a large KV footprint</a:t>
            </a:r>
          </a:p>
        </p:txBody>
      </p:sp>
      <p:pic>
        <p:nvPicPr>
          <p:cNvPr id="3" name="Picture 2" descr="motiv_omnim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611" y="2822448"/>
            <a:ext cx="9612472" cy="37612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368735" cy="2273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B0B0B"/>
                </a:solidFill>
                <a:latin typeface="Calibri"/>
              </a:rPr>
              <a:t>Our test: stored KV vs latents + recompute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WorldKV code, LingBot-World-Fast 14B, 361 frames (22.5 s); the camera turns 0 -&gt; 90 -&gt; 0 deg three times in place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Same 27-latent-frame attention budget; stored KV and recompute retrieve the same 18 frames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Metric: PSNR vs the first visit at the same angle (the view recurs every ~4 s, so this measures drift)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Stored KV 16.1 dB, close to full KV 15.5; recompute 12.5 / 11.4, like the sliding window 11.8: recomputed memory acts like no memory</a:t>
            </a:r>
          </a:p>
        </p:txBody>
      </p:sp>
      <p:pic>
        <p:nvPicPr>
          <p:cNvPr id="3" name="Picture 2" descr="kv_vs_latent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30" y="2731008"/>
            <a:ext cx="10624034" cy="38526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368735" cy="1435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B0B0B"/>
                </a:solidFill>
                <a:latin typeface="Calibri"/>
              </a:rPr>
              <a:t>What it looks like: same 40 deg view, 15 s apart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Stored KV and full KV redraw the barn on the left; the window and recompute invent a different scene (stone buildings)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Each frame looks fine on its own; the failure is consistency with what was there before</a:t>
            </a:r>
          </a:p>
        </p:txBody>
      </p:sp>
      <p:pic>
        <p:nvPicPr>
          <p:cNvPr id="3" name="Picture 2" descr="kv_vs_latent_fra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92807"/>
            <a:ext cx="11368735" cy="41243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368735" cy="28986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B0B0B"/>
                </a:solidFill>
                <a:latin typeface="Calibri"/>
              </a:rPr>
              <a:t>Why recompute fails: deep KV carries its generation context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Layer-l KV = the frame's latent plus what it attended to when generated (first frame, its window, its memories)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Recompute sees only the retrieved frames: V cosine 1.000 at layer 0 (same inputs), 0.76 / 0.71 at layers 20 / 30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Off-distribution KV is not used, so the model falls back on the recent window; the gap opens once the first visit leaves the window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Caveat: training-free; a model trained with recomputed memory (WorldPlay) may learn to use it</a:t>
            </a:r>
          </a:p>
        </p:txBody>
      </p:sp>
      <p:pic>
        <p:nvPicPr>
          <p:cNvPr id="3" name="Picture 2" descr="recompute_v_cos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55848"/>
            <a:ext cx="5257260" cy="2565220"/>
          </a:xfrm>
          <a:prstGeom prst="rect">
            <a:avLst/>
          </a:prstGeom>
        </p:spPr>
      </p:pic>
      <p:pic>
        <p:nvPicPr>
          <p:cNvPr id="4" name="Picture 3" descr="kv_vs_latent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060" y="3355848"/>
            <a:ext cx="5837154" cy="25652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5120640" cy="532180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B0B0B"/>
                </a:solidFill>
                <a:latin typeface="Calibri"/>
              </a:rPr>
              <a:t>Profiling setup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LingBot-World v2 14B causal-fast (Wan2.2-14B): 40 layers x 40 heads, head_dim 128, bf16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512x768, 16 fps; 1 chunk = 4 latent frames = 1 s = real-time budget; 4 denoising steps + 1 commit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Ulysses SP8 on 8x H200 (5 heads per GPU); FlashAttention 4, dense and block-sparse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Full-history KV up to 120 s: 0.157 GB per latent frame per GPU, 75 GB per GPU at 120 s, ~3 TB per stream at 10 min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Block-sparse attention, 128x128 blocks, chosen per layer, head and query block:</a:t>
            </a:r>
          </a:p>
          <a:p>
            <a:pPr marL="557784" indent="-256032">
              <a:spcAft>
                <a:spcPts val="500"/>
              </a:spcAft>
              <a:buChar char="–"/>
            </a:pPr>
            <a:r>
              <a:rPr sz="1400">
                <a:solidFill>
                  <a:srgbClr val="0B0B0B"/>
                </a:solidFill>
                <a:latin typeface="Calibri"/>
              </a:rPr>
              <a:t>VSA-style: last 12 latent frames dense + top 5% of older blocks</a:t>
            </a:r>
          </a:p>
          <a:p>
            <a:pPr marL="557784" indent="-256032">
              <a:spcAft>
                <a:spcPts val="500"/>
              </a:spcAft>
              <a:buChar char="–"/>
            </a:pPr>
            <a:r>
              <a:rPr sz="1400">
                <a:solidFill>
                  <a:srgbClr val="0B0B0B"/>
                </a:solidFill>
                <a:latin typeface="Calibri"/>
              </a:rPr>
              <a:t>Light Forcing-style: pick frames first, then blocks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Quality runs: LingBot-World-Fast v1 14B, SP4, 361 frames, 2 seeds</a:t>
            </a:r>
          </a:p>
        </p:txBody>
      </p:sp>
      <p:pic>
        <p:nvPicPr>
          <p:cNvPr id="3" name="Picture 2" descr="sp_sparse_work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463040"/>
            <a:ext cx="6062472" cy="37444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368735" cy="23652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B0B0B"/>
                </a:solidFill>
                <a:latin typeface="Calibri"/>
              </a:rPr>
              <a:t>Time per chunk: fetching KV is cheap, recomputing is not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Dense full history is compute-bound: 2646 ms per chunk at 60 s; block-sparse 958 ms (attention kernel 38 ms, flat in history)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Bringing 20 memory frames into attention: fetching stored KV adds 2–13% to a chunk; recomputing it from latents adds 75%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Open item: the host-DRAM run also slows the rest of the chunk by ~330 ms (not yet explained; not in the figure)</a:t>
            </a:r>
          </a:p>
        </p:txBody>
      </p:sp>
      <p:pic>
        <p:nvPicPr>
          <p:cNvPr id="3" name="Picture 2" descr="memory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315200" cy="2852927"/>
          </a:xfrm>
          <a:prstGeom prst="rect">
            <a:avLst/>
          </a:prstGeom>
        </p:spPr>
      </p:pic>
      <p:graphicFrame>
        <p:nvGraphicFramePr>
          <p:cNvPr id="4" name="Memory cost table"/>
          <p:cNvGraphicFramePr>
            <a:graphicFrameLocks noGrp="1"/>
          </p:cNvGraphicFramePr>
          <p:nvPr/>
        </p:nvGraphicFramePr>
        <p:xfrm>
          <a:off x="8001000" y="2468880"/>
          <a:ext cx="3776472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57400"/>
                <a:gridCol w="914400"/>
                <a:gridCol w="804672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Memory source (M = 20)</a:t>
                      </a:r>
                    </a:p>
                  </a:txBody>
                  <a:tcPr marL="73152" marR="73152" marT="45720" marB="45720" anchor="ctr">
                    <a:solidFill>
                      <a:srgbClr val="EEE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Extra / chunk</a:t>
                      </a:r>
                    </a:p>
                  </a:txBody>
                  <a:tcPr marL="73152" marR="73152" marT="45720" marB="45720" anchor="ctr">
                    <a:solidFill>
                      <a:srgbClr val="EEE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% of fixed</a:t>
                      </a:r>
                    </a:p>
                  </a:txBody>
                  <a:tcPr marL="73152" marR="73152" marT="45720" marB="45720" anchor="ctr">
                    <a:solidFill>
                      <a:srgbClr val="EEEDEA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Stored KV in HBM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+18 ms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Stored KV in host DRAM
(fetch 109 + write 28 ms)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+137 ms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Recompute from latents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Calibri"/>
                        </a:rPr>
                        <a:t>+757 ms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able caption"/>
          <p:cNvSpPr txBox="1"/>
          <p:nvPr/>
        </p:nvSpPr>
        <p:spPr>
          <a:xfrm>
            <a:off x="8001000" y="4846320"/>
            <a:ext cx="37764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2514E"/>
                </a:solidFill>
                <a:latin typeface="Calibri"/>
              </a:rPr>
              <a:t>Fixed work per chunk ≈ 1,016 ms (linear layers, window attention, all-to-all); 1 chunk = 1 s of video.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368735" cy="23652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B0B0B"/>
                </a:solidFill>
                <a:latin typeface="Calibri"/>
              </a:rPr>
              <a:t>Access pattern: which older KV blocks are read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(a) ~40% read per forward, (b) ~7% new between forwards, (c) ~70% shared with the previous chunk (PAN: 22% / 7% / 65%)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Fetch bandwidth: re-read every forward (a), fetch once per chunk (a + b), or keep the previous chunk's blocks (a + b + c)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Reuse (Tianqi): each fetched block serves ~6 query blocks; AI 128 → ~770 → ~3300 FLOP/B with merging and caching</a:t>
            </a:r>
          </a:p>
        </p:txBody>
      </p:sp>
      <p:pic>
        <p:nvPicPr>
          <p:cNvPr id="3" name="Picture 2" descr="access_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2377440"/>
            <a:ext cx="1097280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368735" cy="17404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B0B0B"/>
                </a:solidFill>
                <a:latin typeface="Calibri"/>
              </a:rPr>
              <a:t>Fetch cost: PCIe cannot keep up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Host -&gt; GPU: 28 GB/s per GPU for large copies, 4.8 GB/s for one head's 128-token K or V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VSA-style demand per GPU, 117 s -&gt; 10 min: re-read every forward 139 -&gt; ~720 GB/s; once per chunk 32 -&gt; ~170; keeping the previous chunk's blocks 9 -&gt; ~41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TB-scale capacity, 0.04-0.7 TB/s per GPU, fine-grained, decided at run time: the Glass regime</a:t>
            </a:r>
          </a:p>
        </p:txBody>
      </p:sp>
      <p:pic>
        <p:nvPicPr>
          <p:cNvPr id="3" name="Picture 2" descr="fetch_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7608"/>
            <a:ext cx="5611069" cy="2725291"/>
          </a:xfrm>
          <a:prstGeom prst="rect">
            <a:avLst/>
          </a:prstGeom>
        </p:spPr>
      </p:pic>
      <p:pic>
        <p:nvPicPr>
          <p:cNvPr id="4" name="Picture 3" descr="bw_dem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6869" y="2197608"/>
            <a:ext cx="5483346" cy="272529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368735" cy="417880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B0B0B"/>
                </a:solidFill>
                <a:latin typeface="Calibri"/>
              </a:rPr>
              <a:t>Caveats and next steps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Caveats</a:t>
            </a:r>
          </a:p>
          <a:p>
            <a:pPr marL="557784" indent="-256032">
              <a:spcAft>
                <a:spcPts val="500"/>
              </a:spcAft>
              <a:buChar char="–"/>
            </a:pPr>
            <a:r>
              <a:rPr sz="1400">
                <a:solidFill>
                  <a:srgbClr val="0B0B0B"/>
                </a:solidFill>
                <a:latin typeface="Calibri"/>
              </a:rPr>
              <a:t>Quality: one scene, one 22.5 s trajectory, 2 seeds; PSNR is pixel-level</a:t>
            </a:r>
          </a:p>
          <a:p>
            <a:pPr marL="557784" indent="-256032">
              <a:spcAft>
                <a:spcPts val="500"/>
              </a:spcAft>
              <a:buChar char="–"/>
            </a:pPr>
            <a:r>
              <a:rPr sz="1400">
                <a:solidFill>
                  <a:srgbClr val="0B0B0B"/>
                </a:solidFill>
                <a:latin typeface="Calibri"/>
              </a:rPr>
              <a:t>The view recurs every ~4 s, so the test measures drift, not recall after a long absence</a:t>
            </a:r>
          </a:p>
          <a:p>
            <a:pPr marL="557784" indent="-256032">
              <a:spcAft>
                <a:spcPts val="500"/>
              </a:spcAft>
              <a:buChar char="–"/>
            </a:pPr>
            <a:r>
              <a:rPr sz="1400">
                <a:solidFill>
                  <a:srgbClr val="0B0B0B"/>
                </a:solidFill>
                <a:latin typeface="Calibri"/>
              </a:rPr>
              <a:t>Our recompute is training-free; a model trained for it may do better</a:t>
            </a:r>
          </a:p>
          <a:p>
            <a:pPr marL="557784" indent="-256032">
              <a:spcAft>
                <a:spcPts val="500"/>
              </a:spcAft>
              <a:buChar char="–"/>
            </a:pPr>
            <a:r>
              <a:rPr sz="1400">
                <a:solidFill>
                  <a:srgbClr val="0B0B0B"/>
                </a:solidFill>
                <a:latin typeface="Calibri"/>
              </a:rPr>
              <a:t>LingBot was not trained with sparse attention; its access pattern matches PAN's, quality is unverified</a:t>
            </a:r>
          </a:p>
          <a:p>
            <a:pPr marL="557784" indent="-256032">
              <a:spcAft>
                <a:spcPts val="500"/>
              </a:spcAft>
              <a:buChar char="–"/>
            </a:pPr>
            <a:r>
              <a:rPr sz="1400">
                <a:solidFill>
                  <a:srgbClr val="0B0B0B"/>
                </a:solidFill>
                <a:latin typeface="Calibri"/>
              </a:rPr>
              <a:t>VSA-style selects a fixed ratio, so compute grows with history; a fixed top-k would cap it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Next (needs GPUs)</a:t>
            </a:r>
          </a:p>
          <a:p>
            <a:pPr marL="557784" indent="-256032">
              <a:spcAft>
                <a:spcPts val="500"/>
              </a:spcAft>
              <a:buChar char="–"/>
            </a:pPr>
            <a:r>
              <a:rPr sz="1400">
                <a:solidFill>
                  <a:srgbClr val="0B0B0B"/>
                </a:solidFill>
                <a:latin typeface="Calibri"/>
              </a:rPr>
              <a:t>Turn-away trajectory (leave a view for longer than the window), more scenes and seeds</a:t>
            </a:r>
          </a:p>
          <a:p>
            <a:pPr marL="557784" indent="-256032">
              <a:spcAft>
                <a:spcPts val="500"/>
              </a:spcAft>
              <a:buChar char="–"/>
            </a:pPr>
            <a:r>
              <a:rPr sz="1400">
                <a:solidFill>
                  <a:srgbClr val="0B0B0B"/>
                </a:solidFill>
                <a:latin typeface="Calibri"/>
              </a:rPr>
              <a:t>Attention weight on memory tokens: stored vs recomputed KV</a:t>
            </a:r>
          </a:p>
          <a:p>
            <a:pPr marL="557784" indent="-256032">
              <a:spcAft>
                <a:spcPts val="500"/>
              </a:spcAft>
              <a:buChar char="–"/>
            </a:pPr>
            <a:r>
              <a:rPr sz="1400">
                <a:solidFill>
                  <a:srgbClr val="0B0B0B"/>
                </a:solidFill>
                <a:latin typeface="Calibri"/>
              </a:rPr>
              <a:t>Explain the host-DRAM M=20 overhead; clean VSA timing; fixed-k trace</a:t>
            </a:r>
          </a:p>
          <a:p>
            <a:pPr marL="557784" indent="-256032">
              <a:spcAft>
                <a:spcPts val="500"/>
              </a:spcAft>
              <a:buChar char="–"/>
            </a:pPr>
            <a:r>
              <a:rPr sz="1400">
                <a:solidFill>
                  <a:srgbClr val="0B0B0B"/>
                </a:solidFill>
                <a:latin typeface="Calibri"/>
              </a:rPr>
              <a:t>End-to-end sparse fetch from a capacity tier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368735" cy="9022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B0B0B"/>
                </a:solidFill>
                <a:latin typeface="Calibri"/>
              </a:rPr>
              <a:t>Backup: reuse of fetched blocks (Tianqi)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Reuse rate = independent selections / union, per forward; stable over time and steps</a:t>
            </a:r>
          </a:p>
        </p:txBody>
      </p:sp>
      <p:pic>
        <p:nvPicPr>
          <p:cNvPr id="3" name="Picture 2" descr="attn_trace_reuse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9442" y="1359408"/>
            <a:ext cx="7112810" cy="52242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368735" cy="9022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B0B0B"/>
                </a:solidFill>
                <a:latin typeface="Calibri"/>
              </a:rPr>
              <a:t>Backup: remote-KV reuse by layer and chunk (Tianqi)</a:t>
            </a:r>
          </a:p>
          <a:p>
            <a:pPr marL="301752" indent="-256032">
              <a:spcAft>
                <a:spcPts val="500"/>
              </a:spcAft>
              <a:buChar char="•"/>
            </a:pPr>
            <a:r>
              <a:rPr sz="1500">
                <a:solidFill>
                  <a:srgbClr val="0B0B0B"/>
                </a:solidFill>
                <a:latin typeface="Calibri"/>
              </a:rPr>
              <a:t>Per-layer bands stay constant over 120 s: placement or bandwidth can be set per layer</a:t>
            </a:r>
          </a:p>
        </p:txBody>
      </p:sp>
      <p:pic>
        <p:nvPicPr>
          <p:cNvPr id="3" name="Picture 2" descr="attn_trace_reus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1690" y="1359408"/>
            <a:ext cx="5188313" cy="52242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