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0"/>
            <a:ext cx="11368735" cy="24262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</a:pPr>
            <a:r>
              <a:rPr sz="2600" b="1">
                <a:solidFill>
                  <a:srgbClr val="0B0B0B"/>
                </a:solidFill>
                <a:latin typeface="Calibri"/>
              </a:rPr>
              <a:t>Long-term memory for real-time world models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52514E"/>
                </a:solidFill>
                <a:latin typeface="Calibri"/>
              </a:rPr>
              <a:t>Store the KV, not the latents, and what reading it costs</a:t>
            </a:r>
          </a:p>
          <a:p>
            <a:pPr marL="301752" indent="-256032">
              <a:spcAft>
                <a:spcPts val="500"/>
              </a:spcAft>
              <a:buChar char="•"/>
            </a:pPr>
            <a:r>
              <a:rPr sz="1500">
                <a:solidFill>
                  <a:srgbClr val="0B0B0B"/>
                </a:solidFill>
                <a:latin typeface="Calibri"/>
              </a:rPr>
              <a:t>Part 1 (algorithm): two recent papers keep the full KV; our test shows latents + recompute do not give memory</a:t>
            </a:r>
          </a:p>
          <a:p>
            <a:pPr marL="301752" indent="-256032">
              <a:spcAft>
                <a:spcPts val="500"/>
              </a:spcAft>
              <a:buChar char="•"/>
            </a:pPr>
            <a:r>
              <a:rPr sz="1500">
                <a:solidFill>
                  <a:srgbClr val="0B0B0B"/>
                </a:solidFill>
                <a:latin typeface="Calibri"/>
              </a:rPr>
              <a:t>Part 2 (systems): profiling LingBot-World 14B with a full-history KV: time, access pattern, fetch bandwidth</a:t>
            </a:r>
          </a:p>
          <a:p>
            <a:pPr marL="301752" indent="-256032">
              <a:spcAft>
                <a:spcPts val="500"/>
              </a:spcAft>
              <a:buChar char="•"/>
            </a:pPr>
            <a:r>
              <a:rPr sz="1500">
                <a:solidFill>
                  <a:srgbClr val="0B0B0B"/>
                </a:solidFill>
                <a:latin typeface="Calibri"/>
              </a:rPr>
              <a:t>Mingjia, 2026-10-15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11368735" cy="15118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</a:pPr>
            <a:r>
              <a:rPr sz="2600" b="1">
                <a:solidFill>
                  <a:srgbClr val="0B0B0B"/>
                </a:solidFill>
                <a:latin typeface="Calibri"/>
              </a:rPr>
              <a:t>Motivation 1. WorldKV: a stored KV bank keeps memory</a:t>
            </a:r>
          </a:p>
          <a:p>
            <a:pPr marL="301752" indent="-256032">
              <a:spcAft>
                <a:spcPts val="500"/>
              </a:spcAft>
              <a:buChar char="•"/>
            </a:pPr>
            <a:r>
              <a:rPr sz="1500">
                <a:solidFill>
                  <a:srgbClr val="0B0B0B"/>
                </a:solidFill>
                <a:latin typeface="Calibri"/>
              </a:rPr>
              <a:t>LingBot-World-Fast 14B, training-free: keep every chunk's KV, retrieve 18 frames by camera pose</a:t>
            </a:r>
          </a:p>
          <a:p>
            <a:pPr marL="301752" indent="-256032">
              <a:spcAft>
                <a:spcPts val="500"/>
              </a:spcAft>
              <a:buChar char="•"/>
            </a:pPr>
            <a:r>
              <a:rPr sz="1500">
                <a:solidFill>
                  <a:srgbClr val="0B0B0B"/>
                </a:solidFill>
                <a:latin typeface="Calibri"/>
              </a:rPr>
              <a:t>PSNR 15.7 / FID 76, vs full KV 15.9 / 86 and sliding window 12.2 / 144</a:t>
            </a:r>
          </a:p>
          <a:p>
            <a:pPr marL="301752" indent="-256032">
              <a:spcAft>
                <a:spcPts val="500"/>
              </a:spcAft>
              <a:buChar char="•"/>
            </a:pPr>
            <a:r>
              <a:rPr sz="1500">
                <a:solidFill>
                  <a:srgbClr val="0B0B0B"/>
                </a:solidFill>
                <a:latin typeface="Calibri"/>
              </a:rPr>
              <a:t>4.78 fps, close to the window (5.05); full KV drops to 2.36</a:t>
            </a:r>
          </a:p>
        </p:txBody>
      </p:sp>
      <p:pic>
        <p:nvPicPr>
          <p:cNvPr id="3" name="Picture 2" descr="motiv_worldk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969008"/>
            <a:ext cx="11368735" cy="424051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11368735" cy="23652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</a:pPr>
            <a:r>
              <a:rPr sz="2600" b="1">
                <a:solidFill>
                  <a:srgbClr val="0B0B0B"/>
                </a:solidFill>
                <a:latin typeface="Calibri"/>
              </a:rPr>
              <a:t>Motivation 2. OmniMem: full KV in host memory, per-head retrieval</a:t>
            </a:r>
          </a:p>
          <a:p>
            <a:pPr marL="301752" indent="-256032">
              <a:spcAft>
                <a:spcPts val="500"/>
              </a:spcAft>
              <a:buChar char="•"/>
            </a:pPr>
            <a:r>
              <a:rPr sz="1500">
                <a:solidFill>
                  <a:srgbClr val="0B0B0B"/>
                </a:solidFill>
                <a:latin typeface="Calibri"/>
              </a:rPr>
              <a:t>Wan2.1-1.3B + Self-Forcing. Keeps the full-resolution KV per head and chunk; offloaded blocks are reloaded over PCIe, the GPU keeps 7 chunks</a:t>
            </a:r>
          </a:p>
          <a:p>
            <a:pPr marL="301752" indent="-256032">
              <a:spcAft>
                <a:spcPts val="500"/>
              </a:spcAft>
              <a:buChar char="•"/>
            </a:pPr>
            <a:r>
              <a:rPr sz="1500">
                <a:solidFill>
                  <a:srgbClr val="0B0B0B"/>
                </a:solidFill>
                <a:latin typeface="Calibri"/>
              </a:rPr>
              <a:t>Dynamic Degree 82 vs ~54 for the best baseline; selection must be per head (CLIP 26.5 vs 23.6 shared); a larger top-K is better</a:t>
            </a:r>
          </a:p>
          <a:p>
            <a:pPr marL="301752" indent="-256032">
              <a:spcAft>
                <a:spcPts val="500"/>
              </a:spcAft>
              <a:buChar char="•"/>
            </a:pPr>
            <a:r>
              <a:rPr sz="1500">
                <a:solidFill>
                  <a:srgbClr val="0B0B0B"/>
                </a:solidFill>
                <a:latin typeface="Calibri"/>
              </a:rPr>
              <a:t>The authors name the systems problem: "union explosion", sparse in compute but a large KV footprint</a:t>
            </a:r>
          </a:p>
        </p:txBody>
      </p:sp>
      <p:pic>
        <p:nvPicPr>
          <p:cNvPr id="3" name="Picture 2" descr="motiv_omnim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9611" y="2822448"/>
            <a:ext cx="9612472" cy="376123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11368735" cy="22738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</a:pPr>
            <a:r>
              <a:rPr sz="2600" b="1">
                <a:solidFill>
                  <a:srgbClr val="0B0B0B"/>
                </a:solidFill>
                <a:latin typeface="Calibri"/>
              </a:rPr>
              <a:t>Our test: stored KV vs latents + recompute</a:t>
            </a:r>
          </a:p>
          <a:p>
            <a:pPr marL="301752" indent="-256032">
              <a:spcAft>
                <a:spcPts val="500"/>
              </a:spcAft>
              <a:buChar char="•"/>
            </a:pPr>
            <a:r>
              <a:rPr sz="1500">
                <a:solidFill>
                  <a:srgbClr val="0B0B0B"/>
                </a:solidFill>
                <a:latin typeface="Calibri"/>
              </a:rPr>
              <a:t>WorldKV code, LingBot-World-Fast 14B, 361 frames (22.5 s); the camera turns 0 -&gt; 90 -&gt; 0 deg three times in place</a:t>
            </a:r>
          </a:p>
          <a:p>
            <a:pPr marL="301752" indent="-256032">
              <a:spcAft>
                <a:spcPts val="500"/>
              </a:spcAft>
              <a:buChar char="•"/>
            </a:pPr>
            <a:r>
              <a:rPr sz="1500">
                <a:solidFill>
                  <a:srgbClr val="0B0B0B"/>
                </a:solidFill>
                <a:latin typeface="Calibri"/>
              </a:rPr>
              <a:t>Same 27-latent-frame attention budget; stored KV and recompute retrieve the same 18 frames</a:t>
            </a:r>
          </a:p>
          <a:p>
            <a:pPr marL="301752" indent="-256032">
              <a:spcAft>
                <a:spcPts val="500"/>
              </a:spcAft>
              <a:buChar char="•"/>
            </a:pPr>
            <a:r>
              <a:rPr sz="1500">
                <a:solidFill>
                  <a:srgbClr val="0B0B0B"/>
                </a:solidFill>
                <a:latin typeface="Calibri"/>
              </a:rPr>
              <a:t>Metric: PSNR vs the first visit at the same angle (the view recurs every ~4 s, so this measures drift)</a:t>
            </a:r>
          </a:p>
          <a:p>
            <a:pPr marL="301752" indent="-256032">
              <a:spcAft>
                <a:spcPts val="500"/>
              </a:spcAft>
              <a:buChar char="•"/>
            </a:pPr>
            <a:r>
              <a:rPr sz="1500">
                <a:solidFill>
                  <a:srgbClr val="0B0B0B"/>
                </a:solidFill>
                <a:latin typeface="Calibri"/>
              </a:rPr>
              <a:t>Stored KV 16.1 dB, close to full KV 15.5; recompute 12.5 / 11.4, like the sliding window 11.8: recomputed memory acts like no memory</a:t>
            </a:r>
          </a:p>
        </p:txBody>
      </p:sp>
      <p:pic>
        <p:nvPicPr>
          <p:cNvPr id="3" name="Picture 2" descr="kv_vs_latent_qua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830" y="2731008"/>
            <a:ext cx="10624034" cy="385267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11368735" cy="14356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</a:pPr>
            <a:r>
              <a:rPr sz="2600" b="1">
                <a:solidFill>
                  <a:srgbClr val="0B0B0B"/>
                </a:solidFill>
                <a:latin typeface="Calibri"/>
              </a:rPr>
              <a:t>What it looks like: same 40 deg view, 15 s apart</a:t>
            </a:r>
          </a:p>
          <a:p>
            <a:pPr marL="301752" indent="-256032">
              <a:spcAft>
                <a:spcPts val="500"/>
              </a:spcAft>
              <a:buChar char="•"/>
            </a:pPr>
            <a:r>
              <a:rPr sz="1500">
                <a:solidFill>
                  <a:srgbClr val="0B0B0B"/>
                </a:solidFill>
                <a:latin typeface="Calibri"/>
              </a:rPr>
              <a:t>Stored KV and full KV redraw the barn on the left; the window and recompute invent a different scene (stone buildings)</a:t>
            </a:r>
          </a:p>
          <a:p>
            <a:pPr marL="301752" indent="-256032">
              <a:spcAft>
                <a:spcPts val="500"/>
              </a:spcAft>
              <a:buChar char="•"/>
            </a:pPr>
            <a:r>
              <a:rPr sz="1500">
                <a:solidFill>
                  <a:srgbClr val="0B0B0B"/>
                </a:solidFill>
                <a:latin typeface="Calibri"/>
              </a:rPr>
              <a:t>Each frame looks fine on its own; the failure is consistency with what was there before</a:t>
            </a:r>
          </a:p>
        </p:txBody>
      </p:sp>
      <p:pic>
        <p:nvPicPr>
          <p:cNvPr id="3" name="Picture 2" descr="kv_vs_latent_fram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892807"/>
            <a:ext cx="11368735" cy="412436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11368735" cy="28986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</a:pPr>
            <a:r>
              <a:rPr sz="2600" b="1">
                <a:solidFill>
                  <a:srgbClr val="0B0B0B"/>
                </a:solidFill>
                <a:latin typeface="Calibri"/>
              </a:rPr>
              <a:t>Why recompute fails: deep KV carries its generation context</a:t>
            </a:r>
          </a:p>
          <a:p>
            <a:pPr marL="301752" indent="-256032">
              <a:spcAft>
                <a:spcPts val="500"/>
              </a:spcAft>
              <a:buChar char="•"/>
            </a:pPr>
            <a:r>
              <a:rPr sz="1500">
                <a:solidFill>
                  <a:srgbClr val="0B0B0B"/>
                </a:solidFill>
                <a:latin typeface="Calibri"/>
              </a:rPr>
              <a:t>Layer-l KV = the frame's latent plus what it attended to when generated (first frame, its window, its memories)</a:t>
            </a:r>
          </a:p>
          <a:p>
            <a:pPr marL="301752" indent="-256032">
              <a:spcAft>
                <a:spcPts val="500"/>
              </a:spcAft>
              <a:buChar char="•"/>
            </a:pPr>
            <a:r>
              <a:rPr sz="1500">
                <a:solidFill>
                  <a:srgbClr val="0B0B0B"/>
                </a:solidFill>
                <a:latin typeface="Calibri"/>
              </a:rPr>
              <a:t>Recompute sees only the retrieved frames: V cosine 1.000 at layer 0 (same inputs), 0.76 / 0.71 at layers 20 / 30</a:t>
            </a:r>
          </a:p>
          <a:p>
            <a:pPr marL="301752" indent="-256032">
              <a:spcAft>
                <a:spcPts val="500"/>
              </a:spcAft>
              <a:buChar char="•"/>
            </a:pPr>
            <a:r>
              <a:rPr sz="1500">
                <a:solidFill>
                  <a:srgbClr val="0B0B0B"/>
                </a:solidFill>
                <a:latin typeface="Calibri"/>
              </a:rPr>
              <a:t>Off-distribution KV is not used, so the model falls back on the recent window; the gap opens once the first visit leaves the window</a:t>
            </a:r>
          </a:p>
          <a:p>
            <a:pPr marL="301752" indent="-256032">
              <a:spcAft>
                <a:spcPts val="500"/>
              </a:spcAft>
              <a:buChar char="•"/>
            </a:pPr>
            <a:r>
              <a:rPr sz="1500">
                <a:solidFill>
                  <a:srgbClr val="0B0B0B"/>
                </a:solidFill>
                <a:latin typeface="Calibri"/>
              </a:rPr>
              <a:t>Caveat: training-free; a model trained with recomputed memory (WorldPlay) may learn to use it</a:t>
            </a:r>
          </a:p>
        </p:txBody>
      </p:sp>
      <p:pic>
        <p:nvPicPr>
          <p:cNvPr id="3" name="Picture 2" descr="recompute_v_cos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3355848"/>
            <a:ext cx="5257260" cy="2565220"/>
          </a:xfrm>
          <a:prstGeom prst="rect">
            <a:avLst/>
          </a:prstGeom>
        </p:spPr>
      </p:pic>
      <p:pic>
        <p:nvPicPr>
          <p:cNvPr id="4" name="Picture 3" descr="kv_vs_latent_cur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060" y="3355848"/>
            <a:ext cx="5837154" cy="25652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5120640" cy="532180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</a:pPr>
            <a:r>
              <a:rPr sz="2600" b="1">
                <a:solidFill>
                  <a:srgbClr val="0B0B0B"/>
                </a:solidFill>
                <a:latin typeface="Calibri"/>
              </a:rPr>
              <a:t>Profiling setup</a:t>
            </a:r>
          </a:p>
          <a:p>
            <a:pPr marL="301752" indent="-256032">
              <a:spcAft>
                <a:spcPts val="500"/>
              </a:spcAft>
              <a:buChar char="•"/>
            </a:pPr>
            <a:r>
              <a:rPr sz="1500">
                <a:solidFill>
                  <a:srgbClr val="0B0B0B"/>
                </a:solidFill>
                <a:latin typeface="Calibri"/>
              </a:rPr>
              <a:t>LingBot-World v2 14B causal-fast (Wan2.2-14B): 40 layers x 40 heads, head_dim 128, bf16</a:t>
            </a:r>
          </a:p>
          <a:p>
            <a:pPr marL="301752" indent="-256032">
              <a:spcAft>
                <a:spcPts val="500"/>
              </a:spcAft>
              <a:buChar char="•"/>
            </a:pPr>
            <a:r>
              <a:rPr sz="1500">
                <a:solidFill>
                  <a:srgbClr val="0B0B0B"/>
                </a:solidFill>
                <a:latin typeface="Calibri"/>
              </a:rPr>
              <a:t>512x768, 16 fps; 1 chunk = 4 latent frames = 1 s = real-time budget; 4 denoising steps + 1 commit</a:t>
            </a:r>
          </a:p>
          <a:p>
            <a:pPr marL="301752" indent="-256032">
              <a:spcAft>
                <a:spcPts val="500"/>
              </a:spcAft>
              <a:buChar char="•"/>
            </a:pPr>
            <a:r>
              <a:rPr sz="1500">
                <a:solidFill>
                  <a:srgbClr val="0B0B0B"/>
                </a:solidFill>
                <a:latin typeface="Calibri"/>
              </a:rPr>
              <a:t>Ulysses SP8 on 8x H200 (5 heads per GPU); FlashAttention 4, dense and block-sparse</a:t>
            </a:r>
          </a:p>
          <a:p>
            <a:pPr marL="301752" indent="-256032">
              <a:spcAft>
                <a:spcPts val="500"/>
              </a:spcAft>
              <a:buChar char="•"/>
            </a:pPr>
            <a:r>
              <a:rPr sz="1500">
                <a:solidFill>
                  <a:srgbClr val="0B0B0B"/>
                </a:solidFill>
                <a:latin typeface="Calibri"/>
              </a:rPr>
              <a:t>Full-history KV up to 120 s: 0.157 GB per latent frame per GPU, 75 GB per GPU at 120 s, ~3 TB per stream at 10 min</a:t>
            </a:r>
          </a:p>
          <a:p>
            <a:pPr marL="301752" indent="-256032">
              <a:spcAft>
                <a:spcPts val="500"/>
              </a:spcAft>
              <a:buChar char="•"/>
            </a:pPr>
            <a:r>
              <a:rPr sz="1500">
                <a:solidFill>
                  <a:srgbClr val="0B0B0B"/>
                </a:solidFill>
                <a:latin typeface="Calibri"/>
              </a:rPr>
              <a:t>Block-sparse attention, 128x128 blocks, chosen per layer, head and query block:</a:t>
            </a:r>
          </a:p>
          <a:p>
            <a:pPr marL="557784" indent="-256032">
              <a:spcAft>
                <a:spcPts val="500"/>
              </a:spcAft>
              <a:buChar char="–"/>
            </a:pPr>
            <a:r>
              <a:rPr sz="1400">
                <a:solidFill>
                  <a:srgbClr val="0B0B0B"/>
                </a:solidFill>
                <a:latin typeface="Calibri"/>
              </a:rPr>
              <a:t>VSA-style: last 12 latent frames dense + top 5% of older blocks</a:t>
            </a:r>
          </a:p>
          <a:p>
            <a:pPr marL="557784" indent="-256032">
              <a:spcAft>
                <a:spcPts val="500"/>
              </a:spcAft>
              <a:buChar char="–"/>
            </a:pPr>
            <a:r>
              <a:rPr sz="1400">
                <a:solidFill>
                  <a:srgbClr val="0B0B0B"/>
                </a:solidFill>
                <a:latin typeface="Calibri"/>
              </a:rPr>
              <a:t>Light Forcing-style: pick frames first, then blocks</a:t>
            </a:r>
          </a:p>
          <a:p>
            <a:pPr marL="301752" indent="-256032">
              <a:spcAft>
                <a:spcPts val="500"/>
              </a:spcAft>
              <a:buChar char="•"/>
            </a:pPr>
            <a:r>
              <a:rPr sz="1500">
                <a:solidFill>
                  <a:srgbClr val="0B0B0B"/>
                </a:solidFill>
                <a:latin typeface="Calibri"/>
              </a:rPr>
              <a:t>Quality runs: LingBot-World-Fast v1 14B, SP4, 361 frames, 2 seeds</a:t>
            </a:r>
          </a:p>
        </p:txBody>
      </p:sp>
      <p:pic>
        <p:nvPicPr>
          <p:cNvPr id="3" name="Picture 2" descr="sp_sparse_worklo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1463040"/>
            <a:ext cx="6062472" cy="374446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11368735" cy="23652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</a:pPr>
            <a:r>
              <a:rPr sz="2600" b="1">
                <a:solidFill>
                  <a:srgbClr val="0B0B0B"/>
                </a:solidFill>
                <a:latin typeface="Calibri"/>
              </a:rPr>
              <a:t>Time per chunk: fetching KV is cheap, recomputing is not</a:t>
            </a:r>
          </a:p>
          <a:p>
            <a:pPr marL="301752" indent="-256032">
              <a:spcAft>
                <a:spcPts val="500"/>
              </a:spcAft>
              <a:buChar char="•"/>
            </a:pPr>
            <a:r>
              <a:rPr sz="1500">
                <a:solidFill>
                  <a:srgbClr val="0B0B0B"/>
                </a:solidFill>
                <a:latin typeface="Calibri"/>
              </a:rPr>
              <a:t>Dense full history is compute-bound: 2646 ms per chunk at 60 s; block-sparse 958 ms (attention kernel 38 ms, flat in history)</a:t>
            </a:r>
          </a:p>
          <a:p>
            <a:pPr marL="301752" indent="-256032">
              <a:spcAft>
                <a:spcPts val="500"/>
              </a:spcAft>
              <a:buChar char="•"/>
            </a:pPr>
            <a:r>
              <a:rPr sz="1500">
                <a:solidFill>
                  <a:srgbClr val="0B0B0B"/>
                </a:solidFill>
                <a:latin typeface="Calibri"/>
              </a:rPr>
              <a:t>M memory frames: stored KV in HBM +18 ms (M=8); host DRAM +57 ms (fetch 46 ms); recompute +313 ms (M=8), +780 ms (M=20)</a:t>
            </a:r>
          </a:p>
          <a:p>
            <a:pPr marL="301752" indent="-256032">
              <a:spcAft>
                <a:spcPts val="500"/>
              </a:spcAft>
              <a:buChar char="•"/>
            </a:pPr>
            <a:r>
              <a:rPr sz="1500">
                <a:solidFill>
                  <a:srgbClr val="0B0B0B"/>
                </a:solidFill>
                <a:latin typeface="Calibri"/>
              </a:rPr>
              <a:t>Open item: host DRAM at M=20 costs ~330 ms more than fetch + write-back (not yet explained)</a:t>
            </a:r>
          </a:p>
        </p:txBody>
      </p:sp>
      <p:pic>
        <p:nvPicPr>
          <p:cNvPr id="3" name="Picture 2" descr="memory_t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2211" y="2822448"/>
            <a:ext cx="9227271" cy="376123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11368735" cy="23652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</a:pPr>
            <a:r>
              <a:rPr sz="2600" b="1">
                <a:solidFill>
                  <a:srgbClr val="0B0B0B"/>
                </a:solidFill>
                <a:latin typeface="Calibri"/>
              </a:rPr>
              <a:t>Access pattern: locality depends on the selection policy</a:t>
            </a:r>
          </a:p>
          <a:p>
            <a:pPr marL="301752" indent="-256032">
              <a:spcAft>
                <a:spcPts val="500"/>
              </a:spcAft>
              <a:buChar char="•"/>
            </a:pPr>
            <a:r>
              <a:rPr sz="1500">
                <a:solidFill>
                  <a:srgbClr val="0B0B0B"/>
                </a:solidFill>
                <a:latin typeface="Calibri"/>
              </a:rPr>
              <a:t>Older KV shared with the previous chunk: VSA-style ~70% (PAN, trained with VSA: 65%); Light Forcing-style ~30%</a:t>
            </a:r>
          </a:p>
          <a:p>
            <a:pPr marL="301752" indent="-256032">
              <a:spcAft>
                <a:spcPts val="500"/>
              </a:spcAft>
              <a:buChar char="•"/>
            </a:pPr>
            <a:r>
              <a:rPr sz="1500">
                <a:solidFill>
                  <a:srgbClr val="0B0B0B"/>
                </a:solidFill>
                <a:latin typeface="Calibri"/>
              </a:rPr>
              <a:t>Share of older KV read per forward: VSA ~40%; LF falls to 4%</a:t>
            </a:r>
          </a:p>
          <a:p>
            <a:pPr marL="301752" indent="-256032">
              <a:spcAft>
                <a:spcPts val="500"/>
              </a:spcAft>
              <a:buChar char="•"/>
            </a:pPr>
            <a:r>
              <a:rPr sz="1500">
                <a:solidFill>
                  <a:srgbClr val="0B0B0B"/>
                </a:solidFill>
                <a:latin typeface="Calibri"/>
              </a:rPr>
              <a:t>Reuse (Tianqi): each fetched block serves ~6 query blocks; AI 128 FLOP/B unmerged, ~770 merged per forward, ~3300 cached across the 5 forwards</a:t>
            </a:r>
          </a:p>
        </p:txBody>
      </p:sp>
      <p:pic>
        <p:nvPicPr>
          <p:cNvPr id="3" name="Picture 2" descr="access_patter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9955" y="2822448"/>
            <a:ext cx="10091784" cy="376123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11368735" cy="17404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</a:pPr>
            <a:r>
              <a:rPr sz="2600" b="1">
                <a:solidFill>
                  <a:srgbClr val="0B0B0B"/>
                </a:solidFill>
                <a:latin typeface="Calibri"/>
              </a:rPr>
              <a:t>Fetch cost: PCIe cannot keep up</a:t>
            </a:r>
          </a:p>
          <a:p>
            <a:pPr marL="301752" indent="-256032">
              <a:spcAft>
                <a:spcPts val="500"/>
              </a:spcAft>
              <a:buChar char="•"/>
            </a:pPr>
            <a:r>
              <a:rPr sz="1500">
                <a:solidFill>
                  <a:srgbClr val="0B0B0B"/>
                </a:solidFill>
                <a:latin typeface="Calibri"/>
              </a:rPr>
              <a:t>Host -&gt; GPU: 28 GB/s per GPU for large copies, 4.8 GB/s for one head's 128-token K or V</a:t>
            </a:r>
          </a:p>
          <a:p>
            <a:pPr marL="301752" indent="-256032">
              <a:spcAft>
                <a:spcPts val="500"/>
              </a:spcAft>
              <a:buChar char="•"/>
            </a:pPr>
            <a:r>
              <a:rPr sz="1500">
                <a:solidFill>
                  <a:srgbClr val="0B0B0B"/>
                </a:solidFill>
                <a:latin typeface="Calibri"/>
              </a:rPr>
              <a:t>VSA-style demand per GPU, 117 s -&gt; 10 min: re-read every forward 139 -&gt; ~720 GB/s; once per chunk 32 -&gt; ~170; keeping the previous chunk's blocks 9 -&gt; ~41</a:t>
            </a:r>
          </a:p>
          <a:p>
            <a:pPr marL="301752" indent="-256032">
              <a:spcAft>
                <a:spcPts val="500"/>
              </a:spcAft>
              <a:buChar char="•"/>
            </a:pPr>
            <a:r>
              <a:rPr sz="1500">
                <a:solidFill>
                  <a:srgbClr val="0B0B0B"/>
                </a:solidFill>
                <a:latin typeface="Calibri"/>
              </a:rPr>
              <a:t>TB-scale capacity, 0.04-0.7 TB/s per GPU, fine-grained, decided at run time: the Glass regime</a:t>
            </a:r>
          </a:p>
        </p:txBody>
      </p:sp>
      <p:pic>
        <p:nvPicPr>
          <p:cNvPr id="3" name="Picture 2" descr="fetch_b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197608"/>
            <a:ext cx="5611069" cy="2725291"/>
          </a:xfrm>
          <a:prstGeom prst="rect">
            <a:avLst/>
          </a:prstGeom>
        </p:spPr>
      </p:pic>
      <p:pic>
        <p:nvPicPr>
          <p:cNvPr id="4" name="Picture 3" descr="bw_dema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6869" y="2197608"/>
            <a:ext cx="5483346" cy="272529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11368735" cy="417880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</a:pPr>
            <a:r>
              <a:rPr sz="2600" b="1">
                <a:solidFill>
                  <a:srgbClr val="0B0B0B"/>
                </a:solidFill>
                <a:latin typeface="Calibri"/>
              </a:rPr>
              <a:t>Caveats and next steps</a:t>
            </a:r>
          </a:p>
          <a:p>
            <a:pPr marL="301752" indent="-256032">
              <a:spcAft>
                <a:spcPts val="500"/>
              </a:spcAft>
              <a:buChar char="•"/>
            </a:pPr>
            <a:r>
              <a:rPr sz="1500">
                <a:solidFill>
                  <a:srgbClr val="0B0B0B"/>
                </a:solidFill>
                <a:latin typeface="Calibri"/>
              </a:rPr>
              <a:t>Caveats</a:t>
            </a:r>
          </a:p>
          <a:p>
            <a:pPr marL="557784" indent="-256032">
              <a:spcAft>
                <a:spcPts val="500"/>
              </a:spcAft>
              <a:buChar char="–"/>
            </a:pPr>
            <a:r>
              <a:rPr sz="1400">
                <a:solidFill>
                  <a:srgbClr val="0B0B0B"/>
                </a:solidFill>
                <a:latin typeface="Calibri"/>
              </a:rPr>
              <a:t>Quality: one scene, one 22.5 s trajectory, 2 seeds; PSNR is pixel-level</a:t>
            </a:r>
          </a:p>
          <a:p>
            <a:pPr marL="557784" indent="-256032">
              <a:spcAft>
                <a:spcPts val="500"/>
              </a:spcAft>
              <a:buChar char="–"/>
            </a:pPr>
            <a:r>
              <a:rPr sz="1400">
                <a:solidFill>
                  <a:srgbClr val="0B0B0B"/>
                </a:solidFill>
                <a:latin typeface="Calibri"/>
              </a:rPr>
              <a:t>The view recurs every ~4 s, so the test measures drift, not recall after a long absence</a:t>
            </a:r>
          </a:p>
          <a:p>
            <a:pPr marL="557784" indent="-256032">
              <a:spcAft>
                <a:spcPts val="500"/>
              </a:spcAft>
              <a:buChar char="–"/>
            </a:pPr>
            <a:r>
              <a:rPr sz="1400">
                <a:solidFill>
                  <a:srgbClr val="0B0B0B"/>
                </a:solidFill>
                <a:latin typeface="Calibri"/>
              </a:rPr>
              <a:t>Our recompute is training-free; a model trained for it may do better</a:t>
            </a:r>
          </a:p>
          <a:p>
            <a:pPr marL="557784" indent="-256032">
              <a:spcAft>
                <a:spcPts val="500"/>
              </a:spcAft>
              <a:buChar char="–"/>
            </a:pPr>
            <a:r>
              <a:rPr sz="1400">
                <a:solidFill>
                  <a:srgbClr val="0B0B0B"/>
                </a:solidFill>
                <a:latin typeface="Calibri"/>
              </a:rPr>
              <a:t>LingBot was not trained with sparse attention; its access pattern matches PAN's, quality is unverified</a:t>
            </a:r>
          </a:p>
          <a:p>
            <a:pPr marL="557784" indent="-256032">
              <a:spcAft>
                <a:spcPts val="500"/>
              </a:spcAft>
              <a:buChar char="–"/>
            </a:pPr>
            <a:r>
              <a:rPr sz="1400">
                <a:solidFill>
                  <a:srgbClr val="0B0B0B"/>
                </a:solidFill>
                <a:latin typeface="Calibri"/>
              </a:rPr>
              <a:t>VSA-style selects a fixed ratio, so compute grows with history; a fixed top-k would cap it</a:t>
            </a:r>
          </a:p>
          <a:p>
            <a:pPr marL="301752" indent="-256032">
              <a:spcAft>
                <a:spcPts val="500"/>
              </a:spcAft>
              <a:buChar char="•"/>
            </a:pPr>
            <a:r>
              <a:rPr sz="1500">
                <a:solidFill>
                  <a:srgbClr val="0B0B0B"/>
                </a:solidFill>
                <a:latin typeface="Calibri"/>
              </a:rPr>
              <a:t>Next (needs GPUs)</a:t>
            </a:r>
          </a:p>
          <a:p>
            <a:pPr marL="557784" indent="-256032">
              <a:spcAft>
                <a:spcPts val="500"/>
              </a:spcAft>
              <a:buChar char="–"/>
            </a:pPr>
            <a:r>
              <a:rPr sz="1400">
                <a:solidFill>
                  <a:srgbClr val="0B0B0B"/>
                </a:solidFill>
                <a:latin typeface="Calibri"/>
              </a:rPr>
              <a:t>Turn-away trajectory (leave a view for longer than the window), more scenes and seeds</a:t>
            </a:r>
          </a:p>
          <a:p>
            <a:pPr marL="557784" indent="-256032">
              <a:spcAft>
                <a:spcPts val="500"/>
              </a:spcAft>
              <a:buChar char="–"/>
            </a:pPr>
            <a:r>
              <a:rPr sz="1400">
                <a:solidFill>
                  <a:srgbClr val="0B0B0B"/>
                </a:solidFill>
                <a:latin typeface="Calibri"/>
              </a:rPr>
              <a:t>Attention weight on memory tokens: stored vs recomputed KV</a:t>
            </a:r>
          </a:p>
          <a:p>
            <a:pPr marL="557784" indent="-256032">
              <a:spcAft>
                <a:spcPts val="500"/>
              </a:spcAft>
              <a:buChar char="–"/>
            </a:pPr>
            <a:r>
              <a:rPr sz="1400">
                <a:solidFill>
                  <a:srgbClr val="0B0B0B"/>
                </a:solidFill>
                <a:latin typeface="Calibri"/>
              </a:rPr>
              <a:t>Explain the host-DRAM M=20 overhead; clean VSA timing; fixed-k trace</a:t>
            </a:r>
          </a:p>
          <a:p>
            <a:pPr marL="557784" indent="-256032">
              <a:spcAft>
                <a:spcPts val="500"/>
              </a:spcAft>
              <a:buChar char="–"/>
            </a:pPr>
            <a:r>
              <a:rPr sz="1400">
                <a:solidFill>
                  <a:srgbClr val="0B0B0B"/>
                </a:solidFill>
                <a:latin typeface="Calibri"/>
              </a:rPr>
              <a:t>End-to-end sparse fetch from a capacity tier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11368735" cy="9022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</a:pPr>
            <a:r>
              <a:rPr sz="2600" b="1">
                <a:solidFill>
                  <a:srgbClr val="0B0B0B"/>
                </a:solidFill>
                <a:latin typeface="Calibri"/>
              </a:rPr>
              <a:t>Backup: reuse of fetched blocks (Tianqi)</a:t>
            </a:r>
          </a:p>
          <a:p>
            <a:pPr marL="301752" indent="-256032">
              <a:spcAft>
                <a:spcPts val="500"/>
              </a:spcAft>
              <a:buChar char="•"/>
            </a:pPr>
            <a:r>
              <a:rPr sz="1500">
                <a:solidFill>
                  <a:srgbClr val="0B0B0B"/>
                </a:solidFill>
                <a:latin typeface="Calibri"/>
              </a:rPr>
              <a:t>Reuse rate = independent selections / union, per forward; stable over time and steps</a:t>
            </a:r>
          </a:p>
        </p:txBody>
      </p:sp>
      <p:pic>
        <p:nvPicPr>
          <p:cNvPr id="3" name="Picture 2" descr="attn_trace_reuse_r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9442" y="1359408"/>
            <a:ext cx="7112810" cy="522427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11368735" cy="9022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</a:pPr>
            <a:r>
              <a:rPr sz="2600" b="1">
                <a:solidFill>
                  <a:srgbClr val="0B0B0B"/>
                </a:solidFill>
                <a:latin typeface="Calibri"/>
              </a:rPr>
              <a:t>Backup: remote-KV reuse by layer and chunk (Tianqi)</a:t>
            </a:r>
          </a:p>
          <a:p>
            <a:pPr marL="301752" indent="-256032">
              <a:spcAft>
                <a:spcPts val="500"/>
              </a:spcAft>
              <a:buChar char="•"/>
            </a:pPr>
            <a:r>
              <a:rPr sz="1500">
                <a:solidFill>
                  <a:srgbClr val="0B0B0B"/>
                </a:solidFill>
                <a:latin typeface="Calibri"/>
              </a:rPr>
              <a:t>Per-layer bands stay constant over 120 s: placement or bandwidth can be set per layer</a:t>
            </a:r>
          </a:p>
        </p:txBody>
      </p:sp>
      <p:pic>
        <p:nvPicPr>
          <p:cNvPr id="3" name="Picture 2" descr="attn_trace_reuse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1690" y="1359408"/>
            <a:ext cx="5188313" cy="522427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