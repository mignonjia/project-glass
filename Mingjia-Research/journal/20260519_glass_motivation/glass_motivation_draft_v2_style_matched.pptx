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232">
          <p15:clr>
            <a:srgbClr val="747775"/>
          </p15:clr>
        </p15:guide>
        <p15:guide id="2" pos="29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88"/>
  </p:normalViewPr>
  <p:slideViewPr>
    <p:cSldViewPr snapToGrid="0">
      <p:cViewPr varScale="1">
        <p:scale>
          <a:sx n="155" d="100"/>
          <a:sy n="155" d="100"/>
        </p:scale>
        <p:origin x="640" y="176"/>
      </p:cViewPr>
      <p:guideLst>
        <p:guide orient="horz" pos="2232"/>
        <p:guide pos="29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434158"/>
            <a:ext cx="8520600" cy="841800"/>
          </a:xfrm>
        </p:spPr>
        <p:txBody>
          <a:bodyPr>
            <a:normAutofit fontScale="90000"/>
          </a:bodyPr>
          <a:lstStyle/>
          <a:p>
            <a:r>
              <a:rPr dirty="0"/>
              <a:t>Motivation: Memory Is Becoming The Substrate Problem</a:t>
            </a:r>
            <a:r>
              <a:rPr lang="en-US" dirty="0"/>
              <a:t> for Video Generations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70313" y="2776975"/>
            <a:ext cx="7803374" cy="64633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800" b="0" dirty="0">
                <a:solidFill>
                  <a:srgbClr val="1F4E79"/>
                </a:solidFill>
                <a:latin typeface="Aptos"/>
              </a:rPr>
              <a:t>Long-horizon ML is shifting from isolated FLOPs to sustained memory residency and rollout movement.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Training Pays a Memory 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Capacity pressure turns into recompute, offload, and fine-grained synchronization</a:t>
            </a:r>
          </a:p>
          <a:p>
            <a:pPr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Long-context LLM / video / </a:t>
            </a:r>
            <a:r>
              <a:rPr sz="1320" b="0" dirty="0" err="1">
                <a:solidFill>
                  <a:srgbClr val="141414"/>
                </a:solidFill>
                <a:latin typeface="Aptos"/>
              </a:rPr>
              <a:t>MoE</a:t>
            </a:r>
            <a:r>
              <a:rPr sz="1320" b="0" dirty="0">
                <a:solidFill>
                  <a:srgbClr val="141414"/>
                </a:solidFill>
                <a:latin typeface="Aptos"/>
              </a:rPr>
              <a:t> training quickly exceeds local HBM capacity</a:t>
            </a:r>
          </a:p>
          <a:p>
            <a:pPr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Gradient checkpointing saves activation memory, but recomputes forward activations during backward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Classic checkpointing example: 48 GB → 7 GB, with ~30% runtime overhead</a:t>
            </a:r>
          </a:p>
          <a:p>
            <a:pPr lvl="1">
              <a:spcAft>
                <a:spcPts val="300"/>
              </a:spcAft>
            </a:pPr>
            <a:r>
              <a:rPr sz="1320" b="0" dirty="0" err="1">
                <a:solidFill>
                  <a:srgbClr val="141414"/>
                </a:solidFill>
                <a:latin typeface="Aptos"/>
              </a:rPr>
              <a:t>NeMo</a:t>
            </a:r>
            <a:r>
              <a:rPr sz="1320" b="0" dirty="0">
                <a:solidFill>
                  <a:srgbClr val="141414"/>
                </a:solidFill>
                <a:latin typeface="Aptos"/>
              </a:rPr>
              <a:t> reports full Transformer-layer </a:t>
            </a:r>
            <a:r>
              <a:rPr sz="1320" b="0" dirty="0" err="1">
                <a:solidFill>
                  <a:srgbClr val="141414"/>
                </a:solidFill>
                <a:latin typeface="Aptos"/>
              </a:rPr>
              <a:t>recomputation</a:t>
            </a:r>
            <a:r>
              <a:rPr sz="1320" b="0" dirty="0">
                <a:solidFill>
                  <a:srgbClr val="141414"/>
                </a:solidFill>
                <a:latin typeface="Aptos"/>
              </a:rPr>
              <a:t> adds ~30% per-layer compute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Megatron reports 5× activation-memory reduction with sequence parallelism + selective </a:t>
            </a:r>
            <a:r>
              <a:rPr sz="1320" b="0" dirty="0" err="1">
                <a:solidFill>
                  <a:srgbClr val="141414"/>
                </a:solidFill>
                <a:latin typeface="Aptos"/>
              </a:rPr>
              <a:t>recomputation</a:t>
            </a:r>
            <a:endParaRPr sz="1320" b="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CPU/offload and storage movement make capacity look larger, but move training onto PCIe / host-memory timelines</a:t>
            </a:r>
          </a:p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Takeaway: extra local memory removes workarounds, not just bytes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727448"/>
            <a:ext cx="83210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0">
                <a:solidFill>
                  <a:srgbClr val="5F5F5F"/>
                </a:solidFill>
                <a:latin typeface="Aptos"/>
              </a:rPr>
              <a:t>Refs: Chen et al., 2016; Korthikanti et al., MLSys'23; NVIDIA NeMo/Megatron recomputation docs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Parallelism Is Not Free When It Is Only Solving Capacity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368712"/>
            <a:ext cx="3999900" cy="341640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Memory-forced TP / SP / CP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Shard a layer, sequence, or context across devices so the sample fits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Insert layer-wise collectives around attention / MLP boundaries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Raw communication volume may be manageable</a:t>
            </a:r>
          </a:p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The real cost is exposed synchronization when overlap fails</a:t>
            </a:r>
            <a:r>
              <a:rPr lang="en-US" sz="1270" b="1" dirty="0">
                <a:solidFill>
                  <a:srgbClr val="141414"/>
                </a:solidFill>
                <a:latin typeface="Aptos"/>
              </a:rPr>
              <a:t> </a:t>
            </a:r>
            <a:r>
              <a:rPr lang="en-US" sz="1270" dirty="0">
                <a:solidFill>
                  <a:srgbClr val="141414"/>
                </a:solidFill>
                <a:latin typeface="Aptos"/>
              </a:rPr>
              <a:t>[OSDI'25]</a:t>
            </a:r>
            <a:endParaRPr sz="1270" dirty="0">
              <a:solidFill>
                <a:srgbClr val="141414"/>
              </a:solidFill>
              <a:latin typeface="Aptos"/>
            </a:endParaRP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Slow ranks can stall TP/CP groups, create PP bubbles, and delay DP synchronization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368712"/>
            <a:ext cx="3999900" cy="341640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How we should measure it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Profile compute kernels, NCCL collectives, idle gaps, and rank skew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Exposed comm = NCCL time not overlapped with useful compute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Sweep SP/CP degree and sequence length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Avoid claiming a universal power-law bubble distribution before measuring it</a:t>
            </a:r>
          </a:p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Dual-panel memory reduces memory-forced sharding; remaining sync is coarser and easier to overlap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5807" y="4647171"/>
            <a:ext cx="6391173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sz="1050" b="0" dirty="0">
                <a:solidFill>
                  <a:srgbClr val="5F5F5F"/>
                </a:solidFill>
                <a:latin typeface="Aptos"/>
              </a:rPr>
              <a:t>[OSDI’25] </a:t>
            </a:r>
            <a:r>
              <a:rPr lang="en-US" sz="1050" b="0" dirty="0" err="1">
                <a:solidFill>
                  <a:srgbClr val="5F5F5F"/>
                </a:solidFill>
                <a:latin typeface="Aptos"/>
              </a:rPr>
              <a:t>Jinkun</a:t>
            </a:r>
            <a:r>
              <a:rPr lang="en-US" sz="1050" b="0" dirty="0">
                <a:solidFill>
                  <a:srgbClr val="5F5F5F"/>
                </a:solidFill>
                <a:latin typeface="Aptos"/>
              </a:rPr>
              <a:t> Lin, Ziheng Jiang, et. </a:t>
            </a:r>
            <a:r>
              <a:rPr lang="en-US" sz="1050" dirty="0">
                <a:solidFill>
                  <a:srgbClr val="5F5F5F"/>
                </a:solidFill>
                <a:latin typeface="Aptos"/>
              </a:rPr>
              <a:t>al</a:t>
            </a:r>
            <a:r>
              <a:rPr lang="en-US" sz="1050" b="0" dirty="0">
                <a:solidFill>
                  <a:srgbClr val="5F5F5F"/>
                </a:solidFill>
                <a:latin typeface="Aptos"/>
              </a:rPr>
              <a:t>. Understanding stragglers in large model training using what-if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World-Model Pretraining Is Long-Context Video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Seconds of generated experience quickly become tens of thousands of tokens</a:t>
            </a:r>
          </a:p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Internal profiling hook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1 latent frame ≈ 1.5k tokens ≈ 0.16 s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1 second video ≈ 10k tokens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3 latent training: 55 GB peak; 9 latent training: 135 GB peak; 15 latent training: OOM</a:t>
            </a:r>
          </a:p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Current coping mechanisms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Train on short clips, then hope inference generalizes to long horizons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Checkpoint long attention / </a:t>
            </a:r>
            <a:r>
              <a:rPr sz="1320" b="0" dirty="0" err="1">
                <a:solidFill>
                  <a:srgbClr val="141414"/>
                </a:solidFill>
                <a:latin typeface="Aptos"/>
              </a:rPr>
              <a:t>DiT</a:t>
            </a:r>
            <a:r>
              <a:rPr sz="1320" b="0" dirty="0">
                <a:solidFill>
                  <a:srgbClr val="141414"/>
                </a:solidFill>
                <a:latin typeface="Aptos"/>
              </a:rPr>
              <a:t> blocks</a:t>
            </a:r>
          </a:p>
          <a:p>
            <a:pPr lvl="1">
              <a:spcAft>
                <a:spcPts val="300"/>
              </a:spcAft>
            </a:pPr>
            <a:r>
              <a:rPr sz="1320" b="0" dirty="0">
                <a:solidFill>
                  <a:srgbClr val="141414"/>
                </a:solidFill>
                <a:latin typeface="Aptos"/>
              </a:rPr>
              <a:t>Use SP/CP, sliding windows, or compressed KV/cache selection</a:t>
            </a:r>
          </a:p>
          <a:p>
            <a:pPr>
              <a:spcAft>
                <a:spcPts val="300"/>
              </a:spcAft>
            </a:pPr>
            <a:r>
              <a:rPr sz="1320" b="1" dirty="0">
                <a:solidFill>
                  <a:srgbClr val="141414"/>
                </a:solidFill>
                <a:latin typeface="Aptos"/>
              </a:rPr>
              <a:t>Takeaway: world-model pretraining needs memory capacity before another isolated FLOP 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727448"/>
            <a:ext cx="83210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0">
                <a:solidFill>
                  <a:srgbClr val="5F5F5F"/>
                </a:solidFill>
                <a:latin typeface="Aptos"/>
              </a:rPr>
              <a:t>Refs: internal Mingjia profiling; StreamDiffusionV2; long-video generation / Causal DiT literature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Post-Training and Inference Are Both Rollout-Limited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Post-training: RL / self-distillation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RL repeatedly generates rollouts before each update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LLM RL systems report rollout generation can exceed 90% of RL runtime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DeepSeek-R1-style GRPO samples many responses per update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Video/world-model rollouts are heavier: multi-frame, multi-step denoising + cache state</a:t>
            </a:r>
          </a:p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This makes rollout latency and memory movement first-order training costs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Inference: online planning rollout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Agents repeatedly query future trajectories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state/action → predicted future → policy/planner → next action</a:t>
            </a:r>
          </a:p>
          <a:p>
            <a:pPr>
              <a:spcAft>
                <a:spcPts val="300"/>
              </a:spcAft>
            </a:pPr>
            <a:r>
              <a:rPr sz="1270" b="0" dirty="0">
                <a:solidFill>
                  <a:srgbClr val="141414"/>
                </a:solidFill>
                <a:latin typeface="Aptos"/>
              </a:rPr>
              <a:t>StreamDiffusionV2</a:t>
            </a:r>
            <a:r>
              <a:rPr lang="en-US" sz="1270" b="0" dirty="0">
                <a:solidFill>
                  <a:srgbClr val="141414"/>
                </a:solidFill>
                <a:latin typeface="Aptos"/>
              </a:rPr>
              <a:t> [MLSys’26] </a:t>
            </a:r>
            <a:r>
              <a:rPr sz="1270" b="0" dirty="0">
                <a:solidFill>
                  <a:srgbClr val="141414"/>
                </a:solidFill>
                <a:latin typeface="Aptos"/>
              </a:rPr>
              <a:t>: low TTFF, strict per-frame deadline, low jitter</a:t>
            </a:r>
          </a:p>
          <a:p>
            <a:pPr>
              <a:spcAft>
                <a:spcPts val="300"/>
              </a:spcAft>
            </a:pPr>
            <a:r>
              <a:rPr sz="1270" b="1" dirty="0">
                <a:solidFill>
                  <a:srgbClr val="141414"/>
                </a:solidFill>
                <a:latin typeface="Aptos"/>
              </a:rPr>
              <a:t>Short chunks make memory / communication harder to hide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4727448"/>
            <a:ext cx="4945265" cy="34624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0" dirty="0">
                <a:solidFill>
                  <a:srgbClr val="5F5F5F"/>
                </a:solidFill>
                <a:latin typeface="Aptos"/>
              </a:rPr>
              <a:t>Refs: APRIL active partial rollouts; </a:t>
            </a:r>
            <a:endParaRPr lang="en-US" sz="750" b="0" dirty="0">
              <a:solidFill>
                <a:srgbClr val="5F5F5F"/>
              </a:solidFill>
              <a:latin typeface="Aptos"/>
            </a:endParaRPr>
          </a:p>
          <a:p>
            <a:r>
              <a:rPr sz="750" b="0" dirty="0">
                <a:solidFill>
                  <a:srgbClr val="5F5F5F"/>
                </a:solidFill>
                <a:latin typeface="Aptos"/>
              </a:rPr>
              <a:t>OpenAI o1 blog; </a:t>
            </a:r>
            <a:endParaRPr lang="en-US" sz="750" b="0" dirty="0">
              <a:solidFill>
                <a:srgbClr val="5F5F5F"/>
              </a:solidFill>
              <a:latin typeface="Aptos"/>
            </a:endParaRPr>
          </a:p>
          <a:p>
            <a:r>
              <a:rPr lang="en-US" sz="750" b="0" dirty="0">
                <a:solidFill>
                  <a:srgbClr val="5F5F5F"/>
                </a:solidFill>
                <a:latin typeface="Aptos"/>
              </a:rPr>
              <a:t>[MLSys’26] Feng, Tianrui, et al. "StreamDiffusionV2: A Streaming System for Dynamic and Interactive Video Generation." </a:t>
            </a:r>
            <a:endParaRPr sz="750" b="0" dirty="0">
              <a:solidFill>
                <a:srgbClr val="5F5F5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Why Dual-Panel Glass Belongs in This Trend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ptos"/>
              </a:rPr>
              <a:t>The trend is toward larger local memory domains, not only faster isolated accelerators</a:t>
            </a:r>
          </a:p>
          <a:p>
            <a:pPr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Today: HBM capacity wall forces checkpointing, offload, TP/SP/CP, small rollout batches, and short cached horizons</a:t>
            </a:r>
          </a:p>
          <a:p>
            <a:pPr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Dual-panel glass: GPU + memory panel, plus memory-only panel</a:t>
            </a:r>
          </a:p>
          <a:p>
            <a:pPr lvl="1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Larger local memory pool keeps longer sequence/sample state resident</a:t>
            </a:r>
          </a:p>
          <a:p>
            <a:pPr lvl="1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Fewer memory-forced fine-grained synchronization points</a:t>
            </a:r>
          </a:p>
          <a:p>
            <a:pPr lvl="1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Larger rollout batches and longer horizons for post-training / inference</a:t>
            </a:r>
          </a:p>
          <a:p>
            <a:pPr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ptos"/>
              </a:rPr>
              <a:t>Quantitative hook</a:t>
            </a:r>
          </a:p>
          <a:p>
            <a:pPr lvl="1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192 GB/slot → ~384 GB/slot; Kimi-K2-scale 4 TB model: 21 memory slots → 11 memory slots (~48% fewer)</a:t>
            </a:r>
          </a:p>
          <a:p>
            <a:pPr lvl="1">
              <a:spcAft>
                <a:spcPts val="300"/>
              </a:spcAft>
            </a:pPr>
            <a:r>
              <a:rPr sz="1320" b="0">
                <a:solidFill>
                  <a:srgbClr val="141414"/>
                </a:solidFill>
                <a:latin typeface="Aptos"/>
              </a:rPr>
              <a:t>Junda proxy result: training speedup single 1.04×, double 2.09×, 3-panel 4.17×</a:t>
            </a:r>
          </a:p>
          <a:p>
            <a:pPr>
              <a:spcAft>
                <a:spcPts val="300"/>
              </a:spcAft>
            </a:pPr>
            <a:r>
              <a:rPr sz="1320" b="1">
                <a:solidFill>
                  <a:srgbClr val="141414"/>
                </a:solidFill>
                <a:latin typeface="Aptos"/>
              </a:rPr>
              <a:t>Takeaway: glass is not only an interconnect story; it is a memory-capacity substrate for long-horizon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4727448"/>
            <a:ext cx="832104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0">
                <a:solidFill>
                  <a:srgbClr val="5F5F5F"/>
                </a:solidFill>
                <a:latin typeface="Aptos"/>
              </a:rPr>
              <a:t>Refs: Junda dual-sided glass analysis; TCPMT'14/'16 dual-sided glass interposers; internal GlassML panel simulations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Macintosh PowerPoint</Application>
  <PresentationFormat>On-screen Show (16:9)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Aptos</vt:lpstr>
      <vt:lpstr>Arial</vt:lpstr>
      <vt:lpstr>Simple Light</vt:lpstr>
      <vt:lpstr>Motivation: Memory Is Becoming The Substrate Problem for Video Generations</vt:lpstr>
      <vt:lpstr>Training Pays a Memory Tax</vt:lpstr>
      <vt:lpstr>Parallelism Is Not Free When It Is Only Solving Capacity</vt:lpstr>
      <vt:lpstr>World-Model Pretraining Is Long-Context Video Training</vt:lpstr>
      <vt:lpstr>Post-Training and Inference Are Both Rollout-Limited</vt:lpstr>
      <vt:lpstr>Why Dual-Panel Glass Belongs in This Trend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Huo, Mingjia</cp:lastModifiedBy>
  <cp:revision>1</cp:revision>
  <dcterms:modified xsi:type="dcterms:W3CDTF">2026-05-19T19:15:58Z</dcterms:modified>
</cp:coreProperties>
</file>