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8321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C2028"/>
                </a:solidFill>
                <a:latin typeface="Aptos"/>
              </a:rPr>
              <a:t>GlassML Motivation: Memory Capacity Is Becoming The Substrate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603504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0">
                <a:solidFill>
                  <a:srgbClr val="5C6574"/>
                </a:solidFill>
                <a:latin typeface="Aptos"/>
              </a:rPr>
              <a:t>Draft section for proposal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" y="932688"/>
            <a:ext cx="8302752" cy="9144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24712"/>
            <a:ext cx="804672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900" b="1">
                <a:solidFill>
                  <a:srgbClr val="1C2028"/>
                </a:solidFill>
                <a:latin typeface="Aptos"/>
              </a:rPr>
              <a:t>Long-horizon ML is shifting from isolated FLOPs to sustained memory residency and rollout movement.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2606040" cy="1691640"/>
          </a:xfrm>
          <a:prstGeom prst="rect">
            <a:avLst/>
          </a:prstGeom>
          <a:solidFill>
            <a:srgbClr val="E9F1FC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874519"/>
            <a:ext cx="23865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215CAF"/>
                </a:solidFill>
                <a:latin typeface="Aptos"/>
              </a:rPr>
              <a:t>Pretraining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221991"/>
            <a:ext cx="2386584" cy="11612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1C2028"/>
                </a:solidFill>
                <a:latin typeface="Aptos"/>
              </a:rPr>
              <a:t>Long context / long video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Activation memory grows with sequence horizon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Workarounds: checkpointing, SP/CP, shorter clips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783080"/>
            <a:ext cx="2606040" cy="1691640"/>
          </a:xfrm>
          <a:prstGeom prst="rect">
            <a:avLst/>
          </a:prstGeom>
          <a:solidFill>
            <a:srgbClr val="FCF0E8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874519"/>
            <a:ext cx="23865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C45F22"/>
                </a:solidFill>
                <a:latin typeface="Aptos"/>
              </a:rPr>
              <a:t>Post-training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21991"/>
            <a:ext cx="2386584" cy="11612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1C2028"/>
                </a:solidFill>
                <a:latin typeface="Aptos"/>
              </a:rPr>
              <a:t>RL / self-distillation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Repeated rollout generation before each update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Rollout runtime becomes the training bottleneck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44184" y="1783080"/>
            <a:ext cx="2606040" cy="1691640"/>
          </a:xfrm>
          <a:prstGeom prst="rect">
            <a:avLst/>
          </a:prstGeom>
          <a:solidFill>
            <a:srgbClr val="E6F6F6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874519"/>
            <a:ext cx="23865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221991"/>
            <a:ext cx="2386584" cy="11612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1C2028"/>
                </a:solidFill>
                <a:latin typeface="Aptos"/>
              </a:rPr>
              <a:t>Interactive rollout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Low TTFF, per-frame deadlines, low jitter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Streaming cache and memory movement dominate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4187952"/>
            <a:ext cx="8247888" cy="402336"/>
          </a:xfrm>
          <a:prstGeom prst="rect">
            <a:avLst/>
          </a:prstGeom>
          <a:solidFill>
            <a:srgbClr val="F4F8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70248"/>
            <a:ext cx="8028431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50" b="1">
                <a:solidFill>
                  <a:srgbClr val="215CAF"/>
                </a:solidFill>
                <a:latin typeface="Aptos"/>
              </a:rPr>
              <a:t>The common pressure point: keep longer state local, and move rollout data with low latency.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4736592"/>
            <a:ext cx="8275320" cy="210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760" b="0">
                <a:solidFill>
                  <a:srgbClr val="5C6574"/>
                </a:solidFill>
                <a:latin typeface="Aptos"/>
              </a:rPr>
              <a:t>Refs: StreamDiffusionV2 (arXiv:2511.07399); OpenAI o1 blog; APRIL RL systems; internal GlassML profiling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8321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C2028"/>
                </a:solidFill>
                <a:latin typeface="Aptos"/>
              </a:rPr>
              <a:t>Pretraining Pays A Memory 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603504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0">
                <a:solidFill>
                  <a:srgbClr val="5C6574"/>
                </a:solidFill>
                <a:latin typeface="Aptos"/>
              </a:rPr>
              <a:t>Capacity pressure turns into recompute, offload, and fine-grained synchronization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" y="932688"/>
            <a:ext cx="8302752" cy="9144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97480" cy="2331720"/>
          </a:xfrm>
          <a:prstGeom prst="rect">
            <a:avLst/>
          </a:prstGeom>
          <a:solidFill>
            <a:srgbClr val="E9F1FC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247802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215CAF"/>
                </a:solidFill>
                <a:latin typeface="Aptos"/>
              </a:rPr>
              <a:t>Checkpointing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581912"/>
            <a:ext cx="2478024" cy="180136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215CAF"/>
                </a:solidFill>
                <a:latin typeface="Aptos"/>
              </a:rPr>
              <a:t>Saves activation memory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Classic checkpointing: 48 GB -&gt; 7 GB in one reported example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~30% runtime overhead in the same study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NeMo: full Transformer-layer recomputation adds ~30% per-layer compute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143000"/>
            <a:ext cx="2697480" cy="2331720"/>
          </a:xfrm>
          <a:prstGeom prst="rect">
            <a:avLst/>
          </a:prstGeom>
          <a:solidFill>
            <a:srgbClr val="FCF0E8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1234440"/>
            <a:ext cx="247802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C45F22"/>
                </a:solidFill>
                <a:latin typeface="Aptos"/>
              </a:rPr>
              <a:t>CPU / Storage Offload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581912"/>
            <a:ext cx="2478024" cy="180136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C45F22"/>
                </a:solidFill>
                <a:latin typeface="Aptos"/>
              </a:rPr>
              <a:t>Makes capacity look larger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But moves training onto PCIe / host-memory timelines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Useful for feasibility; risky for sustained utilization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Video preprocessing and latent storage add more movement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2697480" cy="2331720"/>
          </a:xfrm>
          <a:prstGeom prst="rect">
            <a:avLst/>
          </a:prstGeom>
          <a:solidFill>
            <a:srgbClr val="E6F6F6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234440"/>
            <a:ext cx="247802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Memory-Forced Parallelism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1581912"/>
            <a:ext cx="2478024" cy="180136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08080"/>
                </a:solidFill>
                <a:latin typeface="Aptos"/>
              </a:rPr>
              <a:t>TP / SP / CP make long samples fit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But insert layer-wise collectives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When overlap fails, sync becomes exposed idle time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Megatron reports 5x activation-memory reduction with SP + selective recompute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4187952"/>
            <a:ext cx="8247888" cy="402336"/>
          </a:xfrm>
          <a:prstGeom prst="rect">
            <a:avLst/>
          </a:prstGeom>
          <a:solidFill>
            <a:srgbClr val="F4F8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8028431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50" b="1">
                <a:solidFill>
                  <a:srgbClr val="215CAF"/>
                </a:solidFill>
                <a:latin typeface="Aptos"/>
              </a:rPr>
              <a:t>Extra memory removes workarounds: less recompute, less offload, fewer fine-grained sync points.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4736592"/>
            <a:ext cx="8275320" cy="210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760" b="0">
                <a:solidFill>
                  <a:srgbClr val="5C6574"/>
                </a:solidFill>
                <a:latin typeface="Aptos"/>
              </a:rPr>
              <a:t>Refs: Chen et al., Training Deep Nets with Sublinear Memory Cost, 2016; Korthikanti et al., MLSys'23; NVIDIA NeMo/Megatron docs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8321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C2028"/>
                </a:solidFill>
                <a:latin typeface="Aptos"/>
              </a:rPr>
              <a:t>Parallelism Is Not Free When It Is Only Solving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603504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0">
                <a:solidFill>
                  <a:srgbClr val="5C6574"/>
                </a:solidFill>
                <a:latin typeface="Aptos"/>
              </a:rPr>
              <a:t>The problem is exposed synchronization, not only communication bytes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" y="932688"/>
            <a:ext cx="8302752" cy="9144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215CAF"/>
                </a:solidFill>
                <a:latin typeface="Aptos"/>
              </a:rPr>
              <a:t>Memory-forced long-sequence training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3703320" cy="2267712"/>
          </a:xfrm>
          <a:prstGeom prst="rect">
            <a:avLst/>
          </a:prstGeom>
          <a:solidFill>
            <a:srgbClr val="E9F1FC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34838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215CAF"/>
                </a:solidFill>
                <a:latin typeface="Aptos"/>
              </a:rPr>
              <a:t>Synchronization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3483863" cy="1737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TP / SP / CP split a layer or sequence across devices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Ranks synchronize after attention / MLP boundaries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A slow rank stalls its group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The delay can propagate into PP bubbles and DP finish-time skew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097280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45F22"/>
                </a:solidFill>
                <a:latin typeface="Aptos"/>
              </a:rPr>
              <a:t>What to measure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444752"/>
            <a:ext cx="3703320" cy="2267712"/>
          </a:xfrm>
          <a:prstGeom prst="rect">
            <a:avLst/>
          </a:prstGeom>
          <a:solidFill>
            <a:srgbClr val="FCF0E8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1536192"/>
            <a:ext cx="34838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C45F22"/>
                </a:solidFill>
                <a:latin typeface="Aptos"/>
              </a:rPr>
              <a:t>Bubble / exposed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1883664"/>
            <a:ext cx="3483863" cy="1737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C45F22"/>
                </a:solidFill>
                <a:latin typeface="Aptos"/>
              </a:rPr>
              <a:t>exposed comm = NCCL time not overlapped with compute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Profile: compute, NCCL, idle gaps, rank skew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Plot vs. SP/CP degree and sequence length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Avoid claiming a universal power law until measured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4187952"/>
            <a:ext cx="8247888" cy="402336"/>
          </a:xfrm>
          <a:prstGeom prst="rect">
            <a:avLst/>
          </a:prstGeom>
          <a:solidFill>
            <a:srgbClr val="F4F8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70248"/>
            <a:ext cx="8028431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50" b="1">
                <a:solidFill>
                  <a:srgbClr val="215CAF"/>
                </a:solidFill>
                <a:latin typeface="Aptos"/>
              </a:rPr>
              <a:t>Dual-panel memory reduces memory-forced sharding; remaining sync is coarser and easier to overlap.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4736592"/>
            <a:ext cx="8275320" cy="210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760" b="0">
                <a:solidFill>
                  <a:srgbClr val="5C6574"/>
                </a:solidFill>
                <a:latin typeface="Aptos"/>
              </a:rPr>
              <a:t>Refs: ByteDance OSDI'25 straggler study; Megatron-Core CP docs; PyTorch profiler communication-overlap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8321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C2028"/>
                </a:solidFill>
                <a:latin typeface="Aptos"/>
              </a:rPr>
              <a:t>World-Model Pretraining Is Long-Context Video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603504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0">
                <a:solidFill>
                  <a:srgbClr val="5C6574"/>
                </a:solidFill>
                <a:latin typeface="Aptos"/>
              </a:rPr>
              <a:t>Seconds of generated experience quickly become tens of thousands of tokens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" y="932688"/>
            <a:ext cx="8302752" cy="9144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3611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215CAF"/>
                </a:solidFill>
                <a:latin typeface="Aptos"/>
              </a:rPr>
              <a:t>Internal world-model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3611880" cy="2468880"/>
          </a:xfrm>
          <a:prstGeom prst="rect">
            <a:avLst/>
          </a:prstGeom>
          <a:solidFill>
            <a:srgbClr val="E9F1FC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39242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215CAF"/>
                </a:solidFill>
                <a:latin typeface="Aptos"/>
              </a:rPr>
              <a:t>Token and memory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3392424" cy="19385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215CAF"/>
                </a:solidFill>
                <a:latin typeface="Aptos"/>
              </a:rPr>
              <a:t>1 latent frame ~= 1.5k tokens ~= 0.16 s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215CAF"/>
                </a:solidFill>
                <a:latin typeface="Aptos"/>
              </a:rPr>
              <a:t>1 second video ~= 10k tokens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3 latent training: 55 GB peak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9 latent training: 135 GB peak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15 latent training: 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170432"/>
            <a:ext cx="3611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8080"/>
                </a:solidFill>
                <a:latin typeface="Aptos"/>
              </a:rPr>
              <a:t>Current coping mechanisms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536192"/>
            <a:ext cx="3611880" cy="2468880"/>
          </a:xfrm>
          <a:prstGeom prst="rect">
            <a:avLst/>
          </a:prstGeom>
          <a:solidFill>
            <a:srgbClr val="E6F6F6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1627632"/>
            <a:ext cx="339242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Make it fit somehow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975104"/>
            <a:ext cx="3392424" cy="19385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Train on short clips, then hope inference generalizes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Checkpoint long attention / DiT blocks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Use SP/CP for long rollouts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Use sliding-window / compressed KV for long video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Trade stability and horizon for memory feasibility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4187952"/>
            <a:ext cx="8247888" cy="402336"/>
          </a:xfrm>
          <a:prstGeom prst="rect">
            <a:avLst/>
          </a:prstGeom>
          <a:solidFill>
            <a:srgbClr val="F4F8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70248"/>
            <a:ext cx="8028431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50" b="1">
                <a:solidFill>
                  <a:srgbClr val="215CAF"/>
                </a:solidFill>
                <a:latin typeface="Aptos"/>
              </a:rPr>
              <a:t>World-model pretraining needs memory capacity before it needs another isolated FLOP headline.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4736592"/>
            <a:ext cx="8275320" cy="210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760" b="0">
                <a:solidFill>
                  <a:srgbClr val="5C6574"/>
                </a:solidFill>
                <a:latin typeface="Aptos"/>
              </a:rPr>
              <a:t>Refs: internal Mingjia profiling; StreamDiffusionV2; long-video generation / Causal DiT literature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8321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C2028"/>
                </a:solidFill>
                <a:latin typeface="Aptos"/>
              </a:rPr>
              <a:t>Post-Training And Inference Are Both Rollout-Limited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603504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0">
                <a:solidFill>
                  <a:srgbClr val="5C6574"/>
                </a:solidFill>
                <a:latin typeface="Aptos"/>
              </a:rPr>
              <a:t>RL turns generation into repeated trajectories; deployment turns it into an interactive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" y="932688"/>
            <a:ext cx="8302752" cy="9144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3931920" cy="2606040"/>
          </a:xfrm>
          <a:prstGeom prst="rect">
            <a:avLst/>
          </a:prstGeom>
          <a:solidFill>
            <a:srgbClr val="FCF0E8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243584"/>
            <a:ext cx="3712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C45F22"/>
                </a:solidFill>
                <a:latin typeface="Aptos"/>
              </a:rPr>
              <a:t>Post-training: RL / self-distillation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591056"/>
            <a:ext cx="3712463" cy="20756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C45F22"/>
                </a:solidFill>
                <a:latin typeface="Aptos"/>
              </a:rPr>
              <a:t>Rollout generation dominates modern RL systems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LLM RL systems report rollout generation can exceed 90% of RL runtime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DeepSeek-R1-style GRPO samples many responses per update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Video RL is heavier: multi-frame, multi-step denoising rollouts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World-model reward pipelines add inverse dynamics / preference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152144"/>
            <a:ext cx="3931920" cy="2606040"/>
          </a:xfrm>
          <a:prstGeom prst="rect">
            <a:avLst/>
          </a:prstGeom>
          <a:solidFill>
            <a:srgbClr val="E6F6F6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1243584"/>
            <a:ext cx="3712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Inference: online planning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1591056"/>
            <a:ext cx="3712463" cy="20756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08080"/>
                </a:solidFill>
                <a:latin typeface="Aptos"/>
              </a:rPr>
              <a:t>Agents repeatedly query future trajectories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state/action -&gt; predicted future -&gt; policy/planner -&gt; next action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StreamDiffusionV2: low TTFF + strict per-frame deadlines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Reported: &lt;0.5 s first frame; 58.28 FPS with 14B model on 4x H100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Short chunks make memory / communication harder to hide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4187952"/>
            <a:ext cx="8247888" cy="402336"/>
          </a:xfrm>
          <a:prstGeom prst="rect">
            <a:avLst/>
          </a:prstGeom>
          <a:solidFill>
            <a:srgbClr val="F4F8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70248"/>
            <a:ext cx="8028431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50" b="1">
                <a:solidFill>
                  <a:srgbClr val="215CAF"/>
                </a:solidFill>
                <a:latin typeface="Aptos"/>
              </a:rPr>
              <a:t>Rollout acceleration is not only compute: it is memory residency, cache movement, and low-jitter sync.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4736592"/>
            <a:ext cx="8275320" cy="210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760" b="0">
                <a:solidFill>
                  <a:srgbClr val="5C6574"/>
                </a:solidFill>
                <a:latin typeface="Aptos"/>
              </a:rPr>
              <a:t>Refs: APRIL active partial rollouts; DeepSeek-R1; OpenAI o1 blog; StreamDiffusionV2; video/world-model RL post-training papers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8321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C2028"/>
                </a:solidFill>
                <a:latin typeface="Aptos"/>
              </a:rPr>
              <a:t>Why Dual-Panel Glass Belongs In This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603504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50" b="0">
                <a:solidFill>
                  <a:srgbClr val="5C6574"/>
                </a:solidFill>
                <a:latin typeface="Aptos"/>
              </a:rPr>
              <a:t>A larger local memory domain attacks the root cause before routing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" y="932688"/>
            <a:ext cx="8302752" cy="9144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0604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23865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B83F3F"/>
                </a:solidFill>
                <a:latin typeface="Aptos"/>
              </a:rPr>
              <a:t>Today: memory-limited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581912"/>
            <a:ext cx="2386584" cy="21671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HBM capacity wall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Gradient checkpointing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CPU/offload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TP/SP/CP just to fit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Small rollout batches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Short cached horizon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1143000"/>
            <a:ext cx="2606040" cy="2697480"/>
          </a:xfrm>
          <a:prstGeom prst="rect">
            <a:avLst/>
          </a:prstGeom>
          <a:solidFill>
            <a:srgbClr val="E9F1FC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23865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215CAF"/>
                </a:solidFill>
                <a:latin typeface="Aptos"/>
              </a:rPr>
              <a:t>Dual-panel glass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386584" cy="21671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215CAF"/>
                </a:solidFill>
                <a:latin typeface="Aptos"/>
              </a:rPr>
              <a:t>GPU + memory panel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215CAF"/>
                </a:solidFill>
                <a:latin typeface="Aptos"/>
              </a:rPr>
              <a:t>Memory-only panel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Larger local memory pool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Longer sequence/sample stays local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Fewer memory-forced sync points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Larger rollout batch / horizon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44184" y="1143000"/>
            <a:ext cx="2606040" cy="2697480"/>
          </a:xfrm>
          <a:prstGeom prst="rect">
            <a:avLst/>
          </a:prstGeom>
          <a:solidFill>
            <a:srgbClr val="EBF7EE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234440"/>
            <a:ext cx="23865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3C8250"/>
                </a:solidFill>
                <a:latin typeface="Aptos"/>
              </a:rPr>
              <a:t>Quantitative 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1581912"/>
            <a:ext cx="2386584" cy="21671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3C8250"/>
                </a:solidFill>
                <a:latin typeface="Aptos"/>
              </a:rPr>
              <a:t>192 GB/slot -&gt; ~384 GB/slot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Kimi-K2-scale 4 TB model: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21 memory slots -&gt; 11 memory slots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~48% fewer memory slots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C2028"/>
                </a:solidFill>
                <a:latin typeface="Aptos"/>
              </a:rPr>
              <a:t>Junda proxy: training speedup single 1.04x, double 2.09x, 3-panel 4.17x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4187952"/>
            <a:ext cx="8247888" cy="402336"/>
          </a:xfrm>
          <a:prstGeom prst="rect">
            <a:avLst/>
          </a:prstGeom>
          <a:solidFill>
            <a:srgbClr val="F4F8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8028431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50" b="1">
                <a:solidFill>
                  <a:srgbClr val="215CAF"/>
                </a:solidFill>
                <a:latin typeface="Aptos"/>
              </a:rPr>
              <a:t>Glass is not only an interconnect story; it is a memory-capacity substrate for long-horizon ML.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4736592"/>
            <a:ext cx="8275320" cy="210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760" b="0">
                <a:solidFill>
                  <a:srgbClr val="5C6574"/>
                </a:solidFill>
                <a:latin typeface="Aptos"/>
              </a:rPr>
              <a:t>Refs: Junda dual-sided glass analysis; TCPMT'14/'16 dual-sided glass interposers; internal GlassML panel simulations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