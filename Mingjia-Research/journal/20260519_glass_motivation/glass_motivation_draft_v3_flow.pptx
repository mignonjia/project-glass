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32">
          <p15:clr>
            <a:srgbClr val="747775"/>
          </p15:clr>
        </p15:guide>
        <p15:guide id="2" pos="29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1"/>
  </p:normalViewPr>
  <p:slideViewPr>
    <p:cSldViewPr snapToGrid="0">
      <p:cViewPr varScale="1">
        <p:scale>
          <a:sx n="170" d="100"/>
          <a:sy n="170" d="100"/>
        </p:scale>
        <p:origin x="200" y="176"/>
      </p:cViewPr>
      <p:guideLst>
        <p:guide orient="horz" pos="2232"/>
        <p:guide pos="2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603" y="1499616"/>
            <a:ext cx="8520600" cy="841800"/>
          </a:xfrm>
        </p:spPr>
        <p:txBody>
          <a:bodyPr>
            <a:normAutofit/>
          </a:bodyPr>
          <a:lstStyle/>
          <a:p>
            <a:r>
              <a:rPr dirty="0"/>
              <a:t>Memory Problem in World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6442" y="2698303"/>
            <a:ext cx="7292628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 dirty="0">
                <a:solidFill>
                  <a:srgbClr val="1F4E79"/>
                </a:solidFill>
                <a:latin typeface="Aptos"/>
              </a:rPr>
              <a:t>From pretraining, to post-training, to inference: every phase increasingly depends on </a:t>
            </a:r>
            <a:r>
              <a:rPr lang="en-US" sz="1800" b="0" dirty="0">
                <a:solidFill>
                  <a:srgbClr val="1F4E79"/>
                </a:solidFill>
                <a:latin typeface="Aptos"/>
              </a:rPr>
              <a:t>memory and </a:t>
            </a:r>
            <a:r>
              <a:rPr sz="1800" b="0" dirty="0">
                <a:solidFill>
                  <a:srgbClr val="1F4E79"/>
                </a:solidFill>
                <a:latin typeface="Aptos"/>
              </a:rPr>
              <a:t>long-horizon rollout 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000" dirty="0"/>
              <a:t>Pretraining: Foundation Video Models Are Natively Long-Context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260" b="1" dirty="0">
                <a:solidFill>
                  <a:srgbClr val="141414"/>
                </a:solidFill>
                <a:latin typeface="Aptos"/>
              </a:rPr>
              <a:t>Video/world-model pretraining</a:t>
            </a:r>
            <a:r>
              <a:rPr lang="en-US" sz="1260" b="1" dirty="0">
                <a:solidFill>
                  <a:srgbClr val="141414"/>
                </a:solidFill>
                <a:latin typeface="Aptos"/>
              </a:rPr>
              <a:t>:</a:t>
            </a:r>
            <a:r>
              <a:rPr sz="1260" b="1" dirty="0">
                <a:solidFill>
                  <a:srgbClr val="141414"/>
                </a:solidFill>
                <a:latin typeface="Aptos"/>
              </a:rPr>
              <a:t> long context</a:t>
            </a:r>
            <a:r>
              <a:rPr lang="en-US" sz="1260" b="1" dirty="0">
                <a:solidFill>
                  <a:srgbClr val="141414"/>
                </a:solidFill>
                <a:latin typeface="Aptos"/>
              </a:rPr>
              <a:t> training</a:t>
            </a:r>
            <a:endParaRPr sz="1260" b="1" dirty="0">
              <a:solidFill>
                <a:srgbClr val="141414"/>
              </a:solidFill>
              <a:latin typeface="Aptos"/>
            </a:endParaRPr>
          </a:p>
          <a:p>
            <a:pPr lvl="1">
              <a:spcAft>
                <a:spcPts val="300"/>
              </a:spcAft>
            </a:pPr>
            <a:r>
              <a:rPr sz="1260" dirty="0">
                <a:solidFill>
                  <a:srgbClr val="141414"/>
                </a:solidFill>
                <a:latin typeface="Aptos"/>
              </a:rPr>
              <a:t>1 latent frame ≈ 1.5k tokens ≈ 0.16 s; 1 second video ≈ 10k tokens</a:t>
            </a:r>
          </a:p>
          <a:p>
            <a:pPr lvl="1">
              <a:spcAft>
                <a:spcPts val="300"/>
              </a:spcAft>
            </a:pPr>
            <a:r>
              <a:rPr sz="1260" dirty="0">
                <a:solidFill>
                  <a:srgbClr val="141414"/>
                </a:solidFill>
                <a:latin typeface="Aptos"/>
              </a:rPr>
              <a:t>Reported video-generation training utilization is low: </a:t>
            </a:r>
            <a:r>
              <a:rPr sz="1260" dirty="0" err="1">
                <a:solidFill>
                  <a:srgbClr val="141414"/>
                </a:solidFill>
                <a:latin typeface="Aptos"/>
              </a:rPr>
              <a:t>StepVideo</a:t>
            </a:r>
            <a:r>
              <a:rPr lang="en-US" sz="1260" dirty="0">
                <a:solidFill>
                  <a:srgbClr val="141414"/>
                </a:solidFill>
                <a:latin typeface="Aptos"/>
              </a:rPr>
              <a:t> </a:t>
            </a:r>
            <a:r>
              <a:rPr sz="1260" dirty="0">
                <a:solidFill>
                  <a:srgbClr val="141414"/>
                </a:solidFill>
                <a:latin typeface="Aptos"/>
              </a:rPr>
              <a:t>reports </a:t>
            </a:r>
            <a:r>
              <a:rPr lang="en-US" sz="1260" dirty="0">
                <a:solidFill>
                  <a:srgbClr val="141414"/>
                </a:solidFill>
                <a:latin typeface="Aptos"/>
              </a:rPr>
              <a:t>~</a:t>
            </a:r>
            <a:r>
              <a:rPr sz="1260" dirty="0">
                <a:solidFill>
                  <a:srgbClr val="141414"/>
                </a:solidFill>
                <a:latin typeface="Aptos"/>
              </a:rPr>
              <a:t>35.9% MFU in a 540P pretraining setting</a:t>
            </a:r>
          </a:p>
          <a:p>
            <a:pPr>
              <a:spcAft>
                <a:spcPts val="300"/>
              </a:spcAft>
            </a:pPr>
            <a:r>
              <a:rPr sz="1260" b="1" dirty="0">
                <a:solidFill>
                  <a:srgbClr val="141414"/>
                </a:solidFill>
                <a:latin typeface="Aptos"/>
              </a:rPr>
              <a:t>Memory workaround #1: gradient checkpointing</a:t>
            </a:r>
          </a:p>
          <a:p>
            <a:pPr lvl="1">
              <a:spcAft>
                <a:spcPts val="300"/>
              </a:spcAft>
            </a:pPr>
            <a:r>
              <a:rPr sz="1260" b="0" dirty="0">
                <a:solidFill>
                  <a:srgbClr val="141414"/>
                </a:solidFill>
                <a:latin typeface="Aptos"/>
              </a:rPr>
              <a:t>Saves activation memory, but adds re</a:t>
            </a:r>
            <a:r>
              <a:rPr lang="en-US" sz="1260" b="0" dirty="0">
                <a:solidFill>
                  <a:srgbClr val="141414"/>
                </a:solidFill>
                <a:latin typeface="Aptos"/>
              </a:rPr>
              <a:t>-</a:t>
            </a:r>
            <a:r>
              <a:rPr sz="1260" b="0" dirty="0">
                <a:solidFill>
                  <a:srgbClr val="141414"/>
                </a:solidFill>
                <a:latin typeface="Aptos"/>
              </a:rPr>
              <a:t>computation during backward</a:t>
            </a:r>
            <a:r>
              <a:rPr lang="en-US" sz="1260" b="0" dirty="0">
                <a:solidFill>
                  <a:srgbClr val="141414"/>
                </a:solidFill>
                <a:latin typeface="Aptos"/>
              </a:rPr>
              <a:t>.</a:t>
            </a:r>
            <a:endParaRPr sz="1260" b="0" dirty="0">
              <a:solidFill>
                <a:srgbClr val="141414"/>
              </a:solidFill>
              <a:latin typeface="Aptos"/>
            </a:endParaRPr>
          </a:p>
          <a:p>
            <a:pPr lvl="1">
              <a:spcAft>
                <a:spcPts val="300"/>
              </a:spcAft>
            </a:pPr>
            <a:r>
              <a:rPr lang="en-US" sz="1260" dirty="0">
                <a:solidFill>
                  <a:srgbClr val="141414"/>
                </a:solidFill>
                <a:latin typeface="Aptos"/>
              </a:rPr>
              <a:t>If activations are 60% of peak memory, a 5x activation reduction translates to roughly 1.9x lower total peak memory, </a:t>
            </a:r>
            <a:r>
              <a:rPr lang="en-US" sz="1260" b="0" dirty="0">
                <a:solidFill>
                  <a:srgbClr val="141414"/>
                </a:solidFill>
                <a:latin typeface="Aptos"/>
              </a:rPr>
              <a:t>with </a:t>
            </a:r>
            <a:r>
              <a:rPr sz="1260" b="0" dirty="0">
                <a:solidFill>
                  <a:srgbClr val="141414"/>
                </a:solidFill>
                <a:latin typeface="Aptos"/>
              </a:rPr>
              <a:t>~30% extra compute</a:t>
            </a:r>
            <a:r>
              <a:rPr lang="en-US" sz="1260" b="0" dirty="0">
                <a:solidFill>
                  <a:srgbClr val="141414"/>
                </a:solidFill>
                <a:latin typeface="Aptos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sz="1260" b="1" dirty="0">
                <a:solidFill>
                  <a:srgbClr val="141414"/>
                </a:solidFill>
                <a:latin typeface="Aptos"/>
              </a:rPr>
              <a:t>Memory workaround #2: SP / CP / TP / PP</a:t>
            </a:r>
          </a:p>
          <a:p>
            <a:pPr lvl="1">
              <a:spcAft>
                <a:spcPts val="300"/>
              </a:spcAft>
            </a:pPr>
            <a:r>
              <a:rPr sz="1260" b="0" dirty="0">
                <a:solidFill>
                  <a:srgbClr val="141414"/>
                </a:solidFill>
                <a:latin typeface="Aptos"/>
              </a:rPr>
              <a:t>Makes the sample fit, but adds synchronization points and straggler propagation</a:t>
            </a:r>
            <a:r>
              <a:rPr lang="en-US" sz="1260" b="0" dirty="0">
                <a:solidFill>
                  <a:srgbClr val="141414"/>
                </a:solidFill>
                <a:latin typeface="Aptos"/>
              </a:rPr>
              <a:t>. [OSDI’25]</a:t>
            </a:r>
            <a:endParaRPr sz="1260" b="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sz="1260" b="1" dirty="0">
                <a:solidFill>
                  <a:srgbClr val="141414"/>
                </a:solidFill>
                <a:latin typeface="Aptos"/>
              </a:rPr>
              <a:t>More local memory directly targets both problems: fewer checkpointed activations, less memory-forced parallelism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312" y="4810902"/>
            <a:ext cx="682558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ptos"/>
              </a:rPr>
              <a:t>[OSDI’25] </a:t>
            </a:r>
            <a:r>
              <a:rPr lang="en-US" sz="1200" dirty="0">
                <a:solidFill>
                  <a:schemeClr val="tx1"/>
                </a:solidFill>
              </a:rPr>
              <a:t>Lin, </a:t>
            </a:r>
            <a:r>
              <a:rPr lang="en-US" sz="1200" dirty="0" err="1">
                <a:solidFill>
                  <a:schemeClr val="tx1"/>
                </a:solidFill>
              </a:rPr>
              <a:t>Jinkun</a:t>
            </a:r>
            <a:r>
              <a:rPr lang="en-US" sz="1200" dirty="0">
                <a:solidFill>
                  <a:schemeClr val="tx1"/>
                </a:solidFill>
              </a:rPr>
              <a:t>, et al. "Understanding stragglers in large model training using what-if analysis." </a:t>
            </a:r>
            <a:endParaRPr lang="en-US" sz="1200" dirty="0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Post-Training: </a:t>
            </a:r>
            <a:r>
              <a:rPr lang="en-US" dirty="0"/>
              <a:t>Step-</a:t>
            </a:r>
            <a:r>
              <a:rPr dirty="0"/>
              <a:t>Distillation and RL Both Need Rollout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marL="139700" indent="0">
              <a:spcAft>
                <a:spcPts val="300"/>
              </a:spcAft>
              <a:buNone/>
            </a:pPr>
            <a:r>
              <a:rPr b="1" dirty="0">
                <a:solidFill>
                  <a:srgbClr val="141414"/>
                </a:solidFill>
                <a:latin typeface="Aptos"/>
              </a:rPr>
              <a:t>Why post-training matters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141414"/>
                </a:solidFill>
                <a:latin typeface="Aptos"/>
              </a:rPr>
              <a:t>Step</a:t>
            </a:r>
            <a:r>
              <a:rPr lang="en-US" sz="1200" b="1" dirty="0">
                <a:solidFill>
                  <a:srgbClr val="141414"/>
                </a:solidFill>
                <a:latin typeface="Aptos"/>
              </a:rPr>
              <a:t>-</a:t>
            </a:r>
            <a:r>
              <a:rPr sz="1200" b="1" dirty="0">
                <a:solidFill>
                  <a:srgbClr val="141414"/>
                </a:solidFill>
                <a:latin typeface="Aptos"/>
              </a:rPr>
              <a:t>distillation </a:t>
            </a:r>
            <a:r>
              <a:rPr sz="1200" b="0" dirty="0">
                <a:solidFill>
                  <a:srgbClr val="141414"/>
                </a:solidFill>
                <a:latin typeface="Aptos"/>
              </a:rPr>
              <a:t>is the efficiency path: convert </a:t>
            </a:r>
            <a:r>
              <a:rPr lang="en-US" sz="1200" b="0" dirty="0">
                <a:solidFill>
                  <a:srgbClr val="141414"/>
                </a:solidFill>
                <a:latin typeface="Aptos"/>
              </a:rPr>
              <a:t>multi-step</a:t>
            </a:r>
            <a:r>
              <a:rPr sz="1200" b="0" dirty="0">
                <a:solidFill>
                  <a:srgbClr val="141414"/>
                </a:solidFill>
                <a:latin typeface="Aptos"/>
              </a:rPr>
              <a:t> video diffusion into fewer-step causal generation</a:t>
            </a:r>
            <a:r>
              <a:rPr lang="en-US" sz="1200" b="0" dirty="0">
                <a:solidFill>
                  <a:srgbClr val="141414"/>
                </a:solidFill>
                <a:latin typeface="Aptos"/>
              </a:rPr>
              <a:t> (e.g. 40 steps =&gt; 4 steps)</a:t>
            </a:r>
            <a:endParaRPr sz="1200" b="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141414"/>
                </a:solidFill>
                <a:latin typeface="Aptos"/>
              </a:rPr>
              <a:t>RL</a:t>
            </a:r>
            <a:r>
              <a:rPr sz="1200" b="0" dirty="0">
                <a:solidFill>
                  <a:srgbClr val="141414"/>
                </a:solidFill>
                <a:latin typeface="Aptos"/>
              </a:rPr>
              <a:t> post-training is the alignment path: action following, preference, robot/world-model reward</a:t>
            </a:r>
          </a:p>
          <a:p>
            <a:pPr lvl="1">
              <a:spcAft>
                <a:spcPts val="300"/>
              </a:spcAft>
            </a:pPr>
            <a:r>
              <a:rPr lang="en-US" b="0" dirty="0">
                <a:solidFill>
                  <a:srgbClr val="141414"/>
                </a:solidFill>
                <a:latin typeface="Aptos"/>
              </a:rPr>
              <a:t>Trend</a:t>
            </a:r>
            <a:r>
              <a:rPr b="0" dirty="0">
                <a:solidFill>
                  <a:srgbClr val="141414"/>
                </a:solidFill>
                <a:latin typeface="Aptos"/>
              </a:rPr>
              <a:t>: R</a:t>
            </a:r>
            <a:r>
              <a:rPr lang="en-US" b="0" dirty="0">
                <a:solidFill>
                  <a:srgbClr val="141414"/>
                </a:solidFill>
                <a:latin typeface="Aptos"/>
              </a:rPr>
              <a:t>L is increasingly important for both LLM and Video generation models (e.g. Nvidia Cosmos 2.5 [Arxiv</a:t>
            </a:r>
            <a:r>
              <a:rPr lang="en-US" dirty="0">
                <a:solidFill>
                  <a:srgbClr val="141414"/>
                </a:solidFill>
                <a:latin typeface="Aptos"/>
              </a:rPr>
              <a:t>’</a:t>
            </a:r>
            <a:r>
              <a:rPr lang="en-US" b="0" dirty="0">
                <a:solidFill>
                  <a:srgbClr val="141414"/>
                </a:solidFill>
                <a:latin typeface="Aptos"/>
              </a:rPr>
              <a:t>25])</a:t>
            </a:r>
            <a:endParaRPr b="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endParaRPr lang="en-US" sz="120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41414"/>
                </a:solidFill>
                <a:latin typeface="Aptos"/>
              </a:rPr>
              <a:t>Both step-distillation and RL are dominated by rollout generation</a:t>
            </a:r>
            <a:endParaRPr lang="en-US" sz="1200" b="0" dirty="0">
              <a:solidFill>
                <a:srgbClr val="141414"/>
              </a:solidFill>
              <a:latin typeface="Aptos"/>
            </a:endParaRPr>
          </a:p>
          <a:p>
            <a:pPr lvl="1">
              <a:spcAft>
                <a:spcPts val="300"/>
              </a:spcAft>
            </a:pPr>
            <a:endParaRPr b="0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654446" y="1152474"/>
            <a:ext cx="4177854" cy="3715731"/>
          </a:xfrm>
        </p:spPr>
        <p:txBody>
          <a:bodyPr wrap="square">
            <a:normAutofit fontScale="92500" lnSpcReduction="10000"/>
          </a:bodyPr>
          <a:lstStyle/>
          <a:p>
            <a:pPr marL="139700" indent="0">
              <a:spcAft>
                <a:spcPts val="300"/>
              </a:spcAft>
              <a:buNone/>
            </a:pPr>
            <a:r>
              <a:rPr sz="1500" b="1" dirty="0">
                <a:solidFill>
                  <a:srgbClr val="141414"/>
                </a:solidFill>
                <a:latin typeface="Aptos"/>
              </a:rPr>
              <a:t>Why memory </a:t>
            </a:r>
            <a:r>
              <a:rPr lang="en-US" sz="1500" b="1" dirty="0">
                <a:solidFill>
                  <a:srgbClr val="141414"/>
                </a:solidFill>
                <a:latin typeface="Aptos"/>
              </a:rPr>
              <a:t>matters</a:t>
            </a:r>
            <a:endParaRPr lang="en-US" sz="1220" b="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lang="en-US" sz="1300" b="0" dirty="0">
                <a:solidFill>
                  <a:srgbClr val="141414"/>
                </a:solidFill>
                <a:latin typeface="Aptos"/>
              </a:rPr>
              <a:t>G</a:t>
            </a:r>
            <a:r>
              <a:rPr sz="1300" b="0" dirty="0">
                <a:solidFill>
                  <a:srgbClr val="141414"/>
                </a:solidFill>
                <a:latin typeface="Aptos"/>
              </a:rPr>
              <a:t>enerate</a:t>
            </a:r>
            <a:r>
              <a:rPr lang="en-US" sz="1300" b="0" dirty="0">
                <a:solidFill>
                  <a:srgbClr val="141414"/>
                </a:solidFill>
                <a:latin typeface="Aptos"/>
              </a:rPr>
              <a:t>d</a:t>
            </a:r>
            <a:r>
              <a:rPr sz="1300" b="0" dirty="0">
                <a:solidFill>
                  <a:srgbClr val="141414"/>
                </a:solidFill>
                <a:latin typeface="Aptos"/>
              </a:rPr>
              <a:t> trajectories </a:t>
            </a:r>
            <a:r>
              <a:rPr lang="en-US" sz="1300" b="0" dirty="0">
                <a:solidFill>
                  <a:srgbClr val="141414"/>
                </a:solidFill>
                <a:latin typeface="Aptos"/>
              </a:rPr>
              <a:t>is large:</a:t>
            </a:r>
            <a:endParaRPr sz="1300" b="0" dirty="0">
              <a:solidFill>
                <a:srgbClr val="141414"/>
              </a:solidFill>
              <a:latin typeface="Aptos"/>
            </a:endParaRPr>
          </a:p>
          <a:p>
            <a:pPr lvl="1">
              <a:spcAft>
                <a:spcPts val="300"/>
              </a:spcAft>
            </a:pPr>
            <a:r>
              <a:rPr lang="en-US" sz="1300" b="0" dirty="0">
                <a:solidFill>
                  <a:srgbClr val="141414"/>
                </a:solidFill>
                <a:latin typeface="Aptos"/>
              </a:rPr>
              <a:t>Video rollout is heavier than text rollout: many frames, multi-step denoising, rolling KV</a:t>
            </a:r>
            <a:r>
              <a:rPr lang="en-US" sz="1300" dirty="0">
                <a:solidFill>
                  <a:srgbClr val="141414"/>
                </a:solidFill>
                <a:latin typeface="Aptos"/>
              </a:rPr>
              <a:t> </a:t>
            </a:r>
            <a:r>
              <a:rPr lang="en-US" sz="1300" b="0" dirty="0">
                <a:solidFill>
                  <a:srgbClr val="141414"/>
                </a:solidFill>
                <a:latin typeface="Aptos"/>
              </a:rPr>
              <a:t>cache.</a:t>
            </a:r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141414"/>
                </a:solidFill>
                <a:latin typeface="Aptos"/>
              </a:rPr>
              <a:t>Longer rollout distillation: 9-latent teacher supervising 18-latent (or longer) student rollouts</a:t>
            </a:r>
            <a:endParaRPr lang="en-US" sz="1300" b="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141414"/>
                </a:solidFill>
                <a:latin typeface="Aptos"/>
              </a:rPr>
              <a:t>loads multiple models</a:t>
            </a:r>
            <a:r>
              <a:rPr lang="en-US" sz="1300" b="0" dirty="0">
                <a:solidFill>
                  <a:srgbClr val="141414"/>
                </a:solidFill>
                <a:latin typeface="Aptos"/>
              </a:rPr>
              <a:t>:</a:t>
            </a:r>
          </a:p>
          <a:p>
            <a:pPr lvl="1">
              <a:spcAft>
                <a:spcPts val="300"/>
              </a:spcAft>
            </a:pPr>
            <a:r>
              <a:rPr lang="en-US" sz="1300" b="0" dirty="0">
                <a:solidFill>
                  <a:srgbClr val="141414"/>
                </a:solidFill>
                <a:latin typeface="Aptos"/>
              </a:rPr>
              <a:t>Teacher / Critic / Actor models</a:t>
            </a:r>
            <a:endParaRPr sz="1300" b="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lang="en-US" sz="1300" b="0" dirty="0">
                <a:solidFill>
                  <a:srgbClr val="141414"/>
                </a:solidFill>
                <a:latin typeface="Aptos"/>
              </a:rPr>
              <a:t>Profiling result of Wan 1.3B causal</a:t>
            </a:r>
            <a:r>
              <a:rPr sz="1300" b="0" dirty="0">
                <a:solidFill>
                  <a:srgbClr val="141414"/>
                </a:solidFill>
                <a:latin typeface="Aptos"/>
              </a:rPr>
              <a:t>:</a:t>
            </a:r>
            <a:r>
              <a:rPr lang="en-US" sz="1300" b="0" dirty="0">
                <a:solidFill>
                  <a:srgbClr val="141414"/>
                </a:solidFill>
                <a:latin typeface="Aptos"/>
              </a:rPr>
              <a:t> </a:t>
            </a:r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141414"/>
                </a:solidFill>
                <a:latin typeface="Aptos"/>
              </a:rPr>
              <a:t>At SP=4, 480p, comm is larger than Attention itself.</a:t>
            </a:r>
            <a:endParaRPr sz="1300" b="0" dirty="0">
              <a:solidFill>
                <a:srgbClr val="141414"/>
              </a:solidFill>
              <a:latin typeface="Aptos"/>
            </a:endParaRPr>
          </a:p>
          <a:p>
            <a:pPr marL="139700" indent="0">
              <a:spcAft>
                <a:spcPts val="300"/>
              </a:spcAft>
              <a:buNone/>
            </a:pPr>
            <a:endParaRPr lang="en-US" sz="1300" b="1" dirty="0">
              <a:solidFill>
                <a:srgbClr val="141414"/>
              </a:solidFill>
              <a:latin typeface="Aptos"/>
            </a:endParaRPr>
          </a:p>
          <a:p>
            <a:pPr marL="139700" indent="0">
              <a:spcAft>
                <a:spcPts val="300"/>
              </a:spcAft>
              <a:buNone/>
            </a:pPr>
            <a:r>
              <a:rPr sz="1300" b="1" dirty="0">
                <a:solidFill>
                  <a:srgbClr val="141414"/>
                </a:solidFill>
                <a:latin typeface="Aptos"/>
              </a:rPr>
              <a:t>Glass target: support larger rollout batches / longer horizons with less offload and less sequence sharding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964" y="4868206"/>
            <a:ext cx="6514604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ptos"/>
              </a:rPr>
              <a:t>[Arxiv’25</a:t>
            </a:r>
            <a:r>
              <a:rPr lang="en-US" sz="1200" b="0" dirty="0">
                <a:solidFill>
                  <a:schemeClr val="tx1"/>
                </a:solidFill>
                <a:latin typeface="Aptos"/>
              </a:rPr>
              <a:t>] Ali, Arslan, et al. "World simulation with video foundation models for physical ai.” NVIDIA</a:t>
            </a:r>
          </a:p>
          <a:p>
            <a:endParaRPr lang="en-US" sz="1200" b="0" dirty="0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Inference: Interactive World Models Are Streaming Rollout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400" b="1" dirty="0">
                <a:solidFill>
                  <a:srgbClr val="141414"/>
                </a:solidFill>
                <a:latin typeface="Aptos"/>
              </a:rPr>
              <a:t>Deployment is not offline batch video generation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141414"/>
                </a:solidFill>
                <a:latin typeface="Aptos"/>
              </a:rPr>
              <a:t>World-model agents run a loop: state/action → predicted future → policy/planner → next action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141414"/>
                </a:solidFill>
                <a:latin typeface="Aptos"/>
              </a:rPr>
              <a:t>This makes inference a continuous rollout workload with strict latency and low jitter requirements</a:t>
            </a:r>
          </a:p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141414"/>
                </a:solidFill>
                <a:latin typeface="Aptos"/>
              </a:rPr>
              <a:t>Recent works [MLSys’26]</a:t>
            </a:r>
            <a:r>
              <a:rPr sz="1400" b="1" dirty="0">
                <a:solidFill>
                  <a:srgbClr val="141414"/>
                </a:solidFill>
                <a:latin typeface="Aptos"/>
              </a:rPr>
              <a:t> </a:t>
            </a:r>
            <a:r>
              <a:rPr lang="en-US" sz="1400" b="1" dirty="0">
                <a:solidFill>
                  <a:srgbClr val="141414"/>
                </a:solidFill>
                <a:latin typeface="Aptos"/>
              </a:rPr>
              <a:t>shows this is memory-bound problem</a:t>
            </a:r>
            <a:endParaRPr sz="1400" b="1" dirty="0">
              <a:solidFill>
                <a:srgbClr val="141414"/>
              </a:solidFill>
              <a:latin typeface="Aptos"/>
            </a:endParaRP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141414"/>
                </a:solidFill>
                <a:latin typeface="Aptos"/>
              </a:rPr>
              <a:t>Live video generation needs low time-to-first-frame and per-frame deadlines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141414"/>
                </a:solidFill>
                <a:latin typeface="Aptos"/>
              </a:rPr>
              <a:t>Reported: first frame within 0.5 s; 58.28 FPS with a 14B model on 4×H100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141414"/>
                </a:solidFill>
                <a:latin typeface="Aptos"/>
              </a:rPr>
              <a:t>It identifies poor multi-GPU scaling: sequence parallelism has unpredictable communication overhead</a:t>
            </a:r>
          </a:p>
          <a:p>
            <a:pPr lvl="1">
              <a:spcAft>
                <a:spcPts val="300"/>
              </a:spcAft>
            </a:pPr>
            <a:r>
              <a:rPr b="0" dirty="0">
                <a:solidFill>
                  <a:srgbClr val="141414"/>
                </a:solidFill>
                <a:latin typeface="Aptos"/>
              </a:rPr>
              <a:t>It also states short-frame chunks push real-time workloads into a memory-bound regime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41414"/>
                </a:solidFill>
                <a:latin typeface="Aptos"/>
              </a:rPr>
              <a:t>Takeaway: inference rollout needs memory locality and low-latency </a:t>
            </a:r>
            <a:r>
              <a:rPr lang="en-US" sz="1400" b="1" dirty="0">
                <a:solidFill>
                  <a:srgbClr val="141414"/>
                </a:solidFill>
                <a:latin typeface="Aptos"/>
              </a:rPr>
              <a:t>data access.</a:t>
            </a:r>
            <a:endParaRPr sz="14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033" y="4818397"/>
            <a:ext cx="794448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ptos"/>
              </a:rPr>
              <a:t>[MLSys’26] Feng, Tianrui, et al. "StreamDiffusionV2: A Streaming System for Dynamic and Interactive Video Generation."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Why Glass </a:t>
            </a:r>
            <a:r>
              <a:rPr lang="en-US" dirty="0"/>
              <a:t>Better Supports</a:t>
            </a:r>
            <a:r>
              <a:rPr dirty="0"/>
              <a:t> in This Trend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marL="13970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Aptos"/>
              </a:rPr>
              <a:t>What the trend says:</a:t>
            </a:r>
            <a:endParaRPr sz="1250" b="1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141414"/>
                </a:solidFill>
                <a:latin typeface="Aptos"/>
              </a:rPr>
              <a:t>Pretraining: long video hits activation capacity; checkpointing and </a:t>
            </a:r>
            <a:r>
              <a:rPr lang="en-US" sz="1250" b="0" dirty="0">
                <a:solidFill>
                  <a:srgbClr val="141414"/>
                </a:solidFill>
                <a:latin typeface="Aptos"/>
              </a:rPr>
              <a:t>parallelisms </a:t>
            </a:r>
            <a:r>
              <a:rPr sz="1250" b="0" dirty="0">
                <a:solidFill>
                  <a:srgbClr val="141414"/>
                </a:solidFill>
                <a:latin typeface="Aptos"/>
              </a:rPr>
              <a:t>are memory workarounds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141414"/>
                </a:solidFill>
                <a:latin typeface="Aptos"/>
              </a:rPr>
              <a:t>Post-training: distillation / RL multiply generation cost through repeated rollouts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141414"/>
                </a:solidFill>
                <a:latin typeface="Aptos"/>
              </a:rPr>
              <a:t>Inference:</a:t>
            </a:r>
            <a:r>
              <a:rPr lang="en-US" sz="1250" dirty="0">
                <a:solidFill>
                  <a:srgbClr val="141414"/>
                </a:solidFill>
                <a:latin typeface="Aptos"/>
              </a:rPr>
              <a:t> interactive rollout has strict latency targets</a:t>
            </a:r>
            <a:endParaRPr sz="1250" b="0" dirty="0">
              <a:solidFill>
                <a:srgbClr val="141414"/>
              </a:solidFill>
              <a:latin typeface="Aptos"/>
            </a:endParaRPr>
          </a:p>
          <a:p>
            <a:pPr marL="139700" indent="0">
              <a:spcAft>
                <a:spcPts val="300"/>
              </a:spcAft>
              <a:buNone/>
            </a:pPr>
            <a:endParaRPr lang="en-US" sz="1250" b="1" dirty="0">
              <a:solidFill>
                <a:srgbClr val="141414"/>
              </a:solidFill>
              <a:latin typeface="Aptos"/>
            </a:endParaRPr>
          </a:p>
          <a:p>
            <a:pPr marL="13970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Aptos"/>
              </a:rPr>
              <a:t>Long-horizon world models are limited by local state capacity and non-local communication latency.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771794"/>
          </a:xfrm>
        </p:spPr>
        <p:txBody>
          <a:bodyPr wrap="square">
            <a:normAutofit lnSpcReduction="10000"/>
          </a:bodyPr>
          <a:lstStyle/>
          <a:p>
            <a:pPr marL="13970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Aptos"/>
              </a:rPr>
              <a:t>Solution: dual-panel glass with one </a:t>
            </a:r>
            <a:r>
              <a:rPr lang="en-US" sz="1250" b="1" dirty="0" err="1">
                <a:solidFill>
                  <a:srgbClr val="141414"/>
                </a:solidFill>
                <a:latin typeface="Aptos"/>
              </a:rPr>
              <a:t>compute+memory</a:t>
            </a:r>
            <a:r>
              <a:rPr lang="en-US" sz="1250" b="1" dirty="0">
                <a:solidFill>
                  <a:srgbClr val="141414"/>
                </a:solidFill>
                <a:latin typeface="Aptos"/>
              </a:rPr>
              <a:t> layer and one memory-only layer.</a:t>
            </a:r>
          </a:p>
          <a:p>
            <a:pPr marL="139700" indent="0">
              <a:spcAft>
                <a:spcPts val="300"/>
              </a:spcAft>
              <a:buNone/>
            </a:pPr>
            <a:endParaRPr lang="en-US" sz="1250" b="0" dirty="0">
              <a:solidFill>
                <a:srgbClr val="141414"/>
              </a:solidFill>
              <a:latin typeface="Aptos"/>
            </a:endParaRPr>
          </a:p>
          <a:p>
            <a:pPr marL="139700" indent="0">
              <a:spcAft>
                <a:spcPts val="300"/>
              </a:spcAft>
              <a:buNone/>
            </a:pPr>
            <a:r>
              <a:rPr lang="en-US" sz="1250" b="0" dirty="0">
                <a:solidFill>
                  <a:srgbClr val="141414"/>
                </a:solidFill>
                <a:latin typeface="Aptos"/>
              </a:rPr>
              <a:t>Benefits:</a:t>
            </a:r>
          </a:p>
          <a:p>
            <a:pPr>
              <a:spcAft>
                <a:spcPts val="300"/>
              </a:spcAft>
            </a:pPr>
            <a:r>
              <a:rPr lang="en-US" sz="1250" b="0" dirty="0">
                <a:solidFill>
                  <a:srgbClr val="141414"/>
                </a:solidFill>
                <a:latin typeface="Aptos"/>
              </a:rPr>
              <a:t>Larger local memory domain for activations, cache state, and rollout batches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141414"/>
                </a:solidFill>
                <a:latin typeface="Aptos"/>
              </a:rPr>
              <a:t>Reduces gradient checkpointing pressure during pretraining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141414"/>
                </a:solidFill>
                <a:latin typeface="Aptos"/>
              </a:rPr>
              <a:t>Reduces memory-forced SP/CP and its synchronization exposure</a:t>
            </a:r>
          </a:p>
          <a:p>
            <a:pPr>
              <a:spcAft>
                <a:spcPts val="300"/>
              </a:spcAft>
            </a:pPr>
            <a:r>
              <a:rPr sz="1250" b="0" dirty="0">
                <a:solidFill>
                  <a:srgbClr val="141414"/>
                </a:solidFill>
                <a:latin typeface="Aptos"/>
              </a:rPr>
              <a:t>Supports longer rollout horizons for post-training and inference</a:t>
            </a:r>
          </a:p>
          <a:p>
            <a:pPr marL="139700" indent="0">
              <a:spcAft>
                <a:spcPts val="300"/>
              </a:spcAft>
              <a:buNone/>
            </a:pPr>
            <a:endParaRPr lang="en-US" sz="1250" b="1" dirty="0">
              <a:solidFill>
                <a:srgbClr val="141414"/>
              </a:solidFill>
              <a:latin typeface="Aptos"/>
            </a:endParaRPr>
          </a:p>
          <a:p>
            <a:pPr marL="139700" indent="0">
              <a:spcAft>
                <a:spcPts val="300"/>
              </a:spcAft>
              <a:buNone/>
            </a:pPr>
            <a:r>
              <a:rPr sz="1250" b="1" dirty="0">
                <a:solidFill>
                  <a:srgbClr val="141414"/>
                </a:solidFill>
                <a:latin typeface="Aptos"/>
              </a:rPr>
              <a:t>Core proposal: glass substrate is a memory-capacity platform for world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657</Words>
  <Application>Microsoft Macintosh PowerPoint</Application>
  <PresentationFormat>On-screen Show (16:9)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Simple Light</vt:lpstr>
      <vt:lpstr>Memory Problem in World Models</vt:lpstr>
      <vt:lpstr>Pretraining: Foundation Video Models Are Natively Long-Context Training</vt:lpstr>
      <vt:lpstr>Post-Training: Step-Distillation and RL Both Need Rollout</vt:lpstr>
      <vt:lpstr>Inference: Interactive World Models Are Streaming Rollout</vt:lpstr>
      <vt:lpstr>Why Glass Better Supports in This Trend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Huo, Mingjia</cp:lastModifiedBy>
  <cp:revision>5</cp:revision>
  <dcterms:modified xsi:type="dcterms:W3CDTF">2026-05-19T20:04:41Z</dcterms:modified>
</cp:coreProperties>
</file>