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700" r:id="rId2"/>
    <p:sldMasterId id="2147483701" r:id="rId3"/>
  </p:sldMasterIdLst>
  <p:notesMasterIdLst>
    <p:notesMasterId r:id="rId43"/>
  </p:notesMasterIdLst>
  <p:sldIdLst>
    <p:sldId id="266" r:id="rId4"/>
    <p:sldId id="267" r:id="rId5"/>
    <p:sldId id="270" r:id="rId6"/>
    <p:sldId id="271" r:id="rId7"/>
    <p:sldId id="294" r:id="rId8"/>
    <p:sldId id="295" r:id="rId9"/>
    <p:sldId id="296" r:id="rId10"/>
    <p:sldId id="302" r:id="rId11"/>
    <p:sldId id="303" r:id="rId12"/>
    <p:sldId id="304" r:id="rId13"/>
    <p:sldId id="322" r:id="rId14"/>
    <p:sldId id="337" r:id="rId15"/>
    <p:sldId id="338" r:id="rId16"/>
    <p:sldId id="356" r:id="rId17"/>
    <p:sldId id="357" r:id="rId18"/>
    <p:sldId id="378" r:id="rId19"/>
    <p:sldId id="385" r:id="rId20"/>
    <p:sldId id="390" r:id="rId21"/>
    <p:sldId id="391" r:id="rId22"/>
    <p:sldId id="392" r:id="rId23"/>
    <p:sldId id="393" r:id="rId24"/>
    <p:sldId id="394" r:id="rId25"/>
    <p:sldId id="407" r:id="rId26"/>
    <p:sldId id="410" r:id="rId27"/>
    <p:sldId id="423" r:id="rId28"/>
    <p:sldId id="424" r:id="rId29"/>
    <p:sldId id="425" r:id="rId30"/>
    <p:sldId id="441" r:id="rId31"/>
    <p:sldId id="442" r:id="rId32"/>
    <p:sldId id="443" r:id="rId33"/>
    <p:sldId id="444" r:id="rId34"/>
    <p:sldId id="445" r:id="rId35"/>
    <p:sldId id="446" r:id="rId36"/>
    <p:sldId id="460" r:id="rId37"/>
    <p:sldId id="472" r:id="rId38"/>
    <p:sldId id="473" r:id="rId39"/>
    <p:sldId id="474" r:id="rId40"/>
    <p:sldId id="482" r:id="rId41"/>
    <p:sldId id="488" r:id="rId42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44"/>
      <p:bold r:id="rId45"/>
      <p:italic r:id="rId46"/>
      <p:boldItalic r:id="rId47"/>
    </p:embeddedFont>
    <p:embeddedFont>
      <p:font typeface="Georgia" panose="02040502050405020303" pitchFamily="18" charset="0"/>
      <p:regular r:id="rId48"/>
      <p:bold r:id="rId49"/>
      <p:italic r:id="rId50"/>
      <p:boldItalic r:id="rId51"/>
    </p:embeddedFont>
    <p:embeddedFont>
      <p:font typeface="Helvetica Neue" panose="02000503000000020004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ajana Rosi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1E77A9-4693-45ED-8B23-5F7D3A65F9DF}">
  <a:tblStyle styleId="{401E77A9-4693-45ED-8B23-5F7D3A65F9D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C3470BA-3029-47EF-A9C7-4DA0345A9B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05B52FB-06AB-4CA2-8B66-F622C49649C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88"/>
  </p:normalViewPr>
  <p:slideViewPr>
    <p:cSldViewPr snapToGrid="0">
      <p:cViewPr varScale="1">
        <p:scale>
          <a:sx n="155" d="100"/>
          <a:sy n="155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3.fntdata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6.fntdata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NuttyCLD/status/2023302857496387875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x.com/PhotonCap/status/2023220154822447405" TargetMode="External"/><Relationship Id="rId4" Type="http://schemas.openxmlformats.org/officeDocument/2006/relationships/hyperlink" Target="https://x.com/NuttyCLD/status/2020665357082788337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NuttyCLD/status/2023302857496387875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x.com/PhotonCap/status/2023220154822447405" TargetMode="External"/><Relationship Id="rId4" Type="http://schemas.openxmlformats.org/officeDocument/2006/relationships/hyperlink" Target="https://x.com/NuttyCLD/status/2020665357082788337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NuttyCLD/status/2023302857496387875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x.com/PhotonCap/status/2023220154822447405" TargetMode="External"/><Relationship Id="rId4" Type="http://schemas.openxmlformats.org/officeDocument/2006/relationships/hyperlink" Target="https://x.com/NuttyCLD/status/2020665357082788337" TargetMode="Externa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NuttyCLD/status/2023302857496387875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x.com/PhotonCap/status/2023220154822447405" TargetMode="External"/><Relationship Id="rId4" Type="http://schemas.openxmlformats.org/officeDocument/2006/relationships/hyperlink" Target="https://x.com/NuttyCLD/status/2020665357082788337" TargetMode="Externa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NuttyCLD/status/2023302857496387875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x.com/PhotonCap/status/2023220154822447405" TargetMode="External"/><Relationship Id="rId4" Type="http://schemas.openxmlformats.org/officeDocument/2006/relationships/hyperlink" Target="https://x.com/NuttyCLD/status/2020665357082788337" TargetMode="Externa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14398fef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e14398fef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14fe24802_9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e14fe24802_9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14fe24802_1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14fe24802_1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Looking ahead -5 - 10 years, need motivation/big picture (may not need solution)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World models/video/audio (robotics also fine) would be more interesting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Focus on training more than inference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Organize and shape the ideas   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14fe24802_1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14fe24802_1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d7a825157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dd7a825157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d7a825157_17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dd7a825157_17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d7a825157_17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d7a825157_17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68ffee2ea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Industry Landscape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Georgia Tech PRC: dual-sided glass demo (low power)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Intel: $1B+ glass substrate R&amp;D, production ~2027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Samsung: triple-subsidiary glass effort, pilot 2026-27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Absolics (SKC): GA factory built, CHIPS Act funded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ECTC'25: "Glass Core vs RDL Interposer" special session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gap to fill: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◦ Thermal feasibility at GPU-class TDP (&gt;300W)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◦ Architecture study for MoE LLM workloads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◦ Photonic mesh + dual-sided co-design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e68ffee2ea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68ffee2ea_1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g3e68ffee2ea_1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68ffee2ea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e68ffee2ea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models that have little communication / only periodic communication between robot and data center.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Dinesh Bharadia / Xiaolong Wang / Nikolay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https://arxiv.org/pdf/2602.13476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d8620ce32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Industry Landscape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Georgia Tech PRC: dual-sided glass demo (low power)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Intel: $1B+ glass substrate R&amp;D, production ~2027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Samsung: triple-subsidiary glass effort, pilot 2026-27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Absolics (SKC): GA factory built, CHIPS Act funded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ECTC'25: "Glass Core vs RDL Interposer" special session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gap to fill: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◦ Thermal feasibility at GPU-class TDP (&gt;300W)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◦ Architecture study for MoE LLM workloads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◦ Photonic mesh + dual-sided co-design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g3d8620ce3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de9708aa38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g3de9708aa38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de9708aa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de9708aa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86e52e3e6f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g386e52e3e6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86e52e3e6f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86e52e3e6f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dcef022c9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g3dcef022c9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164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d089a3e8d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3d089a3e8d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intro-glass-2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intro-glass-3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ce9c8e81c6_17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ce9c8e81c6_17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3ce9c8e81c6_17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3ce9c8e81c6_17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ce9c8e81c6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3ce9c8e81c6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intro-glass-2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intro-glass-3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ce9c8e81c6_7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ce9c8e81c6_7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to project: what is possible today, what is limited by today, at what cost to control each switch, what do we anticipate in 5-10 years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can be localtize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ce9c8e81c6_7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3ce9c8e81c6_7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3c4d0ead75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3c4d0ead75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3ce9c8e81c6_7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3ce9c8e81c6_7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intro-glass-2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intro-glass-3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c085ccd27a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c085ccd27a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break down the MFU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Inference: a longer video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c085ccd27a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c085ccd27a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intro-glass-2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intro-glass-3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3c085ccd27a_1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3c085ccd27a_1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think about when “compute imbalance” is actually a good strategy. – so that we can balance that with the network time…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Optical simulator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3c8a8c1c1b4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3c8a8c1c1b4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c8a8c1c1b4_1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c8a8c1c1b4_1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3c8916cd8e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3c8916cd8e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Refs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intro-glass-2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intro-glass-3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3c8916cd8ef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3c8916cd8ef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c8916cd8ef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c8916cd8ef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3c8916cd8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Google Shape;1767;g3c8916cd8ef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3bdb0f15f2d_7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3bdb0f15f2d_7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3bdb0f15f2d_2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3bdb0f15f2d_2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bdb0f15f2d_2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3bdb0f15f2d_2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bdb0f15f2d_2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3bdb0f15f2d_2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c3234c29a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c3234c29a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D3D2CF"/>
              </a:solidFill>
              <a:highlight>
                <a:srgbClr val="313334"/>
              </a:highlight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3c33815eb31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3c33815eb31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7315200" y="800100"/>
            <a:ext cx="0" cy="337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15"/>
          <p:cNvCxnSpPr/>
          <p:nvPr/>
        </p:nvCxnSpPr>
        <p:spPr>
          <a:xfrm>
            <a:off x="304800" y="2542172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370241" y="2785429"/>
            <a:ext cx="69342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680"/>
              <a:buFont typeface="Noto Sans Symbols"/>
              <a:buNone/>
              <a:defRPr sz="2400" b="0" i="0" u="none" strike="noStrike" cap="none">
                <a:solidFill>
                  <a:srgbClr val="36609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168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▪"/>
              <a:defRPr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381000" y="1152149"/>
            <a:ext cx="6934200" cy="1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4200"/>
              <a:buFont typeface="Corbel"/>
              <a:buNone/>
              <a:defRPr sz="4200" b="1" i="0" u="none" strike="noStrike" cap="none">
                <a:solidFill>
                  <a:srgbClr val="545454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457200" y="4767263"/>
            <a:ext cx="82296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5" name="Google Shape;65;p15" descr="see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39000" y="2656472"/>
            <a:ext cx="1294726" cy="1143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" name="Google Shape;66;p15"/>
          <p:cNvGraphicFramePr/>
          <p:nvPr/>
        </p:nvGraphicFramePr>
        <p:xfrm>
          <a:off x="977900" y="4036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{401E77A9-4693-45ED-8B23-5F7D3A65F9DF}</a:tableStyleId>
              </a:tblPr>
              <a:tblGrid>
                <a:gridCol w="122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800" u="none" strike="noStrike" cap="none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65D"/>
                        </a:buClr>
                        <a:buSzPts val="400"/>
                        <a:buFont typeface="Corbel"/>
                        <a:buNone/>
                      </a:pPr>
                      <a:r>
                        <a:rPr lang="en" sz="1500" u="none" strike="noStrike" cap="none">
                          <a:solidFill>
                            <a:srgbClr val="17365D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System Energy Efficiency Lab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3B9343"/>
                        </a:buClr>
                        <a:buSzPts val="300"/>
                        <a:buFont typeface="Corbel"/>
                        <a:buNone/>
                      </a:pPr>
                      <a:r>
                        <a:rPr lang="en" sz="1400" u="none" strike="noStrike" cap="none">
                          <a:solidFill>
                            <a:srgbClr val="3B9343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seelab.ucsd.edu</a:t>
                      </a:r>
                      <a:endParaRPr sz="1100" u="none" strike="noStrike" cap="none"/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endParaRPr sz="800" u="none" strike="noStrike" cap="none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6"/>
          <p:cNvCxnSpPr/>
          <p:nvPr/>
        </p:nvCxnSpPr>
        <p:spPr>
          <a:xfrm>
            <a:off x="457200" y="1028700"/>
            <a:ext cx="762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7543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orbel"/>
              <a:buNone/>
              <a:defRPr sz="3500" b="1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417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Char char="▪"/>
              <a:defRPr sz="2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168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2639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▪"/>
              <a:defRPr sz="2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457200" y="4767263"/>
            <a:ext cx="82296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686800" y="4812506"/>
            <a:ext cx="381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2" name="Google Shape;142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3" name="Google Shape;1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5" name="Google Shape;15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0" name="Google Shape;170;p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74" name="Google Shape;17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7" name="Google Shape;177;p4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>
            <a:spLocks noGrp="1"/>
          </p:cNvSpPr>
          <p:nvPr>
            <p:ph type="title"/>
          </p:nvPr>
        </p:nvSpPr>
        <p:spPr>
          <a:xfrm>
            <a:off x="260604" y="260604"/>
            <a:ext cx="8572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2"/>
          <p:cNvSpPr txBox="1">
            <a:spLocks noGrp="1"/>
          </p:cNvSpPr>
          <p:nvPr>
            <p:ph type="body" idx="1"/>
          </p:nvPr>
        </p:nvSpPr>
        <p:spPr>
          <a:xfrm>
            <a:off x="260604" y="946404"/>
            <a:ext cx="85725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2"/>
          <p:cNvSpPr txBox="1">
            <a:spLocks noGrp="1"/>
          </p:cNvSpPr>
          <p:nvPr>
            <p:ph type="sldNum" idx="12"/>
          </p:nvPr>
        </p:nvSpPr>
        <p:spPr>
          <a:xfrm>
            <a:off x="8490204" y="4766310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42"/>
          <p:cNvSpPr txBox="1">
            <a:spLocks noGrp="1"/>
          </p:cNvSpPr>
          <p:nvPr>
            <p:ph type="ftr" idx="11"/>
          </p:nvPr>
        </p:nvSpPr>
        <p:spPr>
          <a:xfrm>
            <a:off x="5747004" y="4766310"/>
            <a:ext cx="274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4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4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4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5"/>
          <p:cNvSpPr txBox="1">
            <a:spLocks noGrp="1"/>
          </p:cNvSpPr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5"/>
          <p:cNvSpPr txBox="1">
            <a:spLocks noGrp="1"/>
          </p:cNvSpPr>
          <p:nvPr>
            <p:ph type="subTitle" idx="1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45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5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5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6"/>
          <p:cNvSpPr txBox="1">
            <a:spLocks noGrp="1"/>
          </p:cNvSpPr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6"/>
          <p:cNvSpPr txBox="1">
            <a:spLocks noGrp="1"/>
          </p:cNvSpPr>
          <p:nvPr>
            <p:ph type="body" idx="1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46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6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46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7"/>
          <p:cNvSpPr txBox="1">
            <a:spLocks noGrp="1"/>
          </p:cNvSpPr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7"/>
          <p:cNvSpPr txBox="1">
            <a:spLocks noGrp="1"/>
          </p:cNvSpPr>
          <p:nvPr>
            <p:ph type="body" idx="1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47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7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7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8"/>
          <p:cNvSpPr txBox="1">
            <a:spLocks noGrp="1"/>
          </p:cNvSpPr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48"/>
          <p:cNvSpPr txBox="1">
            <a:spLocks noGrp="1"/>
          </p:cNvSpPr>
          <p:nvPr>
            <p:ph type="body" idx="1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17" name="Google Shape;217;p48"/>
          <p:cNvSpPr txBox="1">
            <a:spLocks noGrp="1"/>
          </p:cNvSpPr>
          <p:nvPr>
            <p:ph type="body" idx="2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18" name="Google Shape;218;p48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8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8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9"/>
          <p:cNvSpPr txBox="1">
            <a:spLocks noGrp="1"/>
          </p:cNvSpPr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9"/>
          <p:cNvSpPr txBox="1">
            <a:spLocks noGrp="1"/>
          </p:cNvSpPr>
          <p:nvPr>
            <p:ph type="body" idx="1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24" name="Google Shape;224;p49"/>
          <p:cNvSpPr txBox="1">
            <a:spLocks noGrp="1"/>
          </p:cNvSpPr>
          <p:nvPr>
            <p:ph type="body" idx="2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body" idx="3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26" name="Google Shape;226;p49"/>
          <p:cNvSpPr txBox="1">
            <a:spLocks noGrp="1"/>
          </p:cNvSpPr>
          <p:nvPr>
            <p:ph type="body" idx="4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27" name="Google Shape;227;p49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9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9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>
            <a:spLocks noGrp="1"/>
          </p:cNvSpPr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0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0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0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1"/>
          <p:cNvSpPr txBox="1">
            <a:spLocks noGrp="1"/>
          </p:cNvSpPr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1"/>
          <p:cNvSpPr txBox="1">
            <a:spLocks noGrp="1"/>
          </p:cNvSpPr>
          <p:nvPr>
            <p:ph type="body" idx="1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38" name="Google Shape;238;p51"/>
          <p:cNvSpPr txBox="1">
            <a:spLocks noGrp="1"/>
          </p:cNvSpPr>
          <p:nvPr>
            <p:ph type="body" idx="2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239" name="Google Shape;239;p51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1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51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2"/>
          <p:cNvSpPr txBox="1">
            <a:spLocks noGrp="1"/>
          </p:cNvSpPr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52"/>
          <p:cNvSpPr>
            <a:spLocks noGrp="1"/>
          </p:cNvSpPr>
          <p:nvPr>
            <p:ph type="pic" idx="2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52"/>
          <p:cNvSpPr txBox="1">
            <a:spLocks noGrp="1"/>
          </p:cNvSpPr>
          <p:nvPr>
            <p:ph type="body" idx="1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246" name="Google Shape;246;p52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52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52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3"/>
          <p:cNvSpPr txBox="1">
            <a:spLocks noGrp="1"/>
          </p:cNvSpPr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3"/>
          <p:cNvSpPr txBox="1">
            <a:spLocks noGrp="1"/>
          </p:cNvSpPr>
          <p:nvPr>
            <p:ph type="body" idx="1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53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53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53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4"/>
          <p:cNvSpPr txBox="1">
            <a:spLocks noGrp="1"/>
          </p:cNvSpPr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54"/>
          <p:cNvSpPr txBox="1">
            <a:spLocks noGrp="1"/>
          </p:cNvSpPr>
          <p:nvPr>
            <p:ph type="body" idx="1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54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4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54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3"/>
          <p:cNvSpPr txBox="1">
            <a:spLocks noGrp="1"/>
          </p:cNvSpPr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88" name="Google Shape;188;p43"/>
          <p:cNvSpPr txBox="1">
            <a:spLocks noGrp="1"/>
          </p:cNvSpPr>
          <p:nvPr>
            <p:ph type="body" idx="1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dt" idx="10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0" name="Google Shape;190;p43"/>
          <p:cNvSpPr txBox="1">
            <a:spLocks noGrp="1"/>
          </p:cNvSpPr>
          <p:nvPr>
            <p:ph type="ftr" idx="11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1" name="Google Shape;191;p43"/>
          <p:cNvSpPr txBox="1">
            <a:spLocks noGrp="1"/>
          </p:cNvSpPr>
          <p:nvPr>
            <p:ph type="sldNum" idx="12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en-us/autonomous-machines/embedded-systems/jetson-tho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html/2603.17808v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rhoda.ai/research/direct-video-ac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2.15840v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.png"/><Relationship Id="rId4" Type="http://schemas.openxmlformats.org/officeDocument/2006/relationships/slide" Target="slide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2.2428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ilos.ai/research/foundation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rive.google.com/file/d/1xVkwXhgYDL8bHzplJM_4ZNkJO5ejD5dL/view?usp=sharing" TargetMode="Externa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YSYNL-7gBk2R-WEIpC4v1LP8ng6qHdemZOh3BfC3O_8/edit?usp=shar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l.acm.org/doi/10.1145/3718958.375046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748273.3749210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718958.3750465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718958.3750465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9.13848v1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arxiv.org/abs/2407.04153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deepseek-ai/Engram" TargetMode="External"/><Relationship Id="rId5" Type="http://schemas.openxmlformats.org/officeDocument/2006/relationships/hyperlink" Target="https://research.google/blog/titans-miras-helping-ai-have-long-term-memory/" TargetMode="External"/><Relationship Id="rId10" Type="http://schemas.openxmlformats.org/officeDocument/2006/relationships/image" Target="../media/image33.png"/><Relationship Id="rId4" Type="http://schemas.openxmlformats.org/officeDocument/2006/relationships/hyperlink" Target="https://ai.meta.com/research/publications/memory-layers-at-scale/" TargetMode="External"/><Relationship Id="rId9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5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340" name="Google Shape;340;p65"/>
          <p:cNvSpPr txBox="1"/>
          <p:nvPr/>
        </p:nvSpPr>
        <p:spPr>
          <a:xfrm>
            <a:off x="1186478" y="220224"/>
            <a:ext cx="31734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Substrate: ICCAD -&gt; HPCA / ICCD? 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3">
                <a:solidFill>
                  <a:srgbClr val="C00000"/>
                </a:solidFill>
              </a:rPr>
              <a:t>(Sick🫠)</a:t>
            </a:r>
            <a:endParaRPr sz="1100"/>
          </a:p>
        </p:txBody>
      </p:sp>
      <p:sp>
        <p:nvSpPr>
          <p:cNvPr id="341" name="Google Shape;341;p65"/>
          <p:cNvSpPr txBox="1"/>
          <p:nvPr/>
        </p:nvSpPr>
        <p:spPr>
          <a:xfrm>
            <a:off x="192029" y="763524"/>
            <a:ext cx="4938000" cy="1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hermal isolation to system-level throughput impact</a:t>
            </a:r>
            <a:endParaRPr sz="110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Extended Thermal Analysis (2D FEA + Sensitivity)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2D steady-state solver confirms glass blocks GPU heat from reaching HBM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Even 10% copper TGV fill does NOT create thermal shorting (good for us)</a:t>
            </a:r>
            <a:endParaRPr sz="11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Sensitivity sweep {500–1500W} × {0.3–2.0 °C/W} shows glass HBM ≤ 77°C worst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342" name="Google Shape;342;p65" descr="hbm_temp_vs_pow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1726" y="182874"/>
            <a:ext cx="3933823" cy="2360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8276" y="2598625"/>
            <a:ext cx="6458301" cy="24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6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349" name="Google Shape;349;p66"/>
          <p:cNvSpPr txBox="1"/>
          <p:nvPr/>
        </p:nvSpPr>
        <p:spPr>
          <a:xfrm>
            <a:off x="1186478" y="220224"/>
            <a:ext cx="31734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Substrate: ICCAD -&gt; HPCA / ICCD? 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3">
                <a:solidFill>
                  <a:srgbClr val="C00000"/>
                </a:solidFill>
              </a:rPr>
              <a:t>(Sick🫠)</a:t>
            </a:r>
            <a:endParaRPr sz="1100"/>
          </a:p>
        </p:txBody>
      </p:sp>
      <p:sp>
        <p:nvSpPr>
          <p:cNvPr id="350" name="Google Shape;350;p66"/>
          <p:cNvSpPr txBox="1"/>
          <p:nvPr/>
        </p:nvSpPr>
        <p:spPr>
          <a:xfrm>
            <a:off x="192025" y="1049175"/>
            <a:ext cx="4623900" cy="14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Deepseek-v3 256-expert as DeepSeek-V4-Pro 1.6T analog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Forced parallelism: --force-ep 64 (training-style TP1 × EP64)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Panel proxies via num_gpus_per_node: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NVL72 =  1×72,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single   =  1×64,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double=  1×128,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3-panel= 1×192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6"/>
          <p:cNvSpPr txBox="1"/>
          <p:nvPr/>
        </p:nvSpPr>
        <p:spPr>
          <a:xfrm>
            <a:off x="192029" y="694944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Three-Panel Sandwich — Measured Speedup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6"/>
          <p:cNvSpPr txBox="1"/>
          <p:nvPr/>
        </p:nvSpPr>
        <p:spPr>
          <a:xfrm>
            <a:off x="4961948" y="4417525"/>
            <a:ext cx="2573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Steps (In Progress)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6"/>
          <p:cNvSpPr txBox="1"/>
          <p:nvPr/>
        </p:nvSpPr>
        <p:spPr>
          <a:xfrm>
            <a:off x="4829600" y="4671275"/>
            <a:ext cx="36183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Extend throughput sim: 384GB/slot × Kimi-K2/DSV3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6"/>
          <p:cNvSpPr txBox="1"/>
          <p:nvPr/>
        </p:nvSpPr>
        <p:spPr>
          <a:xfrm>
            <a:off x="187075" y="2667000"/>
            <a:ext cx="41010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Training (cluster aggregate, fixed-EP MoE):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single 1.04×  •  double 2.09×  •  3-panel 4.17×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Inference (per cluster):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single 1.01×  •  double 1.36×  •  3-panel 1.35×</a:t>
            </a:r>
            <a:endParaRPr/>
          </a:p>
        </p:txBody>
      </p:sp>
      <p:sp>
        <p:nvSpPr>
          <p:cNvPr id="355" name="Google Shape;355;p66"/>
          <p:cNvSpPr txBox="1"/>
          <p:nvPr/>
        </p:nvSpPr>
        <p:spPr>
          <a:xfrm>
            <a:off x="192026" y="2599950"/>
            <a:ext cx="3730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Ours vs NVL72 Baseline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6"/>
          <p:cNvSpPr txBox="1"/>
          <p:nvPr/>
        </p:nvSpPr>
        <p:spPr>
          <a:xfrm>
            <a:off x="187075" y="3950350"/>
            <a:ext cx="4623900" cy="1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</a:rPr>
              <a:t>Decode caveat</a:t>
            </a:r>
            <a:endParaRPr sz="12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*1.35× is pessimistic by simulator construction, not physics.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Single/double don't win enough vs NVL72; the third panel makes the training delta decisive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144" y="150187"/>
            <a:ext cx="4797455" cy="189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075" y="2209800"/>
            <a:ext cx="4703524" cy="219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386" name="Google Shape;386;p6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649000" cy="38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via long-video gen (Neurips submission)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908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Robust Action-Conditioned World Modeling for Third-Person Games (Neurips submission)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Previous works mostly focus on first-person; Third person bring unique challenges: diverse character - env interaction.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We trained on 5 third-person games, and explore techniques to enable robust action following in long video gen.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Plans: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More comprehensive experiments / ablation to support our claim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Need to refine the story and writing (I’ll share the overleaf after I finalize the story.)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Plan: Arxiv + codebase + data pipeline release mid June.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on the Edge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908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Fixed robotics: One model can do the job (Leapfrog Inference: overlap inference with action)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Movable robotics: Decouple large and small models (AsyncVLA, etc.)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u="sng">
                <a:solidFill>
                  <a:schemeClr val="hlink"/>
                </a:solidFill>
                <a:highlight>
                  <a:srgbClr val="FFFDFA"/>
                </a:highlight>
                <a:hlinkClick r:id="rId3"/>
              </a:rPr>
              <a:t>https://www.nvidia.com/en-us/autonomous-machines/embedded-systems/jetson-thor/</a:t>
            </a: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  FP4: 2k TFLOPS (vs B300, 15k)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with RL training: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908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Many commercial video gen models have a RL stage (Nvidia Cosmos)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A research that did RL on video models for robotics: </a:t>
            </a:r>
            <a:r>
              <a:rPr lang="en" sz="1200" u="sng">
                <a:solidFill>
                  <a:schemeClr val="hlink"/>
                </a:solidFill>
                <a:highlight>
                  <a:srgbClr val="FFFDFA"/>
                </a:highlight>
                <a:hlinkClick r:id="rId4"/>
              </a:rPr>
              <a:t>Aligning Video World Models with Executable Robot Actions via Inverse Dynamics Rewards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70" title="Screenshot 2026-05-12 at 4.38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928" y="80725"/>
            <a:ext cx="498124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70"/>
          <p:cNvSpPr txBox="1"/>
          <p:nvPr/>
        </p:nvSpPr>
        <p:spPr>
          <a:xfrm>
            <a:off x="0" y="0"/>
            <a:ext cx="68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accent5"/>
                </a:solidFill>
                <a:highlight>
                  <a:srgbClr val="FFFDFA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https://www.rhoda.ai/research/direct-video-action</a:t>
            </a: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3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561" name="Google Shape;561;p93"/>
          <p:cNvSpPr txBox="1"/>
          <p:nvPr/>
        </p:nvSpPr>
        <p:spPr>
          <a:xfrm>
            <a:off x="1186478" y="220224"/>
            <a:ext cx="3173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Substrate: ICCAD -&gt; HPCA / ICCD? </a:t>
            </a:r>
            <a:r>
              <a:rPr lang="en" sz="1133">
                <a:solidFill>
                  <a:srgbClr val="C00000"/>
                </a:solidFill>
              </a:rPr>
              <a:t>(online)</a:t>
            </a:r>
            <a:endParaRPr sz="1100"/>
          </a:p>
        </p:txBody>
      </p:sp>
      <p:sp>
        <p:nvSpPr>
          <p:cNvPr id="562" name="Google Shape;562;p93"/>
          <p:cNvSpPr txBox="1"/>
          <p:nvPr/>
        </p:nvSpPr>
        <p:spPr>
          <a:xfrm>
            <a:off x="192025" y="1049175"/>
            <a:ext cx="4623900" cy="14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Deepseek-v3 256-expert as DeepSeek-V4-Pro 1.6T analog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Forced parallelism: --force-ep 64 (training-style TP1 × EP64)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Panel proxies via num_gpus_per_node: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NVL72 =  1×72,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single   =  1×64,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double=  1×128,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3-panel= 1×192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3"/>
          <p:cNvSpPr txBox="1"/>
          <p:nvPr/>
        </p:nvSpPr>
        <p:spPr>
          <a:xfrm>
            <a:off x="192029" y="694944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Three-Panel Sandwich — Measured Speedup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3"/>
          <p:cNvSpPr txBox="1"/>
          <p:nvPr/>
        </p:nvSpPr>
        <p:spPr>
          <a:xfrm>
            <a:off x="4961948" y="4188925"/>
            <a:ext cx="2573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Steps (In Progress)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3"/>
          <p:cNvSpPr txBox="1"/>
          <p:nvPr/>
        </p:nvSpPr>
        <p:spPr>
          <a:xfrm>
            <a:off x="4829600" y="4442675"/>
            <a:ext cx="36183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Extend throughput sim: 384GB/slot × Kimi-K2/DSV3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3"/>
          <p:cNvSpPr txBox="1"/>
          <p:nvPr/>
        </p:nvSpPr>
        <p:spPr>
          <a:xfrm>
            <a:off x="187075" y="2667000"/>
            <a:ext cx="41010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Training (cluster aggregate, fixed-EP MoE):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single 1.04×  •  double 2.09×  •  3-panel 4.17×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Inference (per cluster):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single 1.01×  •  double 1.36×  •  3-panel 1.35×</a:t>
            </a:r>
            <a:endParaRPr/>
          </a:p>
        </p:txBody>
      </p:sp>
      <p:sp>
        <p:nvSpPr>
          <p:cNvPr id="567" name="Google Shape;567;p93"/>
          <p:cNvSpPr txBox="1"/>
          <p:nvPr/>
        </p:nvSpPr>
        <p:spPr>
          <a:xfrm>
            <a:off x="192026" y="2599950"/>
            <a:ext cx="3730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Ours vs NVL72 Baseline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3"/>
          <p:cNvSpPr txBox="1"/>
          <p:nvPr/>
        </p:nvSpPr>
        <p:spPr>
          <a:xfrm>
            <a:off x="187075" y="3950350"/>
            <a:ext cx="4623900" cy="1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</a:rPr>
              <a:t>Decode caveat</a:t>
            </a:r>
            <a:endParaRPr sz="12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*1.35× is pessimistic by simulator construction, not physics.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Single/double don't win enough vs NVL72; the third panel makes the training delta decisive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144" y="2359987"/>
            <a:ext cx="4797455" cy="189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075" y="76200"/>
            <a:ext cx="4703524" cy="219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576" name="Google Shape;576;p94"/>
          <p:cNvSpPr txBox="1">
            <a:spLocks noGrp="1"/>
          </p:cNvSpPr>
          <p:nvPr>
            <p:ph type="body" idx="1"/>
          </p:nvPr>
        </p:nvSpPr>
        <p:spPr>
          <a:xfrm>
            <a:off x="311700" y="1204975"/>
            <a:ext cx="8649000" cy="3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via long-video gen (Neurips submission)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Long-Horizon Generalization in Third-Person Interactive World Models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Previous work mostly focus on first person world model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Significance: Third person world model is a missing piece, while it is important because it generate videos with character-environment interaction.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Contribution: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We train third person world model on 5 games that has more realistic physical engine compared with related work.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Climbing / Swimming / Running / Gliding, etc.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Progressive long tuning, enabling 30s generation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KV cache selection based on camera trajectory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From one-game to five-game OOD generalization behavior.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Action enhancement techniques: scale action vector; attention injection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on the Edge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Continue survey recent works on splitting training/inference between data center and edge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83" name="Google Shape;58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50" y="330450"/>
            <a:ext cx="8940298" cy="461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1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625" name="Google Shape;625;p101"/>
          <p:cNvSpPr txBox="1"/>
          <p:nvPr/>
        </p:nvSpPr>
        <p:spPr>
          <a:xfrm>
            <a:off x="1186478" y="220224"/>
            <a:ext cx="3173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Substrate: ICCAD -&gt; HPCA / ICCD? </a:t>
            </a:r>
            <a:r>
              <a:rPr lang="en" sz="1133">
                <a:solidFill>
                  <a:srgbClr val="C00000"/>
                </a:solidFill>
              </a:rPr>
              <a:t>(online)</a:t>
            </a:r>
            <a:endParaRPr sz="1100"/>
          </a:p>
        </p:txBody>
      </p:sp>
      <p:sp>
        <p:nvSpPr>
          <p:cNvPr id="626" name="Google Shape;626;p101"/>
          <p:cNvSpPr txBox="1"/>
          <p:nvPr/>
        </p:nvSpPr>
        <p:spPr>
          <a:xfrm>
            <a:off x="192025" y="1049175"/>
            <a:ext cx="46239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Goal: Place GPU on one side, HBM on the other side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Glass κ ≈ 1 W/m·K → acts as thermal barrier (R ≈ 938 °C/W)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At 1000W GPU: &lt;0.6W leaks to memory side (&lt;1°C rise)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Compare Si interposer (κ=130): 7× worse thermal coupling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Georgia Tech PRC demonstrated dual-sided glass [TCPMT'14, '16]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30-100µm glass, 30µm Cu TGVs, dual-side RDL (1-2µm L/S)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Gap: nobody tested GPU-class TDP or photonic co-design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Memory per slot: 192 GB → 384 GB (12× HBM3E both sides)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Kimi-K2 (4TB): 21 → 11 slots needed (48% fewer, no weight dup)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[TCPMT'14] Sukumaran et al., "Ultrathin 3D Glass Interposers w/ TPVs"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[TCPMT'16] Kumar et al., "PDN Resonance in Double-Sided 3D Glass"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[TCAD'25] Vanna-Iampikul et al., "Glass Interposer PPA + SI/PI"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[ECTC'24] Fujimoto (DNP), "Glass Core Stress + Reliability"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[ECTC'25] Sunohara (Shinko), "Glass Core Build-up w/ TGV"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[JOM'24] Gupta et al., "SimTEC in Glass for Photonic Packages"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01"/>
          <p:cNvSpPr txBox="1"/>
          <p:nvPr/>
        </p:nvSpPr>
        <p:spPr>
          <a:xfrm>
            <a:off x="192029" y="694944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Dual-Sided Glass Substrate</a:t>
            </a:r>
            <a:endParaRPr sz="1500"/>
          </a:p>
        </p:txBody>
      </p:sp>
      <p:sp>
        <p:nvSpPr>
          <p:cNvPr id="628" name="Google Shape;628;p101"/>
          <p:cNvSpPr txBox="1"/>
          <p:nvPr/>
        </p:nvSpPr>
        <p:spPr>
          <a:xfrm>
            <a:off x="4815929" y="584102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Architecture Options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01"/>
          <p:cNvSpPr txBox="1"/>
          <p:nvPr/>
        </p:nvSpPr>
        <p:spPr>
          <a:xfrm>
            <a:off x="4815925" y="914050"/>
            <a:ext cx="4166400" cy="26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Option A: Sandwich (recommended)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GPU top (cold plate) / HBM bottom (passive)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Low risk, 2× memory, proven thermal isolation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Novelty: medium — but strong systems-level story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Option D: Hybrid (moon shot)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GPU top / Embedded PICs in glass / HBM bottom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First photonic + dual-sided co-design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High risk, very high novelty → MICRO/ASPLOS scope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Rejected: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Option B (2× GPU both sides) — 2000W+, can't cool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Option C (GPU embedded in glass) — thermal trap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01"/>
          <p:cNvSpPr txBox="1"/>
          <p:nvPr/>
        </p:nvSpPr>
        <p:spPr>
          <a:xfrm>
            <a:off x="4905804" y="3503127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Steps (In Progress)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1"/>
          <p:cNvSpPr txBox="1"/>
          <p:nvPr/>
        </p:nvSpPr>
        <p:spPr>
          <a:xfrm>
            <a:off x="4905800" y="3833075"/>
            <a:ext cx="41664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Build thermal cross-section simulator (Python)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Extend throughput sim: 384GB/slot × Kimi-K2/DSV3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Share 1-pager with advisor; decide paper scope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2"/>
          <p:cNvSpPr txBox="1"/>
          <p:nvPr/>
        </p:nvSpPr>
        <p:spPr>
          <a:xfrm>
            <a:off x="192029" y="320301"/>
            <a:ext cx="44715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Goal: Quantify DeepSeek-V4-Pro (1.6 Trillion Parameter) MoE Decoding</a:t>
            </a:r>
            <a:endParaRPr sz="1100"/>
          </a:p>
        </p:txBody>
      </p:sp>
      <p:sp>
        <p:nvSpPr>
          <p:cNvPr id="637" name="Google Shape;637;p102"/>
          <p:cNvSpPr txBox="1"/>
          <p:nvPr/>
        </p:nvSpPr>
        <p:spPr>
          <a:xfrm>
            <a:off x="192025" y="820969"/>
            <a:ext cx="4471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The 1.6T parameter MoE model requires ~1.6TB memory footprint (FP8)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Standard node (192GB) forces massive 8-way Tensor Parallelism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Dual-sided node (384GB) fits the model shard in just 4-way Tensor Parallelism</a:t>
            </a:r>
            <a:endParaRPr sz="1100"/>
          </a:p>
        </p:txBody>
      </p:sp>
      <p:sp>
        <p:nvSpPr>
          <p:cNvPr id="638" name="Google Shape;638;p102"/>
          <p:cNvSpPr txBox="1"/>
          <p:nvPr/>
        </p:nvSpPr>
        <p:spPr>
          <a:xfrm>
            <a:off x="192029" y="2068137"/>
            <a:ext cx="4471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Network Overhead Reduction</a:t>
            </a:r>
            <a:endParaRPr sz="1100"/>
          </a:p>
        </p:txBody>
      </p:sp>
      <p:sp>
        <p:nvSpPr>
          <p:cNvPr id="639" name="Google Shape;639;p102"/>
          <p:cNvSpPr txBox="1"/>
          <p:nvPr/>
        </p:nvSpPr>
        <p:spPr>
          <a:xfrm>
            <a:off x="192029" y="2308167"/>
            <a:ext cx="4471500" cy="9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Shifting from 8-way to 4-way TP drastically cuts inter-node All-Reduce communication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Model throughput (Tokens/sec) jumps significantly, particularly at low batch sizes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Results in a massive reduction in Total Cost of Ownership (TCO) per token</a:t>
            </a:r>
            <a:endParaRPr sz="1100"/>
          </a:p>
        </p:txBody>
      </p:sp>
      <p:pic>
        <p:nvPicPr>
          <p:cNvPr id="640" name="Google Shape;640;p102" descr="decode_throughpu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7892" y="342900"/>
            <a:ext cx="356616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102" descr="tco_per_tok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892" y="2743200"/>
            <a:ext cx="356616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647" name="Google Shape;647;p103"/>
          <p:cNvSpPr txBox="1">
            <a:spLocks noGrp="1"/>
          </p:cNvSpPr>
          <p:nvPr>
            <p:ph type="body" idx="1"/>
          </p:nvPr>
        </p:nvSpPr>
        <p:spPr>
          <a:xfrm>
            <a:off x="311700" y="1204975"/>
            <a:ext cx="8649000" cy="3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via long-video gen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Recall that 1 latent frame ~ 1.5k tokens ~ 0.16s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Then 1s ~ 10k tokens =&gt; Easy to hit memory capacity limit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Inference: SP takes significant time for real time causal inference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Training: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Finetune: Compute increase faster than communication (compute grow quadratically, see above table on nvl72 with SP=12)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RL / self distillation (a good point to target):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 u="sng">
                <a:solidFill>
                  <a:schemeClr val="hlink"/>
                </a:solidFill>
                <a:highlight>
                  <a:srgbClr val="FFFDFA"/>
                </a:highlight>
                <a:hlinkClick r:id="rId3"/>
              </a:rPr>
              <a:t>https://arxiv.org/html/2512.15840v1</a:t>
            </a: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 Large Video Planner Enables Generalizable Robot Control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Long-horizon planning for robotics by training video generation models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RL is critical for training robot policy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Since rollout can use rolling kv cache, the compute can grow linearly with generation length, instead of quadratically.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Profiling the memory capacity for distillation with SP=1: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3 latent training: 55 GB peak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9 latent training: 135 GB peak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15 latent training: OOM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  <p:graphicFrame>
        <p:nvGraphicFramePr>
          <p:cNvPr id="648" name="Google Shape;648;p103"/>
          <p:cNvGraphicFramePr/>
          <p:nvPr/>
        </p:nvGraphicFramePr>
        <p:xfrm>
          <a:off x="4359550" y="4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{0C3470BA-3029-47EF-A9C7-4DA0345A9BA9}</a:tableStyleId>
              </a:tblPr>
              <a:tblGrid>
                <a:gridCol w="144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Flash attn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 all2all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Latent len = 40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367 ms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36 ms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Latent len = 80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1350 ms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116.5 ms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21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786" name="Google Shape;786;p121"/>
          <p:cNvSpPr txBox="1"/>
          <p:nvPr/>
        </p:nvSpPr>
        <p:spPr>
          <a:xfrm>
            <a:off x="1186478" y="220224"/>
            <a:ext cx="3173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Substrate: ICCAD -&gt; HPCA / ICCD? </a:t>
            </a:r>
            <a:r>
              <a:rPr lang="en" sz="1133">
                <a:solidFill>
                  <a:srgbClr val="C00000"/>
                </a:solidFill>
              </a:rPr>
              <a:t>(online)</a:t>
            </a:r>
            <a:endParaRPr sz="1100"/>
          </a:p>
        </p:txBody>
      </p:sp>
      <p:sp>
        <p:nvSpPr>
          <p:cNvPr id="787" name="Google Shape;787;p121"/>
          <p:cNvSpPr txBox="1"/>
          <p:nvPr/>
        </p:nvSpPr>
        <p:spPr>
          <a:xfrm>
            <a:off x="192025" y="1049175"/>
            <a:ext cx="46239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Goal: Place GPU on one side, HBM on the other side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Glass κ ≈ 1 W/m·K → acts as thermal barrier (R ≈ 938 °C/W)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At 1000W GPU: &lt;0.6W leaks to memory side (&lt;1°C rise)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Compare Si interposer (κ=130): 7× worse thermal coupling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Georgia Tech PRC demonstrated dual-sided glass [TCPMT'14, '16]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30-100µm glass, 30µm Cu TGVs, dual-side RDL (1-2µm L/S)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Gap: nobody tested GPU-class TDP or photonic co-design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Memory per slot: 192 GB → 384 GB (12× HBM3E both sides)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Kimi-K2 (4TB): 21 → 11 slots needed (48% fewer, no weight dup)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[TCPMT'14] Sukumaran et al., "Ultrathin 3D Glass Interposers w/ TPVs"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[TCPMT'16] Kumar et al., "PDN Resonance in Double-Sided 3D Glass"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[TCAD'25] Vanna-Iampikul et al., "Glass Interposer PPA + SI/PI"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[ECTC'24] Fujimoto (DNP), "Glass Core Stress + Reliability"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[ECTC'25] Sunohara (Shinko), "Glass Core Build-up w/ TGV"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[JOM'24] Gupta et al., "SimTEC in Glass for Photonic Packages"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21"/>
          <p:cNvSpPr txBox="1"/>
          <p:nvPr/>
        </p:nvSpPr>
        <p:spPr>
          <a:xfrm>
            <a:off x="192029" y="694944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Dual-Sided Glass Substrate</a:t>
            </a:r>
            <a:endParaRPr sz="1500"/>
          </a:p>
        </p:txBody>
      </p:sp>
      <p:sp>
        <p:nvSpPr>
          <p:cNvPr id="789" name="Google Shape;789;p121"/>
          <p:cNvSpPr txBox="1"/>
          <p:nvPr/>
        </p:nvSpPr>
        <p:spPr>
          <a:xfrm>
            <a:off x="4815929" y="584102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Architecture Options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21"/>
          <p:cNvSpPr txBox="1"/>
          <p:nvPr/>
        </p:nvSpPr>
        <p:spPr>
          <a:xfrm>
            <a:off x="4815925" y="914050"/>
            <a:ext cx="4166400" cy="26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Option A: Sandwich (recommended)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GPU top (cold plate) / HBM bottom (passive)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Low risk, 2× memory, proven thermal isolation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Novelty: medium — but strong systems-level story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Option D: Hybrid (moon shot)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GPU top / Embedded PICs in glass / HBM bottom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First photonic + dual-sided co-design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High risk, very high novelty → MICRO/ASPLOS scope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Rejected: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Option B (2× GPU both sides) — 2000W+, can't cool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Option C (GPU embedded in glass) — thermal trap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21"/>
          <p:cNvSpPr txBox="1"/>
          <p:nvPr/>
        </p:nvSpPr>
        <p:spPr>
          <a:xfrm>
            <a:off x="4905804" y="3503127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Steps (In Progress)</a:t>
            </a:r>
            <a:endParaRPr sz="15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21"/>
          <p:cNvSpPr txBox="1"/>
          <p:nvPr/>
        </p:nvSpPr>
        <p:spPr>
          <a:xfrm>
            <a:off x="4905800" y="3833075"/>
            <a:ext cx="41664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Build thermal cross-section simulator (Python)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Extend throughput sim: 384GB/slot × Kimi-K2/DSV3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Share 1-pager with advisor; decide paper scope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36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905" name="Google Shape;905;p136"/>
          <p:cNvSpPr txBox="1"/>
          <p:nvPr/>
        </p:nvSpPr>
        <p:spPr>
          <a:xfrm>
            <a:off x="1186478" y="220224"/>
            <a:ext cx="3173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Substrate: ICCAD -&gt; HPCA / ICCD?</a:t>
            </a:r>
            <a:endParaRPr sz="1100"/>
          </a:p>
        </p:txBody>
      </p:sp>
      <p:sp>
        <p:nvSpPr>
          <p:cNvPr id="906" name="Google Shape;906;p136"/>
          <p:cNvSpPr txBox="1"/>
          <p:nvPr/>
        </p:nvSpPr>
        <p:spPr>
          <a:xfrm>
            <a:off x="192029" y="1049163"/>
            <a:ext cx="4471500" cy="3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Why deadline is not met: 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Changing algorithm and some architecture assumption not aligned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Energy consumption number.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✅What’s done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Simulator (training and inference) and simulation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MoE routing traces on Qwen35B (smaller) and Qwen235B (larger) MoE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◦ Conversation: ShareGPT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◦ Coding: Code bench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What’s good to have (in progress)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Long context traces: Prolong {64k, 512k}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◦ Due to resource constraint this runs slower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Need Help</a:t>
            </a:r>
            <a:endParaRPr sz="1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Next step?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36"/>
          <p:cNvSpPr txBox="1"/>
          <p:nvPr/>
        </p:nvSpPr>
        <p:spPr>
          <a:xfrm>
            <a:off x="192029" y="694944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Panel-Scale MoE Routing </a:t>
            </a: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1500"/>
          </a:p>
        </p:txBody>
      </p:sp>
      <p:sp>
        <p:nvSpPr>
          <p:cNvPr id="908" name="Google Shape;908;p136"/>
          <p:cNvSpPr txBox="1"/>
          <p:nvPr/>
        </p:nvSpPr>
        <p:spPr>
          <a:xfrm>
            <a:off x="4815929" y="660302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 1: Panel-Scale Heterogenous System</a:t>
            </a:r>
            <a:endParaRPr sz="1500"/>
          </a:p>
        </p:txBody>
      </p:sp>
      <p:sp>
        <p:nvSpPr>
          <p:cNvPr id="909" name="Google Shape;909;p136"/>
          <p:cNvSpPr txBox="1"/>
          <p:nvPr/>
        </p:nvSpPr>
        <p:spPr>
          <a:xfrm>
            <a:off x="4815925" y="914050"/>
            <a:ext cx="41664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Basically back to these slides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(1)</a:t>
            </a: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(2)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Think about the algorithm with heterogenous hardwares at the same time.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36"/>
          <p:cNvSpPr txBox="1"/>
          <p:nvPr/>
        </p:nvSpPr>
        <p:spPr>
          <a:xfrm>
            <a:off x="4764025" y="3021950"/>
            <a:ext cx="40221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Start simulation on cross-panel scale on training.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What’s doable?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Cross-panel reconfiguration cost?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What’s the blocker?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Cross-panel reconfiguration cost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Energy consumption 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36"/>
          <p:cNvSpPr txBox="1"/>
          <p:nvPr/>
        </p:nvSpPr>
        <p:spPr>
          <a:xfrm>
            <a:off x="4764029" y="2768202"/>
            <a:ext cx="4471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 2: Cross-Panel-Scale Heterogenous System</a:t>
            </a:r>
            <a:endParaRPr sz="1500"/>
          </a:p>
        </p:txBody>
      </p:sp>
      <p:pic>
        <p:nvPicPr>
          <p:cNvPr id="912" name="Google Shape;912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3716" y="1602795"/>
            <a:ext cx="2898509" cy="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918" name="Google Shape;918;p137"/>
          <p:cNvSpPr txBox="1">
            <a:spLocks noGrp="1"/>
          </p:cNvSpPr>
          <p:nvPr>
            <p:ph type="body" idx="1"/>
          </p:nvPr>
        </p:nvSpPr>
        <p:spPr>
          <a:xfrm>
            <a:off x="311700" y="1056875"/>
            <a:ext cx="6144000" cy="38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World Model Training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long video generation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Recall the pipeline: bidirectional finetune (bidirectional, 50 steps) =&gt; diffusion forcing (causal, 50 steps) =&gt; self forcing (causl, 4 steps)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Trained diffusion forcing and self forcing on longer rollouts (still running)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Simply change the number of latents for diffusion forcing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For self forcing, given the 9-latent-frame teacher, ask the student to generate 18-latent-frame (or longer) rollouts, and ask the teacher to supervise the first and second half.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Found recent paper actually train on long video (1 min) with full kv cache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 u="sng">
                <a:solidFill>
                  <a:schemeClr val="hlink"/>
                </a:solidFill>
                <a:highlight>
                  <a:srgbClr val="FFFDFA"/>
                </a:highlight>
                <a:hlinkClick r:id="rId3"/>
              </a:rPr>
              <a:t>Mode Seeking meets Mean Seeking for Fast Long Video Generation</a:t>
            </a:r>
            <a:r>
              <a:rPr lang="en" sz="1200" u="sng">
                <a:solidFill>
                  <a:schemeClr val="hlink"/>
                </a:solidFill>
                <a:highlight>
                  <a:srgbClr val="FFFDFA"/>
                </a:highlight>
                <a:hlinkClick r:id="rId3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use SP while training 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OOD generation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Mix the MC and Zelda third-person data and observed better OOD generation results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  <a:highlight>
                  <a:srgbClr val="FFFDFA"/>
                </a:highlight>
              </a:rPr>
              <a:t>The figure shows the OOD performance on action following get improved when training on MC+Zelda data.</a:t>
            </a:r>
            <a:endParaRPr sz="12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  <p:pic>
        <p:nvPicPr>
          <p:cNvPr id="919" name="Google Shape;919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700" y="2690425"/>
            <a:ext cx="2634125" cy="20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55"/>
          <p:cNvSpPr txBox="1"/>
          <p:nvPr/>
        </p:nvSpPr>
        <p:spPr>
          <a:xfrm>
            <a:off x="192029" y="967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1058" name="Google Shape;1058;p155"/>
          <p:cNvSpPr txBox="1"/>
          <p:nvPr/>
        </p:nvSpPr>
        <p:spPr>
          <a:xfrm>
            <a:off x="1186478" y="220224"/>
            <a:ext cx="3173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Head-down mode on engineering + simulation</a:t>
            </a:r>
            <a:endParaRPr sz="1100"/>
          </a:p>
        </p:txBody>
      </p:sp>
      <p:sp>
        <p:nvSpPr>
          <p:cNvPr id="1059" name="Google Shape;1059;p155"/>
          <p:cNvSpPr txBox="1"/>
          <p:nvPr/>
        </p:nvSpPr>
        <p:spPr>
          <a:xfrm>
            <a:off x="192029" y="542544"/>
            <a:ext cx="4471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ICCAD</a:t>
            </a: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Panel-Scale MoE Routing </a:t>
            </a:r>
            <a:r>
              <a:rPr lang="en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1100"/>
          </a:p>
        </p:txBody>
      </p:sp>
      <p:sp>
        <p:nvSpPr>
          <p:cNvPr id="1060" name="Google Shape;1060;p155"/>
          <p:cNvSpPr txBox="1"/>
          <p:nvPr/>
        </p:nvSpPr>
        <p:spPr>
          <a:xfrm>
            <a:off x="192025" y="2945750"/>
            <a:ext cx="4547100" cy="19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aggregate bw 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gain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compared with NVL72 (latency basically same)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Switch reconfiguration cost eats even more the network-side benefit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Energy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is not dominant factor to illustrate.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Heterogenous architecture is hard to build (for now)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sng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H100 comparison will be the main one.</a:t>
            </a:r>
            <a:endParaRPr sz="1100" b="0" i="0" u="sng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NVL72 comparison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will be a side comparison, which foreshadows our next paper on heterogeneous architectures.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Requires heterogeneous HW (compute + memory disaggregation) to realize gains</a:t>
            </a:r>
            <a:endParaRPr sz="1100"/>
          </a:p>
        </p:txBody>
      </p:sp>
      <p:sp>
        <p:nvSpPr>
          <p:cNvPr id="1061" name="Google Shape;1061;p155"/>
          <p:cNvSpPr txBox="1"/>
          <p:nvPr/>
        </p:nvSpPr>
        <p:spPr>
          <a:xfrm>
            <a:off x="192029" y="2692002"/>
            <a:ext cx="4471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Why NVL72 Is </a:t>
            </a: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not our main selling point</a:t>
            </a:r>
            <a:endParaRPr sz="1100"/>
          </a:p>
        </p:txBody>
      </p:sp>
      <p:sp>
        <p:nvSpPr>
          <p:cNvPr id="1062" name="Google Shape;1062;p155"/>
          <p:cNvSpPr txBox="1"/>
          <p:nvPr/>
        </p:nvSpPr>
        <p:spPr>
          <a:xfrm>
            <a:off x="192029" y="896763"/>
            <a:ext cx="4471500" cy="16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Core contribution: mitigate cross-node EP communication within panel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Glass substrate enables flexible all-to-all without multi-hop chaining</a:t>
            </a:r>
            <a:endParaRPr sz="11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Framed as routing decomposition — a matrix separation architecture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Baseline: 8x H100 intra-node  (strong, realistic, widely deployed)</a:t>
            </a:r>
            <a:endParaRPr sz="11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Panel makes H100-scale EP work — that is the claim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Workload: Qwen3-235B-A22B (agentic inference, short-context decode)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Profiled via offline prefill — routing matrices dumped without engine hacks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155"/>
          <p:cNvSpPr txBox="1"/>
          <p:nvPr/>
        </p:nvSpPr>
        <p:spPr>
          <a:xfrm>
            <a:off x="4739004" y="559308"/>
            <a:ext cx="4252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Paper Framing</a:t>
            </a:r>
            <a:endParaRPr sz="1100"/>
          </a:p>
        </p:txBody>
      </p:sp>
      <p:sp>
        <p:nvSpPr>
          <p:cNvPr id="1064" name="Google Shape;1064;p155"/>
          <p:cNvSpPr txBox="1"/>
          <p:nvPr/>
        </p:nvSpPr>
        <p:spPr>
          <a:xfrm>
            <a:off x="4739004" y="799338"/>
            <a:ext cx="4252200" cy="16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paper: can the panel architecture make H100-level EP routing work?</a:t>
            </a:r>
            <a:endParaRPr sz="11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Yes — via routing decomposition + flexible panel switching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Reasonable parallelism strategy for Qwen3-235B (64 experts):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EP=64 primary  (cross-node, 1 expert/node)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TP=4, EP=16 alternative  (to justify agentic workload setup)</a:t>
            </a:r>
            <a:endParaRPr sz="11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No PP — keeps simulation tractable for now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Simulation via apex with H100 comm model as ground truth</a:t>
            </a:r>
            <a:endParaRPr sz="1100"/>
          </a:p>
        </p:txBody>
      </p:sp>
      <p:sp>
        <p:nvSpPr>
          <p:cNvPr id="1065" name="Google Shape;1065;p155"/>
          <p:cNvSpPr txBox="1"/>
          <p:nvPr/>
        </p:nvSpPr>
        <p:spPr>
          <a:xfrm>
            <a:off x="4739004" y="2651760"/>
            <a:ext cx="4252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Action Points</a:t>
            </a:r>
            <a:r>
              <a:rPr lang="en" sz="12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(In Progress)</a:t>
            </a:r>
            <a:endParaRPr sz="1100"/>
          </a:p>
        </p:txBody>
      </p:sp>
      <p:sp>
        <p:nvSpPr>
          <p:cNvPr id="1066" name="Google Shape;1066;p155"/>
          <p:cNvSpPr txBox="1"/>
          <p:nvPr/>
        </p:nvSpPr>
        <p:spPr>
          <a:xfrm>
            <a:off x="4739004" y="2905506"/>
            <a:ext cx="42522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routing heatmaps for Qwen3-35B-A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1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✅ Run apex simulation — H100 cross-node baseline vs. panel</a:t>
            </a:r>
            <a:r>
              <a:rPr lang="en" sz="1100"/>
              <a:t> (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EP=64 prefill throughput as primary result)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⌛Generate routing heatmaps for Qwen3-235B-A22B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Next paper (separate): heterogeneous panel — compute + memory disagg,</a:t>
            </a:r>
            <a:r>
              <a:rPr lang="en" sz="1100"/>
              <a:t> 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so we can actually beat NVL72 on BW and energy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395205" cy="483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005" y="152400"/>
            <a:ext cx="3840013" cy="48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77"/>
          <p:cNvSpPr txBox="1"/>
          <p:nvPr/>
        </p:nvSpPr>
        <p:spPr>
          <a:xfrm>
            <a:off x="192029" y="20574"/>
            <a:ext cx="3730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/>
          </a:p>
        </p:txBody>
      </p:sp>
      <p:sp>
        <p:nvSpPr>
          <p:cNvPr id="1238" name="Google Shape;1238;p177"/>
          <p:cNvSpPr txBox="1"/>
          <p:nvPr/>
        </p:nvSpPr>
        <p:spPr>
          <a:xfrm>
            <a:off x="1186476" y="157725"/>
            <a:ext cx="3956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Glass substrate;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(sick &amp; online)</a:t>
            </a:r>
            <a:endParaRPr sz="11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177"/>
          <p:cNvSpPr txBox="1"/>
          <p:nvPr/>
        </p:nvSpPr>
        <p:spPr>
          <a:xfrm>
            <a:off x="344425" y="1051605"/>
            <a:ext cx="5152800" cy="25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Goal: Understand the divergence of 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Previously: ideal case analysis (uniform all-to-all, max P2P bandwidth)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Now: setting up configurations that match real MoE inference deployments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imilar scale to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Qwen3.5-35B-A3B → Qwen3.5-397B-A17B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Prefill: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{32K, 64K, 128k, .. ,1M} 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Decode: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shorter context for now (to justify disaggregation in this setup)</a:t>
            </a:r>
            <a:endParaRPr sz="110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Reasonable Parallelism Strategy </a:t>
            </a:r>
            <a:r>
              <a:rPr lang="en" sz="110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 72-card setup: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Prefill pool: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{16,32,48,64}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grouped in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{4, 8}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for ingestion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Decode pool: remaining cards,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set </a:t>
            </a: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EP=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{4,8,16}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DP instances fill the rest</a:t>
            </a:r>
            <a:endParaRPr sz="11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Workload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Agentic workload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177"/>
          <p:cNvSpPr txBox="1"/>
          <p:nvPr/>
        </p:nvSpPr>
        <p:spPr>
          <a:xfrm>
            <a:off x="344427" y="771150"/>
            <a:ext cx="5152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Realistic MoE Communication </a:t>
            </a:r>
            <a:r>
              <a:rPr lang="en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sz="1100"/>
          </a:p>
        </p:txBody>
      </p:sp>
      <p:sp>
        <p:nvSpPr>
          <p:cNvPr id="1241" name="Google Shape;1241;p177"/>
          <p:cNvSpPr txBox="1"/>
          <p:nvPr/>
        </p:nvSpPr>
        <p:spPr>
          <a:xfrm>
            <a:off x="344427" y="3596650"/>
            <a:ext cx="476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Expert-to-Expert Traffic Matrix (Not All-to-All)</a:t>
            </a:r>
            <a:endParaRPr sz="1100"/>
          </a:p>
        </p:txBody>
      </p:sp>
      <p:sp>
        <p:nvSpPr>
          <p:cNvPr id="1242" name="Google Shape;1242;p177"/>
          <p:cNvSpPr txBox="1"/>
          <p:nvPr/>
        </p:nvSpPr>
        <p:spPr>
          <a:xfrm>
            <a:off x="5109325" y="1742200"/>
            <a:ext cx="3597600" cy="19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Next Steps (In Progress)</a:t>
            </a:r>
            <a:endParaRPr sz="1100" b="1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Get the actual number from NVL72 cluster </a:t>
            </a:r>
            <a:r>
              <a:rPr lang="en" sz="110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real network perf (NCCL)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Plug matrix into scheduling simulator (SPECTRA integration) as baseline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Compare realistic comm overhead vs our ideal-case numbers from before</a:t>
            </a:r>
            <a:endParaRPr sz="110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Working closely with Yue to iterate the engineering part.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77"/>
          <p:cNvSpPr txBox="1"/>
          <p:nvPr/>
        </p:nvSpPr>
        <p:spPr>
          <a:xfrm>
            <a:off x="344427" y="3869019"/>
            <a:ext cx="47649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Static all-to-all overestimates real network load — ignores routing locality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Approach: extract actual router_logits from HuggingFace MoE forward pass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Build empirical [Expert_i → Expert_j] payload matrix</a:t>
            </a:r>
            <a:endParaRPr sz="1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◦ Profile at virtual Expert ID level (decouple from physical rank placement)</a:t>
            </a:r>
            <a:endParaRPr sz="11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Result feeds into Yue's physical mapping optimization on the glass mesh</a:t>
            </a:r>
            <a:endParaRPr sz="1100"/>
          </a:p>
        </p:txBody>
      </p:sp>
      <p:sp>
        <p:nvSpPr>
          <p:cNvPr id="1244" name="Google Shape;1244;p177"/>
          <p:cNvSpPr txBox="1"/>
          <p:nvPr/>
        </p:nvSpPr>
        <p:spPr>
          <a:xfrm>
            <a:off x="188596" y="434875"/>
            <a:ext cx="3956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Head-down mode to engineering + measurement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84"/>
          <p:cNvSpPr txBox="1"/>
          <p:nvPr/>
        </p:nvSpPr>
        <p:spPr>
          <a:xfrm>
            <a:off x="190499" y="23600"/>
            <a:ext cx="3727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1" name="Google Shape;1291;p184"/>
          <p:cNvSpPr txBox="1"/>
          <p:nvPr/>
        </p:nvSpPr>
        <p:spPr>
          <a:xfrm>
            <a:off x="1184549" y="178400"/>
            <a:ext cx="3177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GTC this week; </a:t>
            </a:r>
            <a:r>
              <a:rPr lang="en" sz="11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Glass substrate → MICRO/ICCAD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2" name="Google Shape;1292;p184"/>
          <p:cNvSpPr txBox="1"/>
          <p:nvPr/>
        </p:nvSpPr>
        <p:spPr>
          <a:xfrm>
            <a:off x="190499" y="469371"/>
            <a:ext cx="4473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Glass </a:t>
            </a: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Scheduling/Routing Solved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3" name="Google Shape;1293;p184"/>
          <p:cNvSpPr txBox="1"/>
          <p:nvPr/>
        </p:nvSpPr>
        <p:spPr>
          <a:xfrm>
            <a:off x="190499" y="709402"/>
            <a:ext cx="4473000" cy="14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Key insight: XY circuits → permutation decomposition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Bottleneck = GPU interface (7TX + 7RX), NOT cross-links (126 WGs)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No fancy routing — just route X-then-Y for each entry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Non-MoE: precomputed from training code (offline, deterministic)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MoE: random orthogonal set of N−1 permutations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Generate once → reuse for any MoE; only recompute durations dk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Max channel load: 40–75 WGs (capacity: 126) → 40–68% headroom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4" name="Google Shape;1294;p184"/>
          <p:cNvSpPr txBox="1"/>
          <p:nvPr/>
        </p:nvSpPr>
        <p:spPr>
          <a:xfrm>
            <a:off x="190499" y="2397237"/>
            <a:ext cx="4473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SPECTRA Algorithm [arXiv:2603.07373]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5" name="Google Shape;1295;p184"/>
          <p:cNvSpPr txBox="1"/>
          <p:nvPr/>
        </p:nvSpPr>
        <p:spPr>
          <a:xfrm>
            <a:off x="190499" y="2637267"/>
            <a:ext cx="44730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Bill Lin + Isaac Keslassy's paper (our collaborators)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3-step: Decompose → Schedule → Equalize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Decompose: D → k permutations (König's thm: k = min possible)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Schedule: assign perms to s switches via LPT (least-loaded)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Equalize: split large perms for load-balance across switches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Results: 1.4× (GPT), 1.9× (MoE), 2.4× (benchmark) vs baseline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MoE traffic easier to schedule than sparse GPT (good for us)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Runtime: &lt;14ms — negligible vs 7μs switch reconfig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innovation: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(1) SPECTRA + XY circuits → provably works on our 2D photonic mesh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(2) MoE routing prediction → D matrix can be constructed fast enough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6" name="Google Shape;1296;p184"/>
          <p:cNvSpPr txBox="1"/>
          <p:nvPr/>
        </p:nvSpPr>
        <p:spPr>
          <a:xfrm>
            <a:off x="4739764" y="178398"/>
            <a:ext cx="4252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GTC 2026: Vera Rubin + Groq 3 LPU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7" name="Google Shape;1297;p184"/>
          <p:cNvSpPr txBox="1"/>
          <p:nvPr/>
        </p:nvSpPr>
        <p:spPr>
          <a:xfrm>
            <a:off x="4739764" y="2498688"/>
            <a:ext cx="42522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 that survive: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No weight duplication (shared memory pool)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Optical multicast (NVLink still unicast)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10–50ns latency (NVLink still ~1–5 μs)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MoE routing near-zero overhead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Gap narrowed: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Rubin HBM4 22 TB/s vs our HBM3e 8 TB/s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NVLink 6 3.6 TB/s vs our optical 2 TB/s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184"/>
          <p:cNvSpPr txBox="1"/>
          <p:nvPr/>
        </p:nvSpPr>
        <p:spPr>
          <a:xfrm>
            <a:off x="4739764" y="418428"/>
            <a:ext cx="4252200" cy="16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Rubin GPU: 288 GB HBM4, 22 TB/s mem BW, 3.6 TB/s NVLink 6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NVL72: 20.7 TB total, 260 TB/s scale-up, 3.6 EFLOPS FP4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Power: 2.3 kW/GPU (was ~1 kW for B200)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Groq 3 LPU: decode-only chip (acquired by NVIDIA)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500 MB SRAM, 150 TB/s BW, 1.2 PFLOPS FP8 per chip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256 LPUs/rack = 128 GB SRAM, 640 TB/s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GPU does prefill + attn; LPU does FFN/MoE decode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Claim: 35× inference throughput/MW vs Hopper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9" name="Google Shape;1299;p184"/>
          <p:cNvSpPr txBox="1"/>
          <p:nvPr/>
        </p:nvSpPr>
        <p:spPr>
          <a:xfrm>
            <a:off x="4739764" y="2258658"/>
            <a:ext cx="4252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Glass vs Vera Rubin: What Changed</a:t>
            </a:r>
            <a:endParaRPr sz="1100" u="sng">
              <a:solidFill>
                <a:schemeClr val="dk1"/>
              </a:solidFill>
            </a:endParaRPr>
          </a:p>
        </p:txBody>
      </p:sp>
      <p:sp>
        <p:nvSpPr>
          <p:cNvPr id="1300" name="Google Shape;1300;p184"/>
          <p:cNvSpPr txBox="1"/>
          <p:nvPr/>
        </p:nvSpPr>
        <p:spPr>
          <a:xfrm>
            <a:off x="4740843" y="4216200"/>
            <a:ext cx="42522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3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 Questions?</a:t>
            </a:r>
            <a:endParaRPr sz="13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Understand the energy gap at 8x8 case – for paper, it make sense?</a:t>
            </a:r>
            <a:endParaRPr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◦ Should we still compare to Blackwell, or we should compare to VR?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1341" name="Google Shape;1341;p18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217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Google NDA email?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TILOS foundations faculty: </a:t>
            </a:r>
            <a:r>
              <a:rPr lang="en" sz="1200" u="sng" dirty="0">
                <a:solidFill>
                  <a:schemeClr val="hlink"/>
                </a:solidFill>
                <a:highlight>
                  <a:srgbClr val="FFFDFA"/>
                </a:highlight>
                <a:hlinkClick r:id="rId3"/>
              </a:rPr>
              <a:t>https://tilos.ai/research/foundations/</a:t>
            </a: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World Model Training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33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Run diffusion forcing (start from a finetuned 50-step bidirectional model, and turn it into a 50-step causal model)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Trained 30k steps, observed that video quality and action mostly preserved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Error accumulation due to the causality (expected)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Reason: During training, we infer next block based on noisy ground truth </a:t>
            </a:r>
            <a:r>
              <a:rPr lang="en" sz="1200" dirty="0" err="1">
                <a:solidFill>
                  <a:schemeClr val="dk1"/>
                </a:solidFill>
                <a:highlight>
                  <a:srgbClr val="FFFDFA"/>
                </a:highlight>
              </a:rPr>
              <a:t>latents</a:t>
            </a: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 of previous blocks; but during inference, we infer next block based on predicted </a:t>
            </a:r>
            <a:r>
              <a:rPr lang="en" sz="1200" dirty="0" err="1">
                <a:solidFill>
                  <a:schemeClr val="dk1"/>
                </a:solidFill>
                <a:highlight>
                  <a:srgbClr val="FFFDFA"/>
                </a:highlight>
              </a:rPr>
              <a:t>latents</a:t>
            </a: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 of previous blocks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828800" lvl="3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a training/inference mismatch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Will run self-forcing to reduce denoising steps from 50 steps to 4 steps, and mitigate error accumulation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Video gen profiling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33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Video gen training is similar to long-context LLM training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Video gen inference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Long video inference: compute explode, so people do </a:t>
            </a:r>
            <a:r>
              <a:rPr lang="en" sz="1200" dirty="0" err="1">
                <a:solidFill>
                  <a:schemeClr val="dk1"/>
                </a:solidFill>
                <a:highlight>
                  <a:srgbClr val="FFFDFA"/>
                </a:highlight>
              </a:rPr>
              <a:t>kv</a:t>
            </a: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-cache compression to make it shorter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World model inference (low latency): seq parallel can cause communication overhead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Preprocessing: 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Since training is based on </a:t>
            </a:r>
            <a:r>
              <a:rPr lang="en" sz="1200" dirty="0" err="1">
                <a:solidFill>
                  <a:schemeClr val="dk1"/>
                </a:solidFill>
                <a:highlight>
                  <a:srgbClr val="FFFDFA"/>
                </a:highlight>
              </a:rPr>
              <a:t>latents</a:t>
            </a: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, people will preprocess the videos into </a:t>
            </a:r>
            <a:r>
              <a:rPr lang="en" sz="1200" dirty="0" err="1">
                <a:solidFill>
                  <a:schemeClr val="dk1"/>
                </a:solidFill>
                <a:highlight>
                  <a:srgbClr val="FFFDFA"/>
                </a:highlight>
              </a:rPr>
              <a:t>latents</a:t>
            </a: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 using VAE before training, could also takes much time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33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200" dirty="0">
                <a:solidFill>
                  <a:schemeClr val="dk1"/>
                </a:solidFill>
                <a:highlight>
                  <a:srgbClr val="FFFDFA"/>
                </a:highlight>
              </a:rPr>
              <a:t>Storage - GPU communication: 1TB read and write</a:t>
            </a:r>
            <a:endParaRPr sz="1200" dirty="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pic>
        <p:nvPicPr>
          <p:cNvPr id="1347" name="Google Shape;1347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7" y="2538514"/>
            <a:ext cx="6164550" cy="23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9425" y="131200"/>
            <a:ext cx="6117898" cy="2407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190"/>
          <p:cNvSpPr txBox="1"/>
          <p:nvPr/>
        </p:nvSpPr>
        <p:spPr>
          <a:xfrm>
            <a:off x="2799425" y="0"/>
            <a:ext cx="595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Metrics during training for bidirectional finetuning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50" name="Google Shape;1350;p190"/>
          <p:cNvSpPr txBox="1"/>
          <p:nvPr/>
        </p:nvSpPr>
        <p:spPr>
          <a:xfrm>
            <a:off x="311700" y="2356200"/>
            <a:ext cx="595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Metrics during training for diffusion forcing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51" name="Google Shape;1351;p190"/>
          <p:cNvSpPr txBox="1"/>
          <p:nvPr/>
        </p:nvSpPr>
        <p:spPr>
          <a:xfrm>
            <a:off x="6330450" y="3323363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https://drive.google.com/file/d/1xVkwXhgYDL8bHzplJM_4ZNkJO5ejD5dL/view?usp=sharing</a:t>
            </a:r>
            <a:r>
              <a:rPr lang="en"/>
              <a:t> a sample generated video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91"/>
          <p:cNvSpPr txBox="1">
            <a:spLocks noGrp="1"/>
          </p:cNvSpPr>
          <p:nvPr>
            <p:ph type="title"/>
          </p:nvPr>
        </p:nvSpPr>
        <p:spPr>
          <a:xfrm>
            <a:off x="-49850" y="0"/>
            <a:ext cx="120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  <p:sp>
        <p:nvSpPr>
          <p:cNvPr id="1357" name="Google Shape;1357;p191"/>
          <p:cNvSpPr txBox="1"/>
          <p:nvPr/>
        </p:nvSpPr>
        <p:spPr>
          <a:xfrm>
            <a:off x="920575" y="133793"/>
            <a:ext cx="8511300" cy="50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KV3D DAC rejected :( → resubmission ISPLED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Major complaint (3431):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review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</a:rPr>
              <a:t>(1) Lack real hardware measured number; 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(2) System part hard to separate the algorithm from traditional sched algorithm (→ improve writing)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Glass substrate (w/ David + Mingjia) </a:t>
            </a:r>
            <a:r>
              <a:rPr lang="en" sz="1100">
                <a:solidFill>
                  <a:schemeClr val="dk1"/>
                </a:solidFill>
              </a:rPr>
              <a:t>→ Micro April? [260B$]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NSF 2 paragraph Draft (today)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Training 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Scale-out network does consume most of the time of communication in training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MoE: all-to-all (up to 20-55% [</a:t>
            </a:r>
            <a:r>
              <a:rPr lang="en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MixNet</a:t>
            </a:r>
            <a:r>
              <a:rPr lang="en" sz="1100">
                <a:solidFill>
                  <a:schemeClr val="dk1"/>
                </a:solidFill>
              </a:rPr>
              <a:t>]); 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All models: AllReduce for param gathering;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Theoretic speedup: Our bandwidth / NVLink bandwidth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Inference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Optical reconfiguration latency is the major determining factor for our gain</a:t>
            </a:r>
            <a:endParaRPr sz="1100">
              <a:solidFill>
                <a:schemeClr val="dk1"/>
              </a:solidFill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○"/>
            </a:pPr>
            <a:r>
              <a:rPr lang="en" sz="1150">
                <a:solidFill>
                  <a:schemeClr val="dk1"/>
                </a:solidFill>
              </a:rPr>
              <a:t>Three switching technologies compared:</a:t>
            </a:r>
            <a:endParaRPr sz="1150">
              <a:solidFill>
                <a:schemeClr val="dk1"/>
              </a:solidFill>
            </a:endParaRPr>
          </a:p>
          <a:p>
            <a:pPr marL="1371600" lvl="2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■"/>
            </a:pPr>
            <a:r>
              <a:rPr lang="en" sz="1150" b="1">
                <a:solidFill>
                  <a:schemeClr val="dk1"/>
                </a:solidFill>
              </a:rPr>
              <a:t>MEMS</a:t>
            </a:r>
            <a:r>
              <a:rPr lang="en" sz="1150">
                <a:solidFill>
                  <a:schemeClr val="dk1"/>
                </a:solidFill>
              </a:rPr>
              <a:t> (~10–25 ms): mechanical micromirrors, too slow for MoE decode</a:t>
            </a:r>
            <a:endParaRPr sz="1150">
              <a:solidFill>
                <a:schemeClr val="dk1"/>
              </a:solidFill>
            </a:endParaRPr>
          </a:p>
          <a:p>
            <a:pPr marL="1371600" lvl="2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■"/>
            </a:pPr>
            <a:r>
              <a:rPr lang="en" sz="1150" b="1">
                <a:solidFill>
                  <a:schemeClr val="dk1"/>
                </a:solidFill>
              </a:rPr>
              <a:t>Microring Resonator</a:t>
            </a:r>
            <a:r>
              <a:rPr lang="en" sz="1150">
                <a:solidFill>
                  <a:schemeClr val="dk1"/>
                </a:solidFill>
              </a:rPr>
              <a:t> (~1–100 μs): thermal tuning, practical for batched transfers</a:t>
            </a:r>
            <a:endParaRPr sz="1150">
              <a:solidFill>
                <a:schemeClr val="dk1"/>
              </a:solidFill>
            </a:endParaRPr>
          </a:p>
          <a:p>
            <a:pPr marL="1371600" lvl="2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■"/>
            </a:pPr>
            <a:r>
              <a:rPr lang="en" sz="1150" b="1">
                <a:solidFill>
                  <a:schemeClr val="dk1"/>
                </a:solidFill>
              </a:rPr>
              <a:t>MZI</a:t>
            </a:r>
            <a:r>
              <a:rPr lang="en" sz="1150">
                <a:solidFill>
                  <a:schemeClr val="dk1"/>
                </a:solidFill>
              </a:rPr>
              <a:t> (~2–10 ns): electro-optic, fast enough for per-message reconfiguration but high insertion loss</a:t>
            </a:r>
            <a:endParaRPr sz="1150">
              <a:solidFill>
                <a:schemeClr val="dk1"/>
              </a:solidFill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○"/>
            </a:pPr>
            <a:r>
              <a:rPr lang="en" sz="1150">
                <a:solidFill>
                  <a:schemeClr val="dk1"/>
                </a:solidFill>
              </a:rPr>
              <a:t>Reconfiguration efficiency analysis: at WDM 1.6 Tb/s, MRR gives only 39% efficiency; MZI gives 98.5%</a:t>
            </a:r>
            <a:endParaRPr sz="1150">
              <a:solidFill>
                <a:schemeClr val="dk1"/>
              </a:solidFill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○"/>
            </a:pPr>
            <a:r>
              <a:rPr lang="en" sz="1150">
                <a:solidFill>
                  <a:schemeClr val="dk1"/>
                </a:solidFill>
              </a:rPr>
              <a:t>Q: Which one should we use? → Meeting at Wed to understand arch &amp; hardware more</a:t>
            </a:r>
            <a:endParaRPr sz="11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Step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NSF 2 paragraph Draft (today)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MLSys Artifact Evaluation + Camera Ready Paper + Presentation (Thursday)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92"/>
          <p:cNvSpPr txBox="1"/>
          <p:nvPr/>
        </p:nvSpPr>
        <p:spPr>
          <a:xfrm>
            <a:off x="266950" y="480275"/>
            <a:ext cx="8111400" cy="42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Waveguide Routing Optimization (w/ thought process)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Problem Definition 1 - [Single-round planning]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Given an n×n grid of GPU nodes, route a (skewed) comm matrix to minimize makespan (all-to-all)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min max_{(i,j)} T_{i,j} – minimize time of last-finishing flow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Conjectured NP-hard (subsumes multi-commodity flow + contiguous path constraints)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Drawback: Only one-hop planning – we don’t have enough optimal waveguide!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Problem Definition 2 - [Multi-round planning]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Given n×n grid of nodes, route R rounds of comm minimize makespan (all-to-all)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min  (sum reconfig_{t} + sum max_{(i,j)} T_{t,i,j} ) – minimize time of entire flow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Opportunities: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Overlap some comp w/ comm: useful in training, not in inference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Related works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Chronos: Prescheduled circuit switching for LLM training</a:t>
            </a:r>
            <a:r>
              <a:rPr lang="en" sz="1200">
                <a:solidFill>
                  <a:schemeClr val="dk1"/>
                </a:solidFill>
              </a:rPr>
              <a:t>:  ~32% faster over packet switching (DCQCN). 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answers </a:t>
            </a:r>
            <a:r>
              <a:rPr lang="en" sz="1200" i="1">
                <a:solidFill>
                  <a:schemeClr val="dk1"/>
                </a:solidFill>
              </a:rPr>
              <a:t>what to send when</a:t>
            </a:r>
            <a:r>
              <a:rPr lang="en" sz="1200">
                <a:solidFill>
                  <a:schemeClr val="dk1"/>
                </a:solidFill>
              </a:rPr>
              <a:t> – but not </a:t>
            </a:r>
            <a:r>
              <a:rPr lang="en" sz="1200" i="1">
                <a:solidFill>
                  <a:schemeClr val="dk1"/>
                </a:solidFill>
              </a:rPr>
              <a:t>how to route it through a mesh</a:t>
            </a:r>
            <a:endParaRPr sz="1200" i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Only applied on optical </a:t>
            </a:r>
            <a:r>
              <a:rPr lang="en" sz="1200" b="1" i="1">
                <a:solidFill>
                  <a:schemeClr val="dk1"/>
                </a:solidFill>
              </a:rPr>
              <a:t>crossbar</a:t>
            </a:r>
            <a:r>
              <a:rPr lang="en" sz="1200">
                <a:solidFill>
                  <a:schemeClr val="dk1"/>
                </a:solidFill>
              </a:rPr>
              <a:t>, not 2D Mesh – which is our opportunity to improve.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63" name="Google Shape;1363;p192"/>
          <p:cNvSpPr txBox="1"/>
          <p:nvPr/>
        </p:nvSpPr>
        <p:spPr>
          <a:xfrm>
            <a:off x="7456350" y="125825"/>
            <a:ext cx="151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Text heavy!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8" name="Google Shape;1368;p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52400"/>
            <a:ext cx="691353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93"/>
          <p:cNvSpPr txBox="1"/>
          <p:nvPr/>
        </p:nvSpPr>
        <p:spPr>
          <a:xfrm>
            <a:off x="4121850" y="241750"/>
            <a:ext cx="3538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B220C"/>
                </a:solidFill>
              </a:rPr>
              <a:t>Any doubly stochastic matrix can be decomposed into a weighted sum of permutation matrices.</a:t>
            </a:r>
            <a:endParaRPr b="1">
              <a:solidFill>
                <a:srgbClr val="EB22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B220C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0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1475" name="Google Shape;1475;p20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36174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Measurement of video gen of various generation length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Wan1.3B causal with block size=3 latent frames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Flash attention 4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B200 (1 GPU or 4 GPU for Seq Parallel)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Measurement is on ONE denoising step (in total 4 steps) when generating the last block (where kv cache is the largest)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World Model Training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Applied diffusion forcing to convert a bidirectional model to autoregressive model and train 20k steps, video gen / training stability is getting better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Applied self forcing to the ckpt of diffusion forcing, still monitoring the result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Meanwhile, build evaluation benchmark using action flow, so we don’t need to eye bow the validation videos, and can refer to the auto metrics to decide model performance.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  <p:pic>
        <p:nvPicPr>
          <p:cNvPr id="1476" name="Google Shape;1476;p206" title="causal_flash_alltoall_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526" y="981350"/>
            <a:ext cx="5099475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209"/>
          <p:cNvSpPr txBox="1"/>
          <p:nvPr/>
        </p:nvSpPr>
        <p:spPr>
          <a:xfrm>
            <a:off x="1282675" y="285015"/>
            <a:ext cx="7248000" cy="45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Glass substrate (w/ David + Mingjia) </a:t>
            </a:r>
            <a:r>
              <a:rPr lang="en" sz="1100">
                <a:solidFill>
                  <a:schemeClr val="dk1"/>
                </a:solidFill>
              </a:rPr>
              <a:t>→ Micro April? [260B$]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Mostly on aligning sim &lt;&gt; real.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Story 1: Latency-sensitive inference &amp; memory capacity-bound workloads in LLM → Micro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Bandwidth (across-switch): </a:t>
            </a:r>
            <a:r>
              <a:rPr lang="en" sz="1100" b="1">
                <a:solidFill>
                  <a:schemeClr val="dk1"/>
                </a:solidFill>
              </a:rPr>
              <a:t>best case 20TB/s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P2P, worst case 2.5TB/s P2P</a:t>
            </a:r>
            <a:endParaRPr sz="1100" b="1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2.5TB/s worst case – one “light fiber can only accommodate one P2P at a time (in one row)” 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Question: can we achieve the best case?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Latency: 10-50 ns optical hop vs 1-5μs NVLink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Mostly software latency – cannot do this by profiling!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Story 2: Training for large-scale (100k) GPU of LLM (compute / memory / network)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Environment: H100 GPU DGX, intra-node NVLink (900GB/s), cross-node Infiniband (100GB/s)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Bottleneck: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Network (all-to-all) could become the bottleneck (up to 20-55% [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MixNet</a:t>
            </a:r>
            <a:r>
              <a:rPr lang="en" sz="1100">
                <a:solidFill>
                  <a:schemeClr val="dk1"/>
                </a:solidFill>
              </a:rPr>
              <a:t>]) when training MoE models.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Harder to show a 10x number. Not sure how do we compare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Focus on inference for Micron submission?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Step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1/3/5/10-year trajectory predictions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bandwidth: can we achieve the best case and how?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Misc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KV3D DAC rejected :( → resubmission ISEPED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NeurIPS reimbursement still not coming through?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04" name="Google Shape;1504;p209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120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2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1603" name="Google Shape;1603;p222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6055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World Model Training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i="1">
                <a:solidFill>
                  <a:schemeClr val="dk1"/>
                </a:solidFill>
                <a:highlight>
                  <a:srgbClr val="FFFDFA"/>
                </a:highlight>
              </a:rPr>
              <a:t>What we have achieved</a:t>
            </a: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: Wan2.1-1.3B + Hyworld-action-module + MC-synthetic-data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Past week: 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Try with Lingbot-action-module (less compute needed), but it can not learn the camera well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Try with Zelda data from real players. Since the data is much noisier, the performance is not as good, and I am trying with data filtering and rebalance techniques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Added a automatic method to automatically detect the consistency of provided action and the generated video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Todo: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Continue on Zelda training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Video gen co-design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Training profiling on 4 80GB H100: Wan-14B under sp=4, batch size = 2, hsdp shard = 4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MFU ~ 40% for backward / forward; 76% for self-attn (which takes 28% of single layer forward)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Inference profiling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SP=4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  <a:highlight>
                  <a:srgbClr val="FFFDFA"/>
                </a:highlight>
              </a:rPr>
              <a:t>Precision: FP4</a:t>
            </a:r>
            <a:endParaRPr sz="11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  <p:pic>
        <p:nvPicPr>
          <p:cNvPr id="1604" name="Google Shape;1604;p222" title="Screenshot 2026-02-24 at 9.42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925" y="3461750"/>
            <a:ext cx="5758250" cy="14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223"/>
          <p:cNvSpPr txBox="1"/>
          <p:nvPr/>
        </p:nvSpPr>
        <p:spPr>
          <a:xfrm>
            <a:off x="1282675" y="285015"/>
            <a:ext cx="7248000" cy="45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Glass substrate (w/ David + Mingjia) </a:t>
            </a:r>
            <a:r>
              <a:rPr lang="en" sz="1100">
                <a:solidFill>
                  <a:schemeClr val="dk1"/>
                </a:solidFill>
              </a:rPr>
              <a:t>→ Micro April? [260B$]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Mostly on aligning sim &lt;&gt; real.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Story 1: Latency-sensitive inference &amp; memory capacity-bound workloads in LLM → Micro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Bandwidth (across-switch): </a:t>
            </a:r>
            <a:r>
              <a:rPr lang="en" sz="1100" b="1">
                <a:solidFill>
                  <a:schemeClr val="dk1"/>
                </a:solidFill>
              </a:rPr>
              <a:t>best case 20TB/s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P2P, worst case 2.5TB/s P2P</a:t>
            </a:r>
            <a:endParaRPr sz="1100" b="1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2.5TB/s worst case – one “light fiber can only accommodate one P2P at a time (in one row)” 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Question: can we achieve the best case?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Latency: 10-50 ns optical hop vs 1-5μs NVLink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Mostly software latency – cannot do this by profiling!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Story 2: Training for large-scale (100k) GPU of LLM (compute / memory / network)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Environment: H100 GPU DGX, intra-node NVLink (900GB/s), cross-node Infiniband (100GB/s)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Bottleneck: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Network (all-to-all) could become the bottleneck (up to 20-55% [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MixNet</a:t>
            </a:r>
            <a:r>
              <a:rPr lang="en" sz="1100">
                <a:solidFill>
                  <a:schemeClr val="dk1"/>
                </a:solidFill>
              </a:rPr>
              <a:t>]) when training MoE models.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Harder to show a 10x number. Not sure how do we compare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Focus on inference for Micron submission?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Step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1/3/5/10-year trajectory predictions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bandwidth: can we achieve the best case and how?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Misc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KV3D DAC rejected :( → resubmission ISEPED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NeurIPS reimbursement still not coming through?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10" name="Google Shape;1610;p223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120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50"/>
            <a:ext cx="4356452" cy="492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224"/>
          <p:cNvPicPr preferRelativeResize="0"/>
          <p:nvPr/>
        </p:nvPicPr>
        <p:blipFill rotWithShape="1">
          <a:blip r:embed="rId4">
            <a:alphaModFix/>
          </a:blip>
          <a:srcRect l="6941" t="6935" r="11213" b="1690"/>
          <a:stretch/>
        </p:blipFill>
        <p:spPr>
          <a:xfrm>
            <a:off x="4587150" y="329300"/>
            <a:ext cx="4490701" cy="27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1739" name="Google Shape;1739;p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055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Glass interposer proposal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Literature survey on LLM / Video-gen model training/inference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Memory Capacity solutions: gradient checkpointing, cpu offloading, TP/PP/SP/CP parallelism (power).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Worldmodel Finetune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We have done with Minecraft and start to train on NVIDIA Nitrogen dataset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Use inpainting to remove the noisy overlay of game play scenes, and get 200k 3s clips 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Finetune the video gen model but didn’t easily learn action condition as MC, potentially due to noisy action labels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TODO: Finetune 720p LTX-2 to be 1080p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  <p:graphicFrame>
        <p:nvGraphicFramePr>
          <p:cNvPr id="1740" name="Google Shape;1740;p240"/>
          <p:cNvGraphicFramePr/>
          <p:nvPr/>
        </p:nvGraphicFramePr>
        <p:xfrm>
          <a:off x="975750" y="1749825"/>
          <a:ext cx="7717850" cy="1097220"/>
        </p:xfrm>
        <a:graphic>
          <a:graphicData uri="http://schemas.openxmlformats.org/drawingml/2006/table">
            <a:tbl>
              <a:tblPr>
                <a:noFill/>
                <a:tableStyleId>{0C3470BA-3029-47EF-A9C7-4DA0345A9BA9}</a:tableStyleId>
              </a:tblPr>
              <a:tblGrid>
                <a:gridCol w="274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Video gen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Training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Inference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Small scale (a few nodes)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Compute/Memory Capacity bound</a:t>
                      </a:r>
                      <a:endParaRPr sz="1200"/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Mostly compute bound given large Query size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Large scale (hundreds of nodes)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MFU 30-40%</a:t>
                      </a:r>
                      <a:endParaRPr sz="1200"/>
                    </a:p>
                  </a:txBody>
                  <a:tcPr marL="91425" marR="91425" marT="91425" marB="914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1" name="Google Shape;1741;p240"/>
          <p:cNvGraphicFramePr/>
          <p:nvPr/>
        </p:nvGraphicFramePr>
        <p:xfrm>
          <a:off x="2276350" y="0"/>
          <a:ext cx="7143775" cy="1143000"/>
        </p:xfrm>
        <a:graphic>
          <a:graphicData uri="http://schemas.openxmlformats.org/drawingml/2006/table">
            <a:tbl>
              <a:tblPr>
                <a:noFill/>
                <a:tableStyleId>{0C3470BA-3029-47EF-A9C7-4DA0345A9BA9}</a:tableStyleId>
              </a:tblPr>
              <a:tblGrid>
                <a:gridCol w="253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LLM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Training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Inference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Small scale (a few nodes)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Compute bound</a:t>
                      </a:r>
                      <a:endParaRPr sz="1200"/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Memory bound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Large scale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MFU 40-50%</a:t>
                      </a:r>
                      <a:endParaRPr sz="1200"/>
                    </a:p>
                  </a:txBody>
                  <a:tcPr marL="91425" marR="91425" marT="91425" marB="914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2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2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48" name="Google Shape;1748;p241" title="Screenshot 2026-02-17 at 10.22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725" y="2130174"/>
            <a:ext cx="6100324" cy="15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242"/>
          <p:cNvSpPr txBox="1"/>
          <p:nvPr/>
        </p:nvSpPr>
        <p:spPr>
          <a:xfrm>
            <a:off x="215873" y="490550"/>
            <a:ext cx="8064300" cy="45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Glass substrate (w/ David + Mingjia) </a:t>
            </a:r>
            <a:r>
              <a:rPr lang="en" sz="1100">
                <a:solidFill>
                  <a:schemeClr val="dk1"/>
                </a:solidFill>
              </a:rPr>
              <a:t>→ Micro April? [260B$]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Mostly more time deep dive into glass substrate + (more-accurate) simulation using AstraSim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Waiting for David &lt;&gt; Professor Li’s number: the network bandwidth can be huge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Story 1: Latency-sensitive inference &amp; memory capacity-bound workloads in LLM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Bandwidth (across-switch): </a:t>
            </a:r>
            <a:r>
              <a:rPr lang="en" sz="1100" b="1">
                <a:solidFill>
                  <a:schemeClr val="dk1"/>
                </a:solidFill>
              </a:rPr>
              <a:t>160Tbps → 20TB/s = 10x Rubin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Network Latency: 10-50 ns optical hop vs 1-5μs NVLink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Story 2: Training for large-scale (100k) GPU of LLM (compute / memory / network)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Environment: H100 GPU DGX, intra-node NVLink (900GB/s), cross-node Infiniband (100GB/s)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Limitation: limited parallelism strategy search, back-of-the-envelope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 b="1">
                <a:solidFill>
                  <a:schemeClr val="dk1"/>
                </a:solidFill>
              </a:rPr>
              <a:t>Kimi2.5 MoE 256k 64 GPU:                           95% /   2%  /   3%</a:t>
            </a:r>
            <a:endParaRPr sz="1100" b="1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 b="1">
                <a:solidFill>
                  <a:schemeClr val="dk1"/>
                </a:solidFill>
              </a:rPr>
              <a:t>Kimi2.5 MoE 256k 1024 GPU:                       75% / 10%  / 15%</a:t>
            </a:r>
            <a:endParaRPr sz="1100" b="1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 b="1">
                <a:solidFill>
                  <a:schemeClr val="dk1"/>
                </a:solidFill>
              </a:rPr>
              <a:t>Kimi2.5 MoE 256k 100k GPU (xAI):        60~65% / 15%  / 20~25%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step: Need to learn more about hardware limitation for a system problem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More first-order analysis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Training: 64 ~ 100K+ xPU, a better simulated analysis – with different parallelism setup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Hybrid storage with energy efficiency considerations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Design custom MoE all-to-all protocol exploiting optical multicast → near-zero communication overhead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Build accurate simulator (AstraSim)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Simulated numbers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Network latency: 1.3–6.4μs (glass) vs 128–640μs (NVLink) → ~100× reduction for All-to-all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Network bandwidth: ~160Tbps so far across substrate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4" name="Google Shape;1754;p242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120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9" name="Google Shape;1759;p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05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4" name="Google Shape;1764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6" cy="471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9" name="Google Shape;1769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3190425" cy="22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0" name="Google Shape;1770;p245" descr="parallel-cp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05675"/>
            <a:ext cx="91440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2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1880" name="Google Shape;1880;p2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95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Related work: </a:t>
            </a:r>
            <a:r>
              <a:rPr lang="en" sz="1300" b="1">
                <a:solidFill>
                  <a:schemeClr val="dk1"/>
                </a:solidFill>
                <a:highlight>
                  <a:srgbClr val="FFFDFA"/>
                </a:highlight>
              </a:rPr>
              <a:t>SpecDiff: Accelerating Diffusion Model Inference with Self-Speculation </a:t>
            </a:r>
            <a:r>
              <a:rPr lang="en" sz="1300" b="1" u="sng">
                <a:solidFill>
                  <a:schemeClr val="hlink"/>
                </a:solidFill>
                <a:highlight>
                  <a:srgbClr val="FFFDFA"/>
                </a:highlight>
                <a:hlinkClick r:id="rId3"/>
              </a:rPr>
              <a:t>https://arxiv.org/pdf/2509.13848v1</a:t>
            </a:r>
            <a:r>
              <a:rPr lang="en" sz="1300" b="1">
                <a:solidFill>
                  <a:schemeClr val="dk1"/>
                </a:solidFill>
                <a:highlight>
                  <a:srgbClr val="FFFDFA"/>
                </a:highlight>
              </a:rPr>
              <a:t> </a:t>
            </a:r>
            <a:endParaRPr sz="1300" b="1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b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</a:b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Compute arithmetic intensity of attn operation in video gen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8257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000">
                <a:highlight>
                  <a:srgbClr val="FFFDFA"/>
                </a:highlight>
              </a:rPr>
              <a:t>FLOPS: </a:t>
            </a:r>
            <a:endParaRPr sz="1000">
              <a:highlight>
                <a:srgbClr val="FFFDFA"/>
              </a:highlight>
            </a:endParaRPr>
          </a:p>
          <a:p>
            <a:pPr marL="1371600" lvl="2" indent="-2825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000">
                <a:highlight>
                  <a:srgbClr val="FFFDFA"/>
                </a:highlight>
              </a:rPr>
              <a:t>QK^T: Batch × Head × (Q_len × KV_len × 2 × Dim)</a:t>
            </a:r>
            <a:endParaRPr sz="1000">
              <a:highlight>
                <a:srgbClr val="FFFDFA"/>
              </a:highlight>
            </a:endParaRPr>
          </a:p>
          <a:p>
            <a:pPr marL="1371600" lvl="2" indent="-2825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000">
                <a:highlight>
                  <a:srgbClr val="FFFDFA"/>
                </a:highlight>
              </a:rPr>
              <a:t>attn × V: Batch × Head × (Q_len × KV_len × 2 × Dim)</a:t>
            </a:r>
            <a:endParaRPr sz="1000">
              <a:highlight>
                <a:srgbClr val="FFFDFA"/>
              </a:highlight>
            </a:endParaRPr>
          </a:p>
          <a:p>
            <a:pPr marL="914400" lvl="1" indent="-28257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000">
                <a:highlight>
                  <a:srgbClr val="FFFDFA"/>
                </a:highlight>
              </a:rPr>
              <a:t>Bytes Transferred: </a:t>
            </a:r>
            <a:endParaRPr sz="1000">
              <a:highlight>
                <a:srgbClr val="FFFDFA"/>
              </a:highlight>
            </a:endParaRPr>
          </a:p>
          <a:p>
            <a:pPr marL="1371600" lvl="2" indent="-2825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000">
                <a:highlight>
                  <a:srgbClr val="FFFDFA"/>
                </a:highlight>
              </a:rPr>
              <a:t>Bytes read: Batch × Head × (Q_len + 2 * KV_len) × Dim</a:t>
            </a:r>
            <a:endParaRPr sz="1000">
              <a:highlight>
                <a:srgbClr val="FFFDFA"/>
              </a:highlight>
            </a:endParaRPr>
          </a:p>
          <a:p>
            <a:pPr marL="1371600" lvl="2" indent="-2825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000">
                <a:highlight>
                  <a:srgbClr val="FFFDFA"/>
                </a:highlight>
              </a:rPr>
              <a:t>Bytes written: Batch × Head × Q_len × Dim</a:t>
            </a:r>
            <a:endParaRPr sz="1000">
              <a:highlight>
                <a:srgbClr val="FFFDFA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AI ~ len of Q; Current Q_len of a chunk of 0.6s = 6k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Ridge point of current GPUs: AI ~ 0.2 - 1.2k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Low-latency high fps generation?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Long-video: 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Still attention bound. 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Using torch profiling, I can only check the CPU &lt;=&gt; GPU memory time, so need to run </a:t>
            </a:r>
            <a:r>
              <a:rPr lang="en" sz="1300" i="1">
                <a:solidFill>
                  <a:schemeClr val="dk1"/>
                </a:solidFill>
                <a:highlight>
                  <a:srgbClr val="FFFDFA"/>
                </a:highlight>
              </a:rPr>
              <a:t>ncu</a:t>
            </a: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 to profile GPU cache, and report the statistic.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Worldmodel Finetune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Fine Tuned Wan 1.3B model with action condition on MC data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87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We are able to learn the key and mouse conditions with 10k steps with batch_size=32.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</p:txBody>
      </p:sp>
      <p:pic>
        <p:nvPicPr>
          <p:cNvPr id="1881" name="Google Shape;1881;p259" title="Screenshot 2026-02-10 at 1.27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6838" y="80775"/>
            <a:ext cx="375807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271"/>
          <p:cNvSpPr txBox="1"/>
          <p:nvPr/>
        </p:nvSpPr>
        <p:spPr>
          <a:xfrm>
            <a:off x="1225900" y="115150"/>
            <a:ext cx="8064300" cy="48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Glass substrate (w/ David + Mingjia) </a:t>
            </a:r>
            <a:r>
              <a:rPr lang="en" sz="1100">
                <a:solidFill>
                  <a:schemeClr val="dk1"/>
                </a:solidFill>
              </a:rPr>
              <a:t>→ Micro April? [260B$]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Mostly spend time deep dive into glass substrate and related technologies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Story: Latency-sensitive inference &amp; memory capacity-bound workloads in LLM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Bandwidth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Network Bandwidth = 2x Blackwell NVL72, but = ~0.5x Rubin NVL72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Network Latency: low (10-50ns optical hop vs 1-5μs NVLink)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Compute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Per-slot: same B200 die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P/D disaggregated → can dedicate slots to prefill vs decode (8×8 = 64 slots)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Multicast read becomes relatively cheap ⇒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MoE all2all network is cheap, barring limited times for reconfiguration for network communication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Massive memory capacity + hybrid memory ⇒ comp/memory intensive operation specialization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Direction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First order simulation (long-context in=16k/out=4k) (network is an optimistic bound)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DeepSeek-V3 (MoE, 1.3TB): Glass+HBM3e = 4.95x faster, 9.8x more energy efficient vs NVL72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Kimi-K2 (~2T MoE, 4TB): Glass+HBM3e = 14.9x faster, 33x more efficient vs NVL72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Glass+3DDRAM: 2.2x ~ 7.6x faster than NVL72 (less compute slots but huge BW + capacity)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Dense models (Llama-3 70B): NVL72 still wins - glass substrate shines on large sparse MoE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step: Need to learn more about hardware limitation for a system problem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Better simulation with actual network latency: what is the optimal config &lt;&gt; network protocol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Drafting short questions about optics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latency across substrate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0" name="Google Shape;1980;p271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52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272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52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  <p:pic>
        <p:nvPicPr>
          <p:cNvPr id="1986" name="Google Shape;1986;p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25" y="2139476"/>
            <a:ext cx="8796273" cy="28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2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0125" y="-426724"/>
            <a:ext cx="6779599" cy="244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273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52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  <p:pic>
        <p:nvPicPr>
          <p:cNvPr id="1993" name="Google Shape;1993;p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7075" y="2500850"/>
            <a:ext cx="6349752" cy="262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4" name="Google Shape;1994;p2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125" y="95276"/>
            <a:ext cx="7075348" cy="23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281"/>
          <p:cNvSpPr txBox="1"/>
          <p:nvPr/>
        </p:nvSpPr>
        <p:spPr>
          <a:xfrm>
            <a:off x="82900" y="496150"/>
            <a:ext cx="6447000" cy="4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DistCA: MLSys’26 accepted! 🎉🎉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Associative memory w/ LLM Agent </a:t>
            </a:r>
            <a:r>
              <a:rPr lang="en" sz="1000">
                <a:solidFill>
                  <a:schemeClr val="dk1"/>
                </a:solidFill>
              </a:rPr>
              <a:t>→ ISLPED March?</a:t>
            </a:r>
            <a:endParaRPr sz="10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Background: Associative memory model </a:t>
            </a:r>
            <a:endParaRPr sz="1100">
              <a:solidFill>
                <a:schemeClr val="dk1"/>
              </a:solidFill>
            </a:endParaRPr>
          </a:p>
          <a:p>
            <a:pPr marL="137160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" sz="800">
                <a:solidFill>
                  <a:srgbClr val="FF0000"/>
                </a:solidFill>
              </a:rPr>
              <a:t>→ </a:t>
            </a:r>
            <a:r>
              <a:rPr lang="en" sz="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Mixture of Million MoE</a:t>
            </a:r>
            <a:r>
              <a:rPr lang="en" sz="800">
                <a:solidFill>
                  <a:schemeClr val="dk1"/>
                </a:solidFill>
              </a:rPr>
              <a:t>: very very sparse MoE to support fine-grain fine tuning</a:t>
            </a:r>
            <a:endParaRPr sz="800">
              <a:solidFill>
                <a:schemeClr val="dk1"/>
              </a:solidFill>
            </a:endParaRPr>
          </a:p>
          <a:p>
            <a:pPr marL="137160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" sz="800">
                <a:solidFill>
                  <a:srgbClr val="FF0000"/>
                </a:solidFill>
              </a:rPr>
              <a:t>→ </a:t>
            </a:r>
            <a:r>
              <a:rPr lang="en" sz="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 Memory Layer</a:t>
            </a:r>
            <a:r>
              <a:rPr lang="en" sz="800">
                <a:solidFill>
                  <a:schemeClr val="dk1"/>
                </a:solidFill>
              </a:rPr>
              <a:t>: Turn MLP → KV-like memory layer</a:t>
            </a:r>
            <a:endParaRPr sz="800">
              <a:solidFill>
                <a:schemeClr val="dk1"/>
              </a:solidFill>
            </a:endParaRPr>
          </a:p>
          <a:p>
            <a:pPr marL="137160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" sz="8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Titan, Miras</a:t>
            </a:r>
            <a:r>
              <a:rPr lang="en" sz="800">
                <a:solidFill>
                  <a:schemeClr val="dk1"/>
                </a:solidFill>
              </a:rPr>
              <a:t>, </a:t>
            </a:r>
            <a:r>
              <a:rPr lang="en" sz="8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Deepseek Engram</a:t>
            </a:r>
            <a:r>
              <a:rPr lang="en" sz="800">
                <a:solidFill>
                  <a:schemeClr val="dk1"/>
                </a:solidFill>
              </a:rPr>
              <a:t>: long-term memory layer (</a:t>
            </a:r>
            <a:r>
              <a:rPr lang="en" sz="800" i="1">
                <a:solidFill>
                  <a:schemeClr val="dk1"/>
                </a:solidFill>
              </a:rPr>
              <a:t>related work, but not focus</a:t>
            </a:r>
            <a:r>
              <a:rPr lang="en" sz="800">
                <a:solidFill>
                  <a:schemeClr val="dk1"/>
                </a:solidFill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Story: 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(memory capacity) Fine-tuning memory layer require massive memory to store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(memory bandwidth / energy) Prefetch KV / MoE experts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Prelim result (back-of-the-envelope): see figures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Next Step: 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Build a better simulator first-order analysis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Reproduce sparse memory layer benchmark → maybe a quick win?</a:t>
            </a:r>
            <a:endParaRPr sz="11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Glass substrate (w/ David + Mingjia) </a:t>
            </a:r>
            <a:r>
              <a:rPr lang="en" sz="1100">
                <a:solidFill>
                  <a:schemeClr val="dk1"/>
                </a:solidFill>
              </a:rPr>
              <a:t>→ Micro April? [260B$]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Advantages: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Multicast read becomes very cheap ⇒ </a:t>
            </a:r>
            <a:endParaRPr sz="1100">
              <a:solidFill>
                <a:schemeClr val="dk1"/>
              </a:solidFill>
            </a:endParaRPr>
          </a:p>
          <a:p>
            <a: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MoE all2all network will be super cheap</a:t>
            </a:r>
            <a:endParaRPr sz="1100">
              <a:solidFill>
                <a:schemeClr val="dk1"/>
              </a:solidFill>
            </a:endParaRPr>
          </a:p>
          <a:p>
            <a:pPr marL="182880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design algorithm to achieve perfect compute &amp; memory balance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Massive memory capacity + hybrid memory ⇒ comp/memory intensive operation specialization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Next step: Need to learn more about hardware limitation for a system problem</a:t>
            </a:r>
            <a:endParaRPr sz="110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Design different network protocol (all2all) → massive MoE acceleration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59" name="Google Shape;2059;p281"/>
          <p:cNvSpPr txBox="1">
            <a:spLocks noGrp="1"/>
          </p:cNvSpPr>
          <p:nvPr>
            <p:ph type="title"/>
          </p:nvPr>
        </p:nvSpPr>
        <p:spPr>
          <a:xfrm>
            <a:off x="196025" y="14825"/>
            <a:ext cx="52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Junda</a:t>
            </a:r>
            <a:endParaRPr/>
          </a:p>
        </p:txBody>
      </p:sp>
      <p:pic>
        <p:nvPicPr>
          <p:cNvPr id="2060" name="Google Shape;2060;p2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7354" y="83675"/>
            <a:ext cx="2434250" cy="176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2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7575" y="135700"/>
            <a:ext cx="2040048" cy="12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2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26322" y="1954451"/>
            <a:ext cx="2530877" cy="10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2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26326" y="3103352"/>
            <a:ext cx="2530877" cy="1051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2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</a:t>
            </a:r>
            <a:endParaRPr/>
          </a:p>
        </p:txBody>
      </p:sp>
      <p:sp>
        <p:nvSpPr>
          <p:cNvPr id="2113" name="Google Shape;2113;p2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DFA"/>
                </a:highlight>
              </a:rPr>
              <a:t>Profiling World Model </a:t>
            </a:r>
            <a:endParaRPr sz="1300">
              <a:solidFill>
                <a:schemeClr val="dk1"/>
              </a:solidFill>
              <a:highlight>
                <a:srgbClr val="FFFDFA"/>
              </a:highlight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HYWorld-8B Teacher Model: Generating Chunk by Chunk, with one chunk = 2.5 seconds.</a:t>
            </a:r>
            <a:endParaRPr sz="1000">
              <a:solidFill>
                <a:schemeClr val="dk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  <a:highlight>
                  <a:srgbClr val="FFFDFA"/>
                </a:highlight>
              </a:rPr>
              <a:t>Multi chunk generation: </a:t>
            </a:r>
            <a:r>
              <a:rPr lang="en" sz="1000">
                <a:solidFill>
                  <a:schemeClr val="dk1"/>
                </a:solidFill>
              </a:rPr>
              <a:t>video length = 10 seconds (4 chunks in total)</a:t>
            </a:r>
            <a:endParaRPr sz="1000">
              <a:solidFill>
                <a:schemeClr val="dk1"/>
              </a:solidFill>
            </a:endParaRPr>
          </a:p>
          <a:p>
            <a:pPr marL="1371600" lvl="2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</a:pPr>
            <a:r>
              <a:rPr lang="en" sz="1000">
                <a:solidFill>
                  <a:schemeClr val="dk1"/>
                </a:solidFill>
              </a:rPr>
              <a:t>Their caching strategy make sure the history chunk at most 2.</a:t>
            </a:r>
            <a:endParaRPr sz="1000">
              <a:solidFill>
                <a:schemeClr val="dk1"/>
              </a:solidFill>
            </a:endParaRPr>
          </a:p>
          <a:p>
            <a:pPr marL="1371600" lvl="2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</a:pPr>
            <a:r>
              <a:rPr lang="en" sz="1000">
                <a:solidFill>
                  <a:schemeClr val="dk1"/>
                </a:solidFill>
              </a:rPr>
              <a:t>So chunks 2 and chunk 3 have similar generation time.</a:t>
            </a:r>
            <a:endParaRPr sz="1000">
              <a:solidFill>
                <a:schemeClr val="dk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GPU: 1 H200 </a:t>
            </a:r>
            <a:endParaRPr sz="1000">
              <a:solidFill>
                <a:schemeClr val="dk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Conclusion: </a:t>
            </a:r>
            <a:endParaRPr sz="1000">
              <a:solidFill>
                <a:schemeClr val="dk1"/>
              </a:solidFill>
            </a:endParaRPr>
          </a:p>
          <a:p>
            <a:pPr marL="1371600" lvl="2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</a:pPr>
            <a:r>
              <a:rPr lang="en" sz="1000">
                <a:solidFill>
                  <a:schemeClr val="dk1"/>
                </a:solidFill>
              </a:rPr>
              <a:t>Highly Compute Bound</a:t>
            </a:r>
            <a:endParaRPr sz="1000">
              <a:solidFill>
                <a:schemeClr val="dk1"/>
              </a:solidFill>
            </a:endParaRPr>
          </a:p>
          <a:p>
            <a:pPr marL="1371600" lvl="2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</a:pPr>
            <a:r>
              <a:rPr lang="en" sz="1000">
                <a:solidFill>
                  <a:schemeClr val="dk1"/>
                </a:solidFill>
              </a:rPr>
              <a:t>attention dominate since it requires another cross attn to add action condition for each transformer block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114" name="Google Shape;2114;p287" title="kernel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99" y="95550"/>
            <a:ext cx="5069800" cy="31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287" title="Screenshot 2026-02-03 at 9.00.4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7400" y="710925"/>
            <a:ext cx="6467895" cy="40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6" name="Google Shape;2116;p287"/>
          <p:cNvPicPr preferRelativeResize="0"/>
          <p:nvPr/>
        </p:nvPicPr>
        <p:blipFill rotWithShape="1">
          <a:blip r:embed="rId5">
            <a:alphaModFix/>
          </a:blip>
          <a:srcRect t="10434"/>
          <a:stretch/>
        </p:blipFill>
        <p:spPr>
          <a:xfrm>
            <a:off x="454350" y="3376650"/>
            <a:ext cx="4072000" cy="16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6211</Words>
  <Application>Microsoft Macintosh PowerPoint</Application>
  <PresentationFormat>On-screen Show (16:9)</PresentationFormat>
  <Paragraphs>639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Helvetica Neue</vt:lpstr>
      <vt:lpstr>Corbel</vt:lpstr>
      <vt:lpstr>Arial</vt:lpstr>
      <vt:lpstr>Noto Sans Symbols</vt:lpstr>
      <vt:lpstr>Georgia</vt:lpstr>
      <vt:lpstr>Calibri</vt:lpstr>
      <vt:lpstr>Simple Light</vt:lpstr>
      <vt:lpstr>Simple Light</vt:lpstr>
      <vt:lpstr>Office Theme</vt:lpstr>
      <vt:lpstr>PowerPoint Presentation</vt:lpstr>
      <vt:lpstr>PowerPoint Presentation</vt:lpstr>
      <vt:lpstr>Mingjia</vt:lpstr>
      <vt:lpstr>PowerPoint Presentation</vt:lpstr>
      <vt:lpstr>PowerPoint Presentation</vt:lpstr>
      <vt:lpstr>Mingjia</vt:lpstr>
      <vt:lpstr>PowerPoint Presentation</vt:lpstr>
      <vt:lpstr>PowerPoint Presentation</vt:lpstr>
      <vt:lpstr>PowerPoint Presentation</vt:lpstr>
      <vt:lpstr>Mingjia</vt:lpstr>
      <vt:lpstr>PowerPoint Presentation</vt:lpstr>
      <vt:lpstr>PowerPoint Presentation</vt:lpstr>
      <vt:lpstr>Mingjia</vt:lpstr>
      <vt:lpstr>PowerPoint Presentation</vt:lpstr>
      <vt:lpstr>PowerPoint Presentation</vt:lpstr>
      <vt:lpstr>PowerPoint Presentation</vt:lpstr>
      <vt:lpstr>PowerPoint Presentation</vt:lpstr>
      <vt:lpstr>Mingjia</vt:lpstr>
      <vt:lpstr>Mingjia</vt:lpstr>
      <vt:lpstr>Junda</vt:lpstr>
      <vt:lpstr>PowerPoint Presentation</vt:lpstr>
      <vt:lpstr>PowerPoint Presentation</vt:lpstr>
      <vt:lpstr>Mingjia</vt:lpstr>
      <vt:lpstr>Junda</vt:lpstr>
      <vt:lpstr>Mingjia</vt:lpstr>
      <vt:lpstr>Junda</vt:lpstr>
      <vt:lpstr>PowerPoint Presentation</vt:lpstr>
      <vt:lpstr>Mingjia</vt:lpstr>
      <vt:lpstr>PowerPoint Presentation</vt:lpstr>
      <vt:lpstr>Junda</vt:lpstr>
      <vt:lpstr>PowerPoint Presentation</vt:lpstr>
      <vt:lpstr>PowerPoint Presentation</vt:lpstr>
      <vt:lpstr>PowerPoint Presentation</vt:lpstr>
      <vt:lpstr>Mingjia</vt:lpstr>
      <vt:lpstr>Junda</vt:lpstr>
      <vt:lpstr>Junda</vt:lpstr>
      <vt:lpstr>Junda</vt:lpstr>
      <vt:lpstr>Junda</vt:lpstr>
      <vt:lpstr>Mingjia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Huo, Mingjia</cp:lastModifiedBy>
  <cp:revision>1</cp:revision>
  <dcterms:modified xsi:type="dcterms:W3CDTF">2026-05-20T23:30:49Z</dcterms:modified>
</cp:coreProperties>
</file>