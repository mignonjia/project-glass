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32">
          <p15:clr>
            <a:srgbClr val="747775"/>
          </p15:clr>
        </p15:guide>
        <p15:guide id="2" pos="29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32" orient="horz"/>
        <p:guide pos="29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slide" Target="slides/slide83.xml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26b1cfc68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26b1cfc68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27c6aab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e27c6aab4d_0_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26b1cfc68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e26b1cfc68_2_4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26b1cfc68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e26b1cfc68_2_5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26b1cfc68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26b1cfc68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26b1cfc68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26b1cfc68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26b1cfc68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26b1cfc68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26b1cfc68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26b1cfc68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 this is known as “unit interposer”. But I replaced this term with “tile” so that it is easier to be understood and said.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26b1cfc68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26b1cfc68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VC-AD-RTR is shortened as “racetrack”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Piezoelectric MEMS is shortened as “piezo-mems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reason the racetrack is so big is because the light has to travel a certain distance inside the racetrack. HOwever I was told that it doesn’t have to be racetrack shape which may reduce its footprint.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26b1cfc68_2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26b1cfc68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26b1cfc68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26b1cfc68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26b1cfc68_2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26b1cfc68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26b1cfc68_2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26b1cfc68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26b1cfc68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26b1cfc68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26b1cfc68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26b1cfc68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26b1cfc68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26b1cfc68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26b1cfc68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26b1cfc68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29038a2ca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29038a2ca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670824646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e670824646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670824646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e670824646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987051b4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987051b4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987051b4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987051b4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987051b4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987051b4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987051b4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d987051b4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987051b4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987051b4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987051b4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987051b4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987051b4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987051b4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987051b4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d987051b4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987051b4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987051b4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987051b4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987051b4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e67082464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e6708246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26b1cfc68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26b1cfc68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670824646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670824646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26b1cfc68_2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e26b1cfc68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26b1cfc68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26b1cfc68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35ec80c2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d35ec80c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35ec80c2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d35ec80c24_0_1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35ec80c2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d35ec80c2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35ec80c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d35ec80c24_0_2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35ec80c2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d35ec80c2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Char char="○"/>
            </a:pPr>
            <a:r>
              <a:rPr lang="en">
                <a:solidFill>
                  <a:srgbClr val="4285F4"/>
                </a:solidFill>
              </a:rPr>
              <a:t>where it modulates the refractive index of the ring via the χ(3) DC-Kerr effect — shifting the resonant wavelength slightly, which intensity-modulates the CW optical carrier at that wavelength passing through the adjacent waveguide.</a:t>
            </a:r>
            <a:endParaRPr>
              <a:solidFill>
                <a:srgbClr val="4285F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35ec80c2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35ec80c2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35ec80c2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35ec80c2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35ec80c2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35ec80c2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35ec80c2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35ec80c2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35ec80c2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d35ec80c2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35ec80c2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d35ec80c2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35ec80c2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d35ec80c2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35ec80c2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35ec80c2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35ec80c2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35ec80c2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35ec80c2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35ec80c2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d35ec80c2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d35ec80c2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35ec80c2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35ec80c2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cd118d0f0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cd118d0f0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35ec80c2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35ec80c2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d35ec80c2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d35ec80c2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d35ec80c24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d35ec80c24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dcd118d0f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dcd118d0f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cd118d0f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cd118d0f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cd118d0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dcd118d0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cd118d0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dcd118d0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cd118d0f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dcd118d0f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cd118d0f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dcd118d0f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cd118d0f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dcd118d0f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dcd118d0f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dcd118d0f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c487966dc1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c487966dc1_0_45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d04090bde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d04090bde2_0_2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48503214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c48503214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c487966dc1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c487966dc1_0_24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c487966dc1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c487966dc1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c487966dc1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c487966dc1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987051b4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d987051b4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c487966dc1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c487966dc1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d04090bd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d04090bd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04090bde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d04090bde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487966dc1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c487966dc1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c48503214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c48503214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d04090bde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d04090bde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d04090bde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d04090bde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d04090bde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d04090bde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c487966d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c487966dc1_0_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c487966dc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3c487966dc1_0_11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c487966dc1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c487966dc1_0_34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pg.optica.org/oe/viewmedia.cfm?uri=oe-18-10-9852&amp;html=true" TargetMode="External"/><Relationship Id="rId4" Type="http://schemas.openxmlformats.org/officeDocument/2006/relationships/hyperlink" Target="https://opg.optica.org/prj/fulltext.cfm?uri=prj-14-4-1625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9.png"/><Relationship Id="rId4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arxiv.org/pdf/2603.07373" TargetMode="External"/><Relationship Id="rId4" Type="http://schemas.openxmlformats.org/officeDocument/2006/relationships/hyperlink" Target="https://webee.technion.ac.il/~isaac/p/nl26_scheduling.pdf" TargetMode="External"/><Relationship Id="rId5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3.png"/><Relationship Id="rId4" Type="http://schemas.openxmlformats.org/officeDocument/2006/relationships/image" Target="../media/image2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6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7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GlassML: Panel-Scale Glass Interposer with Integrated</a:t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Reconfigurable Optics for Extreme-Scale ML</a:t>
            </a:r>
            <a:endParaRPr b="1" sz="2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PRISM TTA</a:t>
            </a:r>
            <a:endParaRPr sz="3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Yue Pan, Junda Chen, Mingjia Huo, Zihan Xia, Jaewon Lee</a:t>
            </a:r>
            <a:endParaRPr sz="3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PIs: Tajana Rosing, Mingu Kang, Keren Bergman, Madhavan Swaminathan, Ning Li</a:t>
            </a:r>
            <a:endParaRPr sz="3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80073" y="788670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Workloads Needs Infrastructure to Scale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Agentic Workloads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Personal assistant (OpenClaw), coding agent(Claude Code), computer-use agents (CUA)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Inference</a:t>
            </a:r>
            <a:r>
              <a:rPr lang="en" sz="1100">
                <a:solidFill>
                  <a:schemeClr val="dk1"/>
                </a:solidFill>
              </a:rPr>
              <a:t>: Long-horizon, long context, high concurrency demand, low per-user token latency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Training</a:t>
            </a:r>
            <a:r>
              <a:rPr lang="en" sz="1100">
                <a:solidFill>
                  <a:schemeClr val="dk1"/>
                </a:solidFill>
              </a:rPr>
              <a:t>: larger models (e.g. est GPT 5T parameters), Reinforcement Learning (RL)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World Model 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Video / physics / embodied world models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Inference</a:t>
            </a:r>
            <a:r>
              <a:rPr lang="en" sz="1100">
                <a:solidFill>
                  <a:schemeClr val="dk1"/>
                </a:solidFill>
              </a:rPr>
              <a:t>: real-time simulation to “think” and act smartly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Training</a:t>
            </a:r>
            <a:r>
              <a:rPr lang="en" sz="1100">
                <a:solidFill>
                  <a:schemeClr val="dk1"/>
                </a:solidFill>
              </a:rPr>
              <a:t>: massive activation + KV traffic across thousands of GPUs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Demand to Infrastructure</a:t>
            </a:r>
            <a:endParaRPr b="1"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100">
                <a:solidFill>
                  <a:schemeClr val="dk1"/>
                </a:solidFill>
              </a:rPr>
              <a:t>High memory bandwidth and capacity (KV caches, model weight)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 network bandwidth (KV transfer, disaggregated prefill/decode, expert routing)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" sz="1100">
                <a:solidFill>
                  <a:schemeClr val="dk1"/>
                </a:solidFill>
              </a:rPr>
              <a:t>Not necessarily always more compute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457200" lvl="0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⇒ Absolute challenge for today’s infrastructure!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0250" y="511225"/>
            <a:ext cx="1960976" cy="168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550" y="2383125"/>
            <a:ext cx="2110676" cy="14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80073" y="788670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Workloads Are Outgrowing Infrastructure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Capacity wall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Trillion-param LLMs far exceed single-node VRAM (DeepSeek-V3: ~0.7 TB, Kimi-K2: ~2 TB)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Workarounds such as activation checkpointing recovers memory at the cost of 33% runtime overhead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Workarounds tax throughput: activation checkpointing has ~33% throughput </a:t>
            </a:r>
            <a:r>
              <a:rPr lang="en" sz="1100">
                <a:solidFill>
                  <a:schemeClr val="dk1"/>
                </a:solidFill>
              </a:rPr>
              <a:t>penalty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CPU offloading interrupts the training pipeline and incurs PCIe-bound stalls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Bandwidth wall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Limited size of high-bandwidth domain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Communications such as all-to-all in MoE training takes </a:t>
            </a:r>
            <a:r>
              <a:rPr b="1" lang="en" sz="1100">
                <a:solidFill>
                  <a:schemeClr val="dk1"/>
                </a:solidFill>
              </a:rPr>
              <a:t>33–55%</a:t>
            </a:r>
            <a:r>
              <a:rPr lang="en" sz="1100">
                <a:solidFill>
                  <a:schemeClr val="dk1"/>
                </a:solidFill>
              </a:rPr>
              <a:t> of iteration time [MixNet, SIGCOMM'25]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Static topology cannot match drifting, non-uniform traffic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Scaling wall</a:t>
            </a:r>
            <a:endParaRPr b="1"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100">
                <a:solidFill>
                  <a:schemeClr val="dk1"/>
                </a:solidFill>
              </a:rPr>
              <a:t>Silicon substrate area has stagnated at 12-inch wafer for decades</a:t>
            </a:r>
            <a:endParaRPr sz="1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100">
                <a:solidFill>
                  <a:schemeClr val="dk1"/>
                </a:solidFill>
              </a:rPr>
              <a:t>Wafer-scale processors require monolithic fabrication, preventing post-fab integration of heterogeneous known-good dies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480073" y="240030"/>
            <a:ext cx="7201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" name="Google Shape;77;p16"/>
          <p:cNvSpPr txBox="1"/>
          <p:nvPr/>
        </p:nvSpPr>
        <p:spPr>
          <a:xfrm>
            <a:off x="3697248" y="4626015"/>
            <a:ext cx="8229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Panelscale Glass </a:t>
            </a:r>
            <a:r>
              <a:rPr lang="en" sz="2500"/>
              <a:t>Interposer</a:t>
            </a:r>
            <a:endParaRPr sz="250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301425"/>
            <a:ext cx="8520600" cy="3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“An NVL rack on a panel”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Panel-Level Packaging (PLP) uses 50cm x 50cm glass panel as a packaging solution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Enabling much </a:t>
            </a:r>
            <a:r>
              <a:rPr lang="en" sz="1200">
                <a:solidFill>
                  <a:schemeClr val="dk1"/>
                </a:solidFill>
              </a:rPr>
              <a:t>larger</a:t>
            </a:r>
            <a:r>
              <a:rPr lang="en" sz="1200">
                <a:solidFill>
                  <a:schemeClr val="dk1"/>
                </a:solidFill>
              </a:rPr>
              <a:t> scale of integration in a single substrate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Heterogeneous compute and </a:t>
            </a:r>
            <a:r>
              <a:rPr lang="en" sz="1200">
                <a:solidFill>
                  <a:schemeClr val="dk1"/>
                </a:solidFill>
              </a:rPr>
              <a:t>memory</a:t>
            </a:r>
            <a:r>
              <a:rPr lang="en" sz="1200">
                <a:solidFill>
                  <a:schemeClr val="dk1"/>
                </a:solidFill>
              </a:rPr>
              <a:t> integration: xPUs, HBM, 3D-DRAM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Optical </a:t>
            </a:r>
            <a:r>
              <a:rPr b="1" lang="en" sz="1200">
                <a:solidFill>
                  <a:schemeClr val="dk1"/>
                </a:solidFill>
              </a:rPr>
              <a:t>integration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At the distance of 50cm by 50cm, copper-based interconnect cannot sustain without loss and </a:t>
            </a:r>
            <a:r>
              <a:rPr lang="en" sz="1200">
                <a:solidFill>
                  <a:schemeClr val="dk1"/>
                </a:solidFill>
              </a:rPr>
              <a:t>repeater</a:t>
            </a:r>
            <a:r>
              <a:rPr lang="en" sz="1200">
                <a:solidFill>
                  <a:schemeClr val="dk1"/>
                </a:solidFill>
              </a:rPr>
              <a:t> overhead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Optical </a:t>
            </a:r>
            <a:r>
              <a:rPr lang="en" sz="1200">
                <a:solidFill>
                  <a:schemeClr val="dk1"/>
                </a:solidFill>
              </a:rPr>
              <a:t>communication</a:t>
            </a:r>
            <a:r>
              <a:rPr lang="en" sz="1200">
                <a:solidFill>
                  <a:schemeClr val="dk1"/>
                </a:solidFill>
              </a:rPr>
              <a:t> using embedded </a:t>
            </a:r>
            <a:r>
              <a:rPr lang="en" sz="1200">
                <a:solidFill>
                  <a:schemeClr val="dk1"/>
                </a:solidFill>
              </a:rPr>
              <a:t>waveguides enables repeater-free communication across panel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" sz="2500"/>
              <a:t>GlassML Architecture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2508750" y="4722375"/>
            <a:ext cx="41265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64 GPUs laid out on a 50cm x 50cm panel in 8x8 mesh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175" y="944575"/>
            <a:ext cx="5247626" cy="37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Interposer Overview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463" y="1143421"/>
            <a:ext cx="4878073" cy="366930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5416658" y="918500"/>
            <a:ext cx="1179900" cy="3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66FF"/>
                </a:solidFill>
              </a:rPr>
              <a:t>Input Laser</a:t>
            </a:r>
            <a:endParaRPr b="1">
              <a:solidFill>
                <a:srgbClr val="9966FF"/>
              </a:solidFill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7254709" y="1863919"/>
            <a:ext cx="1231200" cy="3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66FF"/>
                </a:solidFill>
              </a:rPr>
              <a:t>Input Laser</a:t>
            </a:r>
            <a:endParaRPr b="1">
              <a:solidFill>
                <a:srgbClr val="9966FF"/>
              </a:solidFill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3074741" y="2378415"/>
            <a:ext cx="8991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Tile</a:t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4397987" y="2378415"/>
            <a:ext cx="899100" cy="4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Tile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967575" y="2291425"/>
            <a:ext cx="899100" cy="652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Optical Switching Crossbar</a:t>
            </a: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6372938" y="3203798"/>
            <a:ext cx="1351500" cy="39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9BC61"/>
                </a:solidFill>
              </a:rPr>
              <a:t>Horizontal WGs</a:t>
            </a:r>
            <a:endParaRPr b="1">
              <a:solidFill>
                <a:srgbClr val="39BC61"/>
              </a:solidFill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2566964" y="4398606"/>
            <a:ext cx="1179900" cy="26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5B1EE"/>
                </a:solidFill>
              </a:rPr>
              <a:t>Vertical WGs</a:t>
            </a:r>
            <a:endParaRPr b="1">
              <a:solidFill>
                <a:srgbClr val="05B1EE"/>
              </a:solidFill>
            </a:endParaRPr>
          </a:p>
        </p:txBody>
      </p:sp>
      <p:cxnSp>
        <p:nvCxnSpPr>
          <p:cNvPr id="100" name="Google Shape;100;p18"/>
          <p:cNvCxnSpPr>
            <a:stCxn id="97" idx="3"/>
          </p:cNvCxnSpPr>
          <p:nvPr/>
        </p:nvCxnSpPr>
        <p:spPr>
          <a:xfrm flipH="1" rot="10800000">
            <a:off x="1866675" y="2108875"/>
            <a:ext cx="1202400" cy="50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8"/>
          <p:cNvSpPr/>
          <p:nvPr/>
        </p:nvSpPr>
        <p:spPr>
          <a:xfrm>
            <a:off x="1069423" y="4207450"/>
            <a:ext cx="1351500" cy="6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Top-down View</a:t>
            </a:r>
            <a:endParaRPr b="1" sz="1500"/>
          </a:p>
        </p:txBody>
      </p:sp>
      <p:sp>
        <p:nvSpPr>
          <p:cNvPr id="102" name="Google Shape;102;p18"/>
          <p:cNvSpPr txBox="1"/>
          <p:nvPr/>
        </p:nvSpPr>
        <p:spPr>
          <a:xfrm>
            <a:off x="4065150" y="4732850"/>
            <a:ext cx="1351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50cm x 50cm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Interposer Components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Tile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0000"/>
                </a:solidFill>
              </a:rPr>
              <a:t>Carved slots on the glass panel to contain PIC, EIC, and switching fabric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EIC (Electronic Integrated Chip)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Examples: </a:t>
            </a:r>
            <a:r>
              <a:rPr lang="en" sz="1200">
                <a:solidFill>
                  <a:schemeClr val="dk1"/>
                </a:solidFill>
              </a:rPr>
              <a:t>xPUs, memories, accelerators, CPUs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Known-Good Dies (KGD) integration – allowing standalone xPU testing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PIC (Photonic Integrated Chip)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EIC’s photonic interface – handles electric to optical</a:t>
            </a:r>
            <a:r>
              <a:rPr lang="en" sz="1200">
                <a:solidFill>
                  <a:schemeClr val="dk1"/>
                </a:solidFill>
              </a:rPr>
              <a:t> (E/O) conversions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Each E/O converters connects on exactly one signal pin on the xPU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Waveguides (WG)	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Carries light signal, akin to a light fiber and are embedded into or deposited on top of glass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WDM (Wavelength-Division Multiplexing) can be used to improve per-WG </a:t>
            </a:r>
            <a:r>
              <a:rPr lang="en" sz="1200">
                <a:solidFill>
                  <a:schemeClr val="dk1"/>
                </a:solidFill>
              </a:rPr>
              <a:t>bandwidth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825" y="3451375"/>
            <a:ext cx="7067076" cy="16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311700" y="4201650"/>
            <a:ext cx="663000" cy="6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Side 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View</a:t>
            </a:r>
            <a:endParaRPr b="1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Interposer Tile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4465700" y="1975742"/>
            <a:ext cx="46191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Example: H100 GPU as EIC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EIC and xbar switching are connected via microbumps to allow data communication between EICs in different unit interposers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Traditional EIC layout can be preserved and allows integration of Known-Good Dies (KGD)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75" y="1272750"/>
            <a:ext cx="3795151" cy="33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Switching fabric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At each tile</a:t>
            </a:r>
            <a:r>
              <a:rPr lang="en" sz="1300">
                <a:solidFill>
                  <a:schemeClr val="dk1"/>
                </a:solidFill>
              </a:rPr>
              <a:t>, horizontal WGs and verticals WGs form intersections inside the glass.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</a:rPr>
              <a:t>Option 1: Vertically-Coupled Add-Drop </a:t>
            </a:r>
            <a:r>
              <a:rPr i="1" lang="en" sz="1300" u="sng">
                <a:solidFill>
                  <a:schemeClr val="dk1"/>
                </a:solidFill>
              </a:rPr>
              <a:t>Racetrack </a:t>
            </a:r>
            <a:r>
              <a:rPr lang="en" sz="1300" u="sng">
                <a:solidFill>
                  <a:schemeClr val="dk1"/>
                </a:solidFill>
              </a:rPr>
              <a:t>Resonator (</a:t>
            </a:r>
            <a:r>
              <a:rPr lang="en" sz="1300" u="sng">
                <a:solidFill>
                  <a:schemeClr val="dk1"/>
                </a:solidFill>
              </a:rPr>
              <a:t>VC-AD-RTR</a:t>
            </a:r>
            <a:r>
              <a:rPr lang="en" sz="1300" u="sng">
                <a:solidFill>
                  <a:schemeClr val="dk1"/>
                </a:solidFill>
              </a:rPr>
              <a:t>)</a:t>
            </a:r>
            <a:endParaRPr sz="13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2 </a:t>
            </a:r>
            <a:r>
              <a:rPr lang="en" sz="1300">
                <a:solidFill>
                  <a:schemeClr val="dk1"/>
                </a:solidFill>
              </a:rPr>
              <a:t>Racetracks are placed at each crossing of vertical and horizontal links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Broadband </a:t>
            </a:r>
            <a:r>
              <a:rPr lang="en" sz="1300">
                <a:solidFill>
                  <a:schemeClr val="dk1"/>
                </a:solidFill>
              </a:rPr>
              <a:t>switching for all WDM channels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between any direction of the optical crossbar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Reconfiguration time: &lt;10us [Optical </a:t>
            </a:r>
            <a:r>
              <a:rPr lang="en" sz="1300">
                <a:solidFill>
                  <a:schemeClr val="dk1"/>
                </a:solidFill>
              </a:rPr>
              <a:t>Express’10</a:t>
            </a:r>
            <a:r>
              <a:rPr lang="en" sz="1300">
                <a:solidFill>
                  <a:schemeClr val="dk1"/>
                </a:solidFill>
              </a:rPr>
              <a:t>]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dk1"/>
                </a:solidFill>
              </a:rPr>
              <a:t>Option 2: Piezoelectric MEMS </a:t>
            </a:r>
            <a:endParaRPr sz="1300" u="sng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Tiny mechanical switch at each crossing that bends a waveguide into place to route light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Works for all WDM channels at once, no per-wavelength tuning needed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Sub-microsecond switching [Photonic Research’26]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0" y="4783725"/>
            <a:ext cx="377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[Optical Express’10] </a:t>
            </a:r>
            <a:r>
              <a:rPr lang="en" sz="600" u="sng">
                <a:solidFill>
                  <a:schemeClr val="hlink"/>
                </a:solidFill>
                <a:hlinkClick r:id="rId3"/>
              </a:rPr>
              <a:t>https://opg.optica.org/oe/viewmedia.cfm?uri=oe-18-10-9852&amp;html=true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[Photonic Research’26] </a:t>
            </a:r>
            <a:r>
              <a:rPr lang="en" sz="600" u="sng">
                <a:solidFill>
                  <a:schemeClr val="hlink"/>
                </a:solidFill>
                <a:hlinkClick r:id="rId4"/>
              </a:rPr>
              <a:t>https://opg.optica.org/prj/fulltext.cfm?uri=prj-14-4-1625</a:t>
            </a:r>
            <a:endParaRPr sz="600"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7675" y="858726"/>
            <a:ext cx="1874625" cy="150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6995325" y="2295700"/>
            <a:ext cx="17166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Racetrack</a:t>
            </a:r>
            <a:r>
              <a:rPr lang="en" sz="1300">
                <a:solidFill>
                  <a:schemeClr val="dk1"/>
                </a:solidFill>
              </a:rPr>
              <a:t>-based Switching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9099" y="3580802"/>
            <a:ext cx="2670950" cy="126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6216475" y="4751700"/>
            <a:ext cx="29628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Piezo-MEMS</a:t>
            </a:r>
            <a:r>
              <a:rPr lang="en" sz="1300">
                <a:solidFill>
                  <a:schemeClr val="dk1"/>
                </a:solidFill>
              </a:rPr>
              <a:t>-based Switching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Panel Routing Infrastructure</a:t>
            </a:r>
            <a:endParaRPr/>
          </a:p>
        </p:txBody>
      </p:sp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272850" y="113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6693600" y="2775225"/>
            <a:ext cx="2450400" cy="15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400" y="977025"/>
            <a:ext cx="6308051" cy="35759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/>
        </p:nvSpPr>
        <p:spPr>
          <a:xfrm>
            <a:off x="2810850" y="4391900"/>
            <a:ext cx="197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Example 8x8 xbar shown.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GlassML Routing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77500" y="1152475"/>
            <a:ext cx="845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Reconfiguration optical interconnect require optical circuit switching, different from packet switching commonly used in copper-based interconnect. 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12026"/>
          <a:stretch/>
        </p:blipFill>
        <p:spPr>
          <a:xfrm>
            <a:off x="311700" y="1725175"/>
            <a:ext cx="5057848" cy="32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5442300" y="1807875"/>
            <a:ext cx="3701700" cy="30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Resource contention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WG, Rx Tx E/O converters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Brown and red communication paths must not take place simultaneously using the same WG 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The two red communication paths can take place simultaneously on the same WG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Bandwidth reconfigurability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Each node-pair can be allocated different bandwidth depending on needs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Routing algorithm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Given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Any collective </a:t>
            </a:r>
            <a:r>
              <a:rPr lang="en" sz="1200">
                <a:solidFill>
                  <a:schemeClr val="dk1"/>
                </a:solidFill>
              </a:rPr>
              <a:t>communication</a:t>
            </a:r>
            <a:r>
              <a:rPr lang="en" sz="1200">
                <a:solidFill>
                  <a:schemeClr val="dk1"/>
                </a:solidFill>
              </a:rPr>
              <a:t> can be expressed with a d</a:t>
            </a:r>
            <a:r>
              <a:rPr lang="en" sz="1200">
                <a:solidFill>
                  <a:schemeClr val="dk1"/>
                </a:solidFill>
              </a:rPr>
              <a:t>emand matrix D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Reconfiguration latency δ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Find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 set of permutations {P_1 … P_k} and durations {d_1 … d_k} such that ∑ₖ dₖ · Pₖ ≥ D, thus completing the communication demand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Pₖ</a:t>
            </a:r>
            <a:r>
              <a:rPr lang="en" sz="1200">
                <a:solidFill>
                  <a:schemeClr val="dk1"/>
                </a:solidFill>
              </a:rPr>
              <a:t> is an N×N permutation matrix of 1 and 0s that denotes the connections between GPU pairs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Goal is to </a:t>
            </a:r>
            <a:r>
              <a:rPr b="1" lang="en" sz="1200">
                <a:solidFill>
                  <a:schemeClr val="dk1"/>
                </a:solidFill>
              </a:rPr>
              <a:t>minimize</a:t>
            </a:r>
            <a:r>
              <a:rPr lang="en" sz="1200">
                <a:solidFill>
                  <a:schemeClr val="dk1"/>
                </a:solidFill>
              </a:rPr>
              <a:t> the makespan, M = ∑ₖ dₖ + δ · K </a:t>
            </a:r>
            <a:br>
              <a:rPr lang="en" sz="1200">
                <a:solidFill>
                  <a:schemeClr val="dk1"/>
                </a:solidFill>
              </a:rPr>
            </a:br>
            <a:r>
              <a:rPr b="1" lang="en" sz="1200">
                <a:solidFill>
                  <a:schemeClr val="dk1"/>
                </a:solidFill>
              </a:rPr>
              <a:t>makespan</a:t>
            </a:r>
            <a:r>
              <a:rPr lang="en" sz="1200">
                <a:solidFill>
                  <a:schemeClr val="dk1"/>
                </a:solidFill>
              </a:rPr>
              <a:t> is the wall-clock time from the start of the communication until all demand has been delivered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2258200" y="4813200"/>
            <a:ext cx="4668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Example of a permutation and corresponding circuit setup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412" y="2972500"/>
            <a:ext cx="3565175" cy="18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30300" y="540700"/>
            <a:ext cx="349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Problem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183250"/>
            <a:ext cx="8402700" cy="33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Collective communication between ranks (participating xPUs) can be expressed as a demand matrix D.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 of size {N, N}, where N is the number of ranks in the system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D[i, j] denotes the number of bytes to be communicated between xPUs GPU_i to GPU_j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875" y="2061475"/>
            <a:ext cx="3101348" cy="29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4271350" y="2196525"/>
            <a:ext cx="50712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example: demand matrix from Qwen3-235B A22B LLM training using EP64. Layer 0, 32K sequence, MoE all to all communication.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Non-deterministic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Non-uniform, see popular experts (darker columns)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62" name="Google Shape;16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5975" y="3640825"/>
            <a:ext cx="1548027" cy="150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 txBox="1"/>
          <p:nvPr/>
        </p:nvSpPr>
        <p:spPr>
          <a:xfrm>
            <a:off x="3698500" y="3326275"/>
            <a:ext cx="50712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example: demand matrix from Deepseek V3 TP8 EP8 training, showing the TP all reduce communication.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Deterministic and can be worked out beforehand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Clear TP domain from the visualization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Routing with Parallel Planes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Idea: allow </a:t>
            </a:r>
            <a:r>
              <a:rPr b="1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 (smaller) switching planes that can reconfigure independently.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example, consider an 2x2 mesh of 4 GPUs, each GPU with 4 TX RX WGs.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G=1: single plane, 1x 8x8 xbar per tile with 64 cross points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G=2: 2 planes, 2x 4x4 xbars per tile with 32 cross points each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G=4: 4 planes, 4x 2x2 xbars per tile with 4 cross points each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More parallel planes reduces the crossbar complexity by G (number of cross points) and hides reconfiguration latency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100" y="2864975"/>
            <a:ext cx="4881800" cy="20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Preliminary Evaluations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System architecture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GPU baseline 1: 64 H100 GPUs as 8 nodes with 8-rail </a:t>
            </a:r>
            <a:r>
              <a:rPr lang="en" sz="1200">
                <a:solidFill>
                  <a:schemeClr val="dk1"/>
                </a:solidFill>
              </a:rPr>
              <a:t>400 Gbps</a:t>
            </a:r>
            <a:r>
              <a:rPr lang="en" sz="1200">
                <a:solidFill>
                  <a:schemeClr val="dk1"/>
                </a:solidFill>
              </a:rPr>
              <a:t> IB network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GPU baseline 2: hypothetical “NVL64” system with non-blocking NVLink Gen 4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GlassML: 64 H100 GPUs on a single panel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Wavelength-Division Multiplexing (WDM) –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32-channel WDM @ 32Gbps per channel and 8 switching planes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32-channel WDM @ 56Gbps per channel and 8 switching planes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32-channel WDM @ 112Gbps per channel and 8 switching planes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Workload evaluations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Most skewed layer profiled from Qwen3-235B MoE training stage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Qwen3-30B-A3B training iteration time – </a:t>
            </a:r>
            <a:r>
              <a:rPr lang="en" sz="1200">
                <a:solidFill>
                  <a:schemeClr val="dk1"/>
                </a:solidFill>
              </a:rPr>
              <a:t>PP2 TP4 EP8 @ 8k seqlen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</a:t>
            </a:r>
            <a:r>
              <a:rPr lang="en"/>
              <a:t>Performance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325" y="1564488"/>
            <a:ext cx="6485049" cy="324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to end </a:t>
            </a:r>
            <a:r>
              <a:rPr lang="en"/>
              <a:t>training</a:t>
            </a:r>
            <a:r>
              <a:rPr lang="en"/>
              <a:t> performance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875" y="977650"/>
            <a:ext cx="7290251" cy="400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assumptions</a:t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We consider system orchestrations that duplicates the interconnect performance of B200 NVL72 system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64 GPUs arranged as a 8x8 2D mesh (“NVL64”)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Per-WG capacity: ~1 Tb/s, so each GPU exposes </a:t>
            </a:r>
            <a:r>
              <a:rPr b="1" lang="en" sz="1200">
                <a:solidFill>
                  <a:schemeClr val="dk1"/>
                </a:solidFill>
              </a:rPr>
              <a:t>7 TX WGs + 7 RX WGs</a:t>
            </a:r>
            <a:r>
              <a:rPr lang="en" sz="1200">
                <a:solidFill>
                  <a:schemeClr val="dk1"/>
                </a:solidFill>
              </a:rPr>
              <a:t> (14 WGs total) to match Blackwell NVLink bandwidth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Each GPU interface: </a:t>
            </a:r>
            <a:r>
              <a:rPr b="1" lang="en" sz="1200">
                <a:solidFill>
                  <a:schemeClr val="dk1"/>
                </a:solidFill>
              </a:rPr>
              <a:t>1.8 TB/s</a:t>
            </a:r>
            <a:r>
              <a:rPr lang="en" sz="1200">
                <a:solidFill>
                  <a:schemeClr val="dk1"/>
                </a:solidFill>
              </a:rPr>
              <a:t> = 0.9 TB/s TX + 0.9 TB/s RX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Bisection bandwidth requirement: 72 × 1.8 TB/s = </a:t>
            </a:r>
            <a:r>
              <a:rPr b="1" lang="en" sz="1200">
                <a:solidFill>
                  <a:schemeClr val="dk1"/>
                </a:solidFill>
              </a:rPr>
              <a:t>130 TB/s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Panel Routing Infrastructure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272850" y="113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3547800" y="4552975"/>
            <a:ext cx="2078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Example 8x8 Panel shown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875" y="1315550"/>
            <a:ext cx="3183100" cy="31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Interposer</a:t>
            </a:r>
            <a:endParaRPr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4524800" y="1951625"/>
            <a:ext cx="4619100" cy="21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Example: A100 GPU as EIC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EIC and xbar switching are connected via microbumps to allow data communication between EICs in different unit interposers.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Local communications, e.g. xPU to HBM can also utilize a portion of WG instead of silicon interposer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231" name="Google Shape;231;p35"/>
          <p:cNvPicPr preferRelativeResize="0"/>
          <p:nvPr/>
        </p:nvPicPr>
        <p:blipFill rotWithShape="1">
          <a:blip r:embed="rId3">
            <a:alphaModFix/>
          </a:blip>
          <a:srcRect b="0" l="0" r="6664" t="0"/>
          <a:stretch/>
        </p:blipFill>
        <p:spPr>
          <a:xfrm>
            <a:off x="73250" y="1066975"/>
            <a:ext cx="4556026" cy="40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Switching fabric</a:t>
            </a:r>
            <a:endParaRPr/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At each unit interposer, horizontal optical links and verticals links cross each other.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Vertically-Coupled Add-Drop Racetrack Resonator (VC-AD-RTR) are used for switching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Racetrack are placed at each crossing of vertical and horizontal links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Racetrack can be reconfigured to individually control each crossing node routing (go straight or turn)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Per-waveguide</a:t>
            </a:r>
            <a:r>
              <a:rPr lang="en" sz="1300">
                <a:solidFill>
                  <a:schemeClr val="dk1"/>
                </a:solidFill>
              </a:rPr>
              <a:t> routing is achieved between any direction of the optical crossbar (d)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38" name="Google Shape;23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40"/>
            <a:ext cx="9144000" cy="2589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Panel Routing Infrastructure</a:t>
            </a:r>
            <a:endParaRPr/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272850" y="1136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3537" y="1252575"/>
            <a:ext cx="1068225" cy="14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7"/>
          <p:cNvSpPr txBox="1"/>
          <p:nvPr/>
        </p:nvSpPr>
        <p:spPr>
          <a:xfrm>
            <a:off x="6693600" y="2775225"/>
            <a:ext cx="2450400" cy="15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 single crosspoint is made up uses two racetrack resonators to enable all turning and through directions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751" y="1056800"/>
            <a:ext cx="6353901" cy="357595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7"/>
          <p:cNvSpPr txBox="1"/>
          <p:nvPr/>
        </p:nvSpPr>
        <p:spPr>
          <a:xfrm>
            <a:off x="1913975" y="4429150"/>
            <a:ext cx="19707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Example 8x8 xbar shown.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Problem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Collective </a:t>
            </a:r>
            <a:r>
              <a:rPr b="1" lang="en" sz="1200">
                <a:solidFill>
                  <a:schemeClr val="dk1"/>
                </a:solidFill>
              </a:rPr>
              <a:t>communications</a:t>
            </a:r>
            <a:r>
              <a:rPr b="1" lang="en" sz="1200">
                <a:solidFill>
                  <a:schemeClr val="dk1"/>
                </a:solidFill>
              </a:rPr>
              <a:t> in LLM training/inference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LLMs are too large to fit into a single GPUs, hence various </a:t>
            </a:r>
            <a:r>
              <a:rPr i="1" lang="en" sz="1200">
                <a:solidFill>
                  <a:schemeClr val="dk1"/>
                </a:solidFill>
              </a:rPr>
              <a:t>parallelisms</a:t>
            </a:r>
            <a:r>
              <a:rPr lang="en" sz="1200">
                <a:solidFill>
                  <a:schemeClr val="dk1"/>
                </a:solidFill>
              </a:rPr>
              <a:t> are used to split the model across multiple GPUs for the whole system to contain the model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TP / Tensor Parallel (hidden_dim): splits the MLP model weights across multiple GPUs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PP / Pipeline Parallel (num_layers): splits the model according to layers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EP / Expert Parallel: distributes expert weights across multiple GPUs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CP / Context Parallel (seq_len): splits the sequence dimension across multiple GPUs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We focus on TP and EP as they are adopted the most in </a:t>
            </a:r>
            <a:r>
              <a:rPr lang="en" sz="1200">
                <a:solidFill>
                  <a:schemeClr val="dk1"/>
                </a:solidFill>
              </a:rPr>
              <a:t>training</a:t>
            </a:r>
            <a:r>
              <a:rPr lang="en" sz="1200">
                <a:solidFill>
                  <a:schemeClr val="dk1"/>
                </a:solidFill>
              </a:rPr>
              <a:t> / inference systems, especially for MoE models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Problem</a:t>
            </a:r>
            <a:endParaRPr/>
          </a:p>
        </p:txBody>
      </p:sp>
      <p:sp>
        <p:nvSpPr>
          <p:cNvPr id="260" name="Google Shape;26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TP / Tensor Parallelism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Introduces two all-</a:t>
            </a:r>
            <a:r>
              <a:rPr lang="en" sz="1200">
                <a:solidFill>
                  <a:schemeClr val="dk1"/>
                </a:solidFill>
              </a:rPr>
              <a:t>reduces before and after the MLP block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EP / Expert Parallelism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Introduces two all-to-all before and after the expert MLP module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61" name="Google Shape;2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150" y="1645575"/>
            <a:ext cx="4779475" cy="89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9"/>
          <p:cNvPicPr preferRelativeResize="0"/>
          <p:nvPr/>
        </p:nvPicPr>
        <p:blipFill rotWithShape="1">
          <a:blip r:embed="rId4">
            <a:alphaModFix/>
          </a:blip>
          <a:srcRect b="41589" l="0" r="0" t="0"/>
          <a:stretch/>
        </p:blipFill>
        <p:spPr>
          <a:xfrm>
            <a:off x="913150" y="2978075"/>
            <a:ext cx="4287100" cy="200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0"/>
          <p:cNvSpPr txBox="1"/>
          <p:nvPr>
            <p:ph type="title"/>
          </p:nvPr>
        </p:nvSpPr>
        <p:spPr>
          <a:xfrm>
            <a:off x="5312400" y="116050"/>
            <a:ext cx="349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Problem</a:t>
            </a:r>
            <a:endParaRPr/>
          </a:p>
        </p:txBody>
      </p:sp>
      <p:sp>
        <p:nvSpPr>
          <p:cNvPr id="268" name="Google Shape;268;p40"/>
          <p:cNvSpPr txBox="1"/>
          <p:nvPr>
            <p:ph idx="1" type="body"/>
          </p:nvPr>
        </p:nvSpPr>
        <p:spPr>
          <a:xfrm>
            <a:off x="311700" y="1183250"/>
            <a:ext cx="8402700" cy="33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Collective communication between ranks (participating xPUs) can be expressed as a demand matrix D.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 of size {N, N}, where N is the number of ranks in the system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D[i, j] denotes the number of bytes to be communicated between xPUs GPU_i to GPU_j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825"/>
            <a:ext cx="5252424" cy="506785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0"/>
          <p:cNvSpPr txBox="1"/>
          <p:nvPr/>
        </p:nvSpPr>
        <p:spPr>
          <a:xfrm>
            <a:off x="4643525" y="2086775"/>
            <a:ext cx="50712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example: demand matrix from Qwen3-235B A22B LLM training using EP64. Layer 0, 32K sequence, MoE all to all communication.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Non-deterministic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Non-uniform, see popular experts (darker columns)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71" name="Google Shape;27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8179" y="2896443"/>
            <a:ext cx="2314875" cy="224705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3965700" y="3889275"/>
            <a:ext cx="50712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example: demand matrix from Deepseek V3 TP8 EP8 training, showing the TP all reduce </a:t>
            </a:r>
            <a:r>
              <a:rPr lang="en" sz="1200">
                <a:solidFill>
                  <a:schemeClr val="dk1"/>
                </a:solidFill>
              </a:rPr>
              <a:t>communication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Deterministic and can be worked out beforehand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Clear TP domain from the visualization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Routing Problem Definition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Given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Demand matrix D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Reconfiguration latency δ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Find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A </a:t>
            </a:r>
            <a:r>
              <a:rPr lang="en" sz="1200">
                <a:solidFill>
                  <a:schemeClr val="dk1"/>
                </a:solidFill>
              </a:rPr>
              <a:t>set of </a:t>
            </a:r>
            <a:r>
              <a:rPr lang="en" sz="1200">
                <a:solidFill>
                  <a:schemeClr val="dk1"/>
                </a:solidFill>
              </a:rPr>
              <a:t>permutations</a:t>
            </a:r>
            <a:r>
              <a:rPr lang="en" sz="1200">
                <a:solidFill>
                  <a:schemeClr val="dk1"/>
                </a:solidFill>
              </a:rPr>
              <a:t> {P_1 … P_k} and durations {d_1 … d_k} such that ∑ₖ dₖ · Pₖ ≥ D, thus completing the communication demand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Pₖ</a:t>
            </a:r>
            <a:r>
              <a:rPr lang="en" sz="1200">
                <a:solidFill>
                  <a:schemeClr val="dk1"/>
                </a:solidFill>
              </a:rPr>
              <a:t> is an </a:t>
            </a:r>
            <a:r>
              <a:rPr lang="en" sz="1200">
                <a:solidFill>
                  <a:schemeClr val="dk1"/>
                </a:solidFill>
              </a:rPr>
              <a:t>N×N</a:t>
            </a:r>
            <a:r>
              <a:rPr lang="en" sz="1200">
                <a:solidFill>
                  <a:schemeClr val="dk1"/>
                </a:solidFill>
              </a:rPr>
              <a:t> permutation matrix of 1 and 0s that denotes the connections between GPU pairs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Goal is to </a:t>
            </a:r>
            <a:r>
              <a:rPr b="1" lang="en" sz="1200">
                <a:solidFill>
                  <a:schemeClr val="dk1"/>
                </a:solidFill>
              </a:rPr>
              <a:t>minimize</a:t>
            </a:r>
            <a:r>
              <a:rPr lang="en" sz="1200">
                <a:solidFill>
                  <a:schemeClr val="dk1"/>
                </a:solidFill>
              </a:rPr>
              <a:t> the makespan, M = ∑ₖ dₖ + δ · K </a:t>
            </a:r>
            <a:br>
              <a:rPr lang="en" sz="1200">
                <a:solidFill>
                  <a:schemeClr val="dk1"/>
                </a:solidFill>
              </a:rPr>
            </a:br>
            <a:r>
              <a:rPr b="1" lang="en" sz="1200">
                <a:solidFill>
                  <a:schemeClr val="dk1"/>
                </a:solidFill>
              </a:rPr>
              <a:t>makespan</a:t>
            </a:r>
            <a:r>
              <a:rPr lang="en" sz="1200">
                <a:solidFill>
                  <a:schemeClr val="dk1"/>
                </a:solidFill>
              </a:rPr>
              <a:t> is the wall-clock time from the start of the communication until all demand has been delivered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279" name="Google Shape;279;p41"/>
          <p:cNvSpPr txBox="1"/>
          <p:nvPr/>
        </p:nvSpPr>
        <p:spPr>
          <a:xfrm>
            <a:off x="2258200" y="4813200"/>
            <a:ext cx="4668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Example of a permutation and </a:t>
            </a:r>
            <a:r>
              <a:rPr b="1" lang="en" sz="1200">
                <a:solidFill>
                  <a:schemeClr val="dk1"/>
                </a:solidFill>
              </a:rPr>
              <a:t>corresponding</a:t>
            </a:r>
            <a:r>
              <a:rPr b="1" lang="en" sz="1200">
                <a:solidFill>
                  <a:schemeClr val="dk1"/>
                </a:solidFill>
              </a:rPr>
              <a:t> circuit setup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80" name="Google Shape;2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9412" y="2972500"/>
            <a:ext cx="3565175" cy="18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Approach B: Parallel planes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Idea: allow </a:t>
            </a:r>
            <a:r>
              <a:rPr b="1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lang="en" sz="1200">
                <a:solidFill>
                  <a:schemeClr val="dk1"/>
                </a:solidFill>
              </a:rPr>
              <a:t>(smaller) switching fabrics that can reconfigure independently.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example, consider an 2x2 mesh of 4 GPUs, each GPU with 4 TX RX WGs.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G=1: single </a:t>
            </a:r>
            <a:r>
              <a:rPr lang="en" sz="1200">
                <a:solidFill>
                  <a:schemeClr val="dk1"/>
                </a:solidFill>
              </a:rPr>
              <a:t>plane, 1x 8x8 xbar per tile with 64 cross points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G=2: 2 planes, 2x 4x4 xbars per tile with 32 cross points each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G=4: 4 planes, 4x 2x2 xbars per tile with 4 cross points each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More parallel planes reduces the crossbar complexity by G (number of cross points)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000" y="2900125"/>
            <a:ext cx="5044649" cy="21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B: Parallel Planes</a:t>
            </a:r>
            <a:endParaRPr/>
          </a:p>
        </p:txBody>
      </p:sp>
      <p:sp>
        <p:nvSpPr>
          <p:cNvPr id="293" name="Google Shape;29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Solving for parallel planes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100">
                <a:solidFill>
                  <a:schemeClr val="dk1"/>
                </a:solidFill>
              </a:rPr>
              <a:t>DECOMPOSE: </a:t>
            </a:r>
            <a:r>
              <a:rPr lang="en" sz="1100">
                <a:solidFill>
                  <a:schemeClr val="dk1"/>
                </a:solidFill>
              </a:rPr>
              <a:t>Break the demand matrix D into the smallest possible number of weighted permutations.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100">
                <a:solidFill>
                  <a:schemeClr val="dk1"/>
                </a:solidFill>
              </a:rPr>
              <a:t>SCHEDULE: </a:t>
            </a:r>
            <a:r>
              <a:rPr lang="en" sz="1100">
                <a:solidFill>
                  <a:schemeClr val="dk1"/>
                </a:solidFill>
              </a:rPr>
              <a:t>Assign the k permutations to the s parallel planes via greedy load balancing.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100">
                <a:solidFill>
                  <a:schemeClr val="dk1"/>
                </a:solidFill>
              </a:rPr>
              <a:t>EQUALIZE: </a:t>
            </a:r>
            <a:r>
              <a:rPr lang="en" sz="1100">
                <a:solidFill>
                  <a:schemeClr val="dk1"/>
                </a:solidFill>
              </a:rPr>
              <a:t>Refine the assignment by splitting permutations across planes when the imbalance exceeds δ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Example of 4x4 demand matrix with 2 planes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94" name="Google Shape;294;p43"/>
          <p:cNvSpPr txBox="1"/>
          <p:nvPr/>
        </p:nvSpPr>
        <p:spPr>
          <a:xfrm>
            <a:off x="0" y="4743300"/>
            <a:ext cx="883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https://arxiv.org/pdf/2603.07373</a:t>
            </a:r>
            <a:r>
              <a:rPr lang="en"/>
              <a:t>       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https://webee.technion.ac.il/~isaac/p/nl26_scheduling.pdf</a:t>
            </a:r>
            <a:r>
              <a:rPr lang="en"/>
              <a:t>    </a:t>
            </a:r>
            <a:endParaRPr/>
          </a:p>
        </p:txBody>
      </p:sp>
      <p:pic>
        <p:nvPicPr>
          <p:cNvPr id="295" name="Google Shape;29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0475" y="2441428"/>
            <a:ext cx="6176199" cy="236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Workloads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and old slides</a:t>
            </a:r>
            <a:endParaRPr/>
          </a:p>
        </p:txBody>
      </p:sp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GlassML: Panel-Scale Glass Interposer with Integrated</a:t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Reconfigurable Optics for Extreme-Scale ML</a:t>
            </a:r>
            <a:endParaRPr b="1" sz="2500"/>
          </a:p>
        </p:txBody>
      </p:sp>
      <p:sp>
        <p:nvSpPr>
          <p:cNvPr id="324" name="Google Shape;324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PRISM TTA</a:t>
            </a:r>
            <a:endParaRPr sz="3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UCSD: Yue Pan, Junda Chen, Mingjia Huo, Zihan Xia, Jaewon Lee</a:t>
            </a:r>
            <a:endParaRPr sz="3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 Georgia Tech: Vima Gupta, Vishal Rao</a:t>
            </a:r>
            <a:endParaRPr sz="3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9"/>
          <p:cNvSpPr txBox="1"/>
          <p:nvPr/>
        </p:nvSpPr>
        <p:spPr>
          <a:xfrm>
            <a:off x="480073" y="788670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30" name="Google Shape;33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Workloads Are Outgrowing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9"/>
          <p:cNvSpPr txBox="1"/>
          <p:nvPr>
            <p:ph idx="1" type="body"/>
          </p:nvPr>
        </p:nvSpPr>
        <p:spPr>
          <a:xfrm>
            <a:off x="311700" y="1152475"/>
            <a:ext cx="8520600" cy="3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Capacity Wall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Limited HBM capacity forces costly solutions such as gradient checkpointing → 33% runtime overhead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Trillion-param MoE models (DeepSeek-V3: 0.7TB, Kimi-K2.5: ~2TB) exceed single-node VRAM capacity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Solutions such as CPU offloading interrupts training/inference flow and incurs severe penalty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Bandwidth Wall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High-bandwidth domain is limited, NVlink scaling subject to switch capability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Expensive LLM communication patterns: TP, SP, and MoE all-to-all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Copper PCB &amp; rack cabling incur latency + energy penalties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SoTA GPU systems are fixed in network topology and have no configuration options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Scaling Wall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Silicon interposer bound by 300mm wafer reticle limit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Wafer-scale processors are subject to yield and size constraints</a:t>
            </a:r>
            <a:endParaRPr sz="1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GlassML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950" y="977775"/>
            <a:ext cx="3680101" cy="368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/>
        </p:nvSpPr>
        <p:spPr>
          <a:xfrm>
            <a:off x="480073" y="240030"/>
            <a:ext cx="7201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" name="Google Shape;343;p51"/>
          <p:cNvSpPr txBox="1"/>
          <p:nvPr/>
        </p:nvSpPr>
        <p:spPr>
          <a:xfrm>
            <a:off x="3697248" y="4626015"/>
            <a:ext cx="8229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44" name="Google Shape;34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GlassML Architecture Overview</a:t>
            </a:r>
            <a:endParaRPr sz="2500"/>
          </a:p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311700" y="1152475"/>
            <a:ext cx="85206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Key Numbers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500×500 mm glass panel (OJSSCS'25, ECTC'22)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Unit interposers for xPUs and memory, multi-TB capacity, in a mesh layout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PB/s-scale aggregate bandwidth via embedded optical waveguides at ~10 µm pitch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Dynamic network topology adaptation for application-specific communication patterns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Glass Panel Advantages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No 300mm reticle limit on silicon wafer, glass panels up to 510–610mm square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Decouples xPU process from substrate process, no yield issues in waferscale-like chips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Optical Interconnect Advantages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Considering a no-Serdes design: dramatically lower energy per bit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Distance-insensitive latency: 10–50ns across entire panel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Eliminates topology-induced NUMA (unlike wafer-scale chips)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Reconfigurable routing and adaptability according to workloads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Interposer Components</a:t>
            </a:r>
            <a:endParaRPr/>
          </a:p>
        </p:txBody>
      </p:sp>
      <p:sp>
        <p:nvSpPr>
          <p:cNvPr id="351" name="Google Shape;351;p52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Unit interposer (space reserved for the yellow block)</a:t>
            </a:r>
            <a:endParaRPr sz="1000">
              <a:solidFill>
                <a:srgbClr val="000000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</a:pPr>
            <a:r>
              <a:rPr lang="en" sz="1000">
                <a:solidFill>
                  <a:srgbClr val="000000"/>
                </a:solidFill>
              </a:rPr>
              <a:t>Carved slots on the glass panel to contain PIC, EIC, and switching fabric</a:t>
            </a:r>
            <a:endParaRPr sz="1000">
              <a:solidFill>
                <a:srgbClr val="000000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EIC (Electronic Integrated Chip)</a:t>
            </a:r>
            <a:endParaRPr sz="1000">
              <a:solidFill>
                <a:srgbClr val="000000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</a:pPr>
            <a:r>
              <a:rPr lang="en" sz="1000">
                <a:solidFill>
                  <a:srgbClr val="000000"/>
                </a:solidFill>
              </a:rPr>
              <a:t>xPUs, memories, accelerators, CPUs</a:t>
            </a:r>
            <a:endParaRPr sz="1000">
              <a:solidFill>
                <a:srgbClr val="000000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○"/>
            </a:pPr>
            <a:r>
              <a:rPr lang="en" sz="1000">
                <a:solidFill>
                  <a:schemeClr val="accent1"/>
                </a:solidFill>
              </a:rPr>
              <a:t>There is no change to how EIC needs to be fabricated </a:t>
            </a:r>
            <a:endParaRPr sz="1000">
              <a:solidFill>
                <a:schemeClr val="accen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PIC (Photonic Integrated Chip) </a:t>
            </a:r>
            <a:endParaRPr sz="1000">
              <a:solidFill>
                <a:srgbClr val="000000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</a:pPr>
            <a:r>
              <a:rPr lang="en" sz="1000">
                <a:solidFill>
                  <a:srgbClr val="000000"/>
                </a:solidFill>
              </a:rPr>
              <a:t>Electric to optical conversions (E/O)</a:t>
            </a:r>
            <a:endParaRPr sz="1000">
              <a:solidFill>
                <a:srgbClr val="000000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○"/>
            </a:pPr>
            <a:r>
              <a:rPr lang="en" sz="1000">
                <a:solidFill>
                  <a:schemeClr val="accent1"/>
                </a:solidFill>
              </a:rPr>
              <a:t>Each E/O converters connects on exactly one signal pin on the xPU</a:t>
            </a:r>
            <a:endParaRPr sz="1000">
              <a:solidFill>
                <a:schemeClr val="accent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○"/>
            </a:pPr>
            <a:r>
              <a:rPr lang="en" sz="1000">
                <a:solidFill>
                  <a:schemeClr val="accent1"/>
                </a:solidFill>
              </a:rPr>
              <a:t>The TX driver sends an electrical signal through a micro-bump onto the PIC.</a:t>
            </a:r>
            <a:endParaRPr sz="1000">
              <a:solidFill>
                <a:schemeClr val="accent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○"/>
            </a:pPr>
            <a:r>
              <a:rPr lang="en" sz="1000">
                <a:solidFill>
                  <a:schemeClr val="accent1"/>
                </a:solidFill>
              </a:rPr>
              <a:t>The electric signal reaches the central electrode of an SRN MRR, which </a:t>
            </a:r>
            <a:r>
              <a:rPr lang="en" sz="1000">
                <a:solidFill>
                  <a:schemeClr val="accent1"/>
                </a:solidFill>
              </a:rPr>
              <a:t>modulates</a:t>
            </a:r>
            <a:r>
              <a:rPr lang="en" sz="1000">
                <a:solidFill>
                  <a:schemeClr val="accent1"/>
                </a:solidFill>
              </a:rPr>
              <a:t> the electric voltage into shift in resonant wavelength</a:t>
            </a:r>
            <a:endParaRPr sz="1000">
              <a:solidFill>
                <a:schemeClr val="accent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○"/>
            </a:pPr>
            <a:r>
              <a:rPr lang="en" sz="1000">
                <a:solidFill>
                  <a:schemeClr val="accent1"/>
                </a:solidFill>
              </a:rPr>
              <a:t>The RX driver on the receiving side operates in reverse to decode the optical frequency into electrical signals for xPUs</a:t>
            </a:r>
            <a:endParaRPr sz="1000">
              <a:solidFill>
                <a:schemeClr val="accent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●"/>
            </a:pPr>
            <a:r>
              <a:rPr lang="en" sz="1000">
                <a:solidFill>
                  <a:srgbClr val="000000"/>
                </a:solidFill>
              </a:rPr>
              <a:t>Waveguides (WG)	</a:t>
            </a:r>
            <a:endParaRPr sz="1000">
              <a:solidFill>
                <a:srgbClr val="000000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</a:pPr>
            <a:r>
              <a:rPr lang="en" sz="1000">
                <a:solidFill>
                  <a:srgbClr val="000000"/>
                </a:solidFill>
              </a:rPr>
              <a:t>Carries light signal, akin to a light fiber and are embedded into or deposited on top of glass</a:t>
            </a:r>
            <a:endParaRPr sz="1000">
              <a:solidFill>
                <a:srgbClr val="000000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○"/>
            </a:pPr>
            <a:r>
              <a:rPr lang="en" sz="1000">
                <a:solidFill>
                  <a:schemeClr val="accent1"/>
                </a:solidFill>
              </a:rPr>
              <a:t>Within each WG, WDM (Wavelength-Division </a:t>
            </a:r>
            <a:r>
              <a:rPr lang="en" sz="1000">
                <a:solidFill>
                  <a:schemeClr val="accent1"/>
                </a:solidFill>
              </a:rPr>
              <a:t>Multiplexing</a:t>
            </a:r>
            <a:r>
              <a:rPr lang="en" sz="1000">
                <a:solidFill>
                  <a:schemeClr val="accent1"/>
                </a:solidFill>
              </a:rPr>
              <a:t>) can be applied</a:t>
            </a:r>
            <a:endParaRPr sz="1000">
              <a:solidFill>
                <a:schemeClr val="accent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Char char="○"/>
            </a:pPr>
            <a:r>
              <a:rPr lang="en" sz="1000">
                <a:solidFill>
                  <a:schemeClr val="accent1"/>
                </a:solidFill>
              </a:rPr>
              <a:t>Reasonable link speed: 32Gb/s per wavelength, 32-degree WDM, 1Tbps per WG. </a:t>
            </a:r>
            <a:endParaRPr sz="1000">
              <a:solidFill>
                <a:schemeClr val="accent1"/>
              </a:solidFill>
            </a:endParaRPr>
          </a:p>
        </p:txBody>
      </p:sp>
      <p:pic>
        <p:nvPicPr>
          <p:cNvPr id="352" name="Google Shape;35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6175" y="3882725"/>
            <a:ext cx="5545701" cy="12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Interposer Overview</a:t>
            </a:r>
            <a:endParaRPr/>
          </a:p>
        </p:txBody>
      </p:sp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11700" y="1152475"/>
            <a:ext cx="17820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359" name="Google Shape;35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348" y="883025"/>
            <a:ext cx="5674452" cy="421385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3"/>
          <p:cNvSpPr/>
          <p:nvPr/>
        </p:nvSpPr>
        <p:spPr>
          <a:xfrm>
            <a:off x="5368650" y="624725"/>
            <a:ext cx="1372200" cy="39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66FF"/>
                </a:solidFill>
              </a:rPr>
              <a:t>Input Laser</a:t>
            </a:r>
            <a:endParaRPr b="1">
              <a:solidFill>
                <a:srgbClr val="9966FF"/>
              </a:solidFill>
            </a:endParaRPr>
          </a:p>
        </p:txBody>
      </p:sp>
      <p:sp>
        <p:nvSpPr>
          <p:cNvPr id="361" name="Google Shape;361;p53"/>
          <p:cNvSpPr/>
          <p:nvPr/>
        </p:nvSpPr>
        <p:spPr>
          <a:xfrm>
            <a:off x="7506775" y="1710450"/>
            <a:ext cx="1432200" cy="39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66FF"/>
                </a:solidFill>
              </a:rPr>
              <a:t>Input Laser</a:t>
            </a:r>
            <a:endParaRPr b="1">
              <a:solidFill>
                <a:srgbClr val="9966FF"/>
              </a:solidFill>
            </a:endParaRPr>
          </a:p>
        </p:txBody>
      </p:sp>
      <p:sp>
        <p:nvSpPr>
          <p:cNvPr id="362" name="Google Shape;362;p53"/>
          <p:cNvSpPr/>
          <p:nvPr/>
        </p:nvSpPr>
        <p:spPr>
          <a:xfrm>
            <a:off x="2644400" y="2301300"/>
            <a:ext cx="10458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Interposer</a:t>
            </a:r>
            <a:endParaRPr/>
          </a:p>
        </p:txBody>
      </p:sp>
      <p:sp>
        <p:nvSpPr>
          <p:cNvPr id="363" name="Google Shape;363;p53"/>
          <p:cNvSpPr/>
          <p:nvPr/>
        </p:nvSpPr>
        <p:spPr>
          <a:xfrm>
            <a:off x="4183675" y="2301300"/>
            <a:ext cx="10458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Interposer</a:t>
            </a:r>
            <a:endParaRPr/>
          </a:p>
        </p:txBody>
      </p:sp>
      <p:sp>
        <p:nvSpPr>
          <p:cNvPr id="364" name="Google Shape;364;p53"/>
          <p:cNvSpPr/>
          <p:nvPr/>
        </p:nvSpPr>
        <p:spPr>
          <a:xfrm>
            <a:off x="193225" y="2201400"/>
            <a:ext cx="1045800" cy="7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Optical Switching Crossbar</a:t>
            </a:r>
            <a:endParaRPr/>
          </a:p>
        </p:txBody>
      </p:sp>
      <p:sp>
        <p:nvSpPr>
          <p:cNvPr id="365" name="Google Shape;365;p53"/>
          <p:cNvSpPr/>
          <p:nvPr/>
        </p:nvSpPr>
        <p:spPr>
          <a:xfrm>
            <a:off x="6481050" y="3249175"/>
            <a:ext cx="15720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9BC61"/>
                </a:solidFill>
              </a:rPr>
              <a:t>Horizontal WGs</a:t>
            </a:r>
            <a:endParaRPr b="1">
              <a:solidFill>
                <a:srgbClr val="39BC61"/>
              </a:solidFill>
            </a:endParaRPr>
          </a:p>
        </p:txBody>
      </p:sp>
      <p:sp>
        <p:nvSpPr>
          <p:cNvPr id="366" name="Google Shape;366;p53"/>
          <p:cNvSpPr/>
          <p:nvPr/>
        </p:nvSpPr>
        <p:spPr>
          <a:xfrm>
            <a:off x="2053725" y="4621300"/>
            <a:ext cx="13722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5B1EE"/>
                </a:solidFill>
              </a:rPr>
              <a:t>Vertical WGs</a:t>
            </a:r>
            <a:endParaRPr b="1">
              <a:solidFill>
                <a:srgbClr val="05B1EE"/>
              </a:solidFill>
            </a:endParaRPr>
          </a:p>
        </p:txBody>
      </p:sp>
      <p:cxnSp>
        <p:nvCxnSpPr>
          <p:cNvPr id="367" name="Google Shape;367;p53"/>
          <p:cNvCxnSpPr>
            <a:stCxn id="364" idx="3"/>
          </p:cNvCxnSpPr>
          <p:nvPr/>
        </p:nvCxnSpPr>
        <p:spPr>
          <a:xfrm flipH="1" rot="10800000">
            <a:off x="1239025" y="1991700"/>
            <a:ext cx="1398600" cy="584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Interposer</a:t>
            </a:r>
            <a:endParaRPr/>
          </a:p>
        </p:txBody>
      </p:sp>
      <p:sp>
        <p:nvSpPr>
          <p:cNvPr id="373" name="Google Shape;373;p54"/>
          <p:cNvSpPr txBox="1"/>
          <p:nvPr>
            <p:ph idx="1" type="body"/>
          </p:nvPr>
        </p:nvSpPr>
        <p:spPr>
          <a:xfrm>
            <a:off x="4524800" y="1951625"/>
            <a:ext cx="4619100" cy="21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Example: A100 GPU as EIC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EIC and xbar switching are connected via microbumps to allow data communication between EICs in different unit interposers.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Local communications, e.g. xPU to HBM can also utilize a portion of WG instead of silicon interposer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374" name="Google Shape;374;p54"/>
          <p:cNvPicPr preferRelativeResize="0"/>
          <p:nvPr/>
        </p:nvPicPr>
        <p:blipFill rotWithShape="1">
          <a:blip r:embed="rId3">
            <a:alphaModFix/>
          </a:blip>
          <a:srcRect b="0" l="0" r="6664" t="0"/>
          <a:stretch/>
        </p:blipFill>
        <p:spPr>
          <a:xfrm>
            <a:off x="73250" y="1066975"/>
            <a:ext cx="4556026" cy="40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Switching fabric</a:t>
            </a:r>
            <a:endParaRPr/>
          </a:p>
        </p:txBody>
      </p:sp>
      <p:sp>
        <p:nvSpPr>
          <p:cNvPr id="380" name="Google Shape;380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At each unit interposer, horizontal optical links and verticals links cross each other.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Vertically-Coupled Add-Drop </a:t>
            </a:r>
            <a:r>
              <a:rPr b="1" lang="en" sz="1300">
                <a:solidFill>
                  <a:schemeClr val="dk1"/>
                </a:solidFill>
              </a:rPr>
              <a:t>Racetrack </a:t>
            </a:r>
            <a:r>
              <a:rPr lang="en" sz="1300">
                <a:solidFill>
                  <a:schemeClr val="dk1"/>
                </a:solidFill>
              </a:rPr>
              <a:t>Resonator (VC-AD-RTR) are used for switching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Racetrack are placed at each crossing of vertical and horizontal links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Racetrack can be reconfigured to individually control each crossing node routing (go straight or turn)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Per-waveguide</a:t>
            </a:r>
            <a:r>
              <a:rPr lang="en" sz="1300">
                <a:solidFill>
                  <a:schemeClr val="dk1"/>
                </a:solidFill>
              </a:rPr>
              <a:t> routing is achieved between any direction of the optical crossbar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381" name="Google Shape;38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000" y="2731577"/>
            <a:ext cx="7596000" cy="215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GlassML Routing</a:t>
            </a:r>
            <a:endParaRPr/>
          </a:p>
        </p:txBody>
      </p:sp>
      <p:sp>
        <p:nvSpPr>
          <p:cNvPr id="387" name="Google Shape;387;p56"/>
          <p:cNvSpPr txBox="1"/>
          <p:nvPr>
            <p:ph idx="1" type="body"/>
          </p:nvPr>
        </p:nvSpPr>
        <p:spPr>
          <a:xfrm>
            <a:off x="377500" y="1152475"/>
            <a:ext cx="845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Routing on glass panel forms a circuit switching problem</a:t>
            </a:r>
            <a:endParaRPr b="1" sz="1200">
              <a:solidFill>
                <a:srgbClr val="000000"/>
              </a:solidFill>
            </a:endParaRPr>
          </a:p>
        </p:txBody>
      </p:sp>
      <p:pic>
        <p:nvPicPr>
          <p:cNvPr id="388" name="Google Shape;388;p56"/>
          <p:cNvPicPr preferRelativeResize="0"/>
          <p:nvPr/>
        </p:nvPicPr>
        <p:blipFill rotWithShape="1">
          <a:blip r:embed="rId3">
            <a:alphaModFix/>
          </a:blip>
          <a:srcRect b="0" l="0" r="0" t="12026"/>
          <a:stretch/>
        </p:blipFill>
        <p:spPr>
          <a:xfrm>
            <a:off x="311700" y="1764625"/>
            <a:ext cx="5057848" cy="32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6"/>
          <p:cNvSpPr txBox="1"/>
          <p:nvPr>
            <p:ph idx="1" type="body"/>
          </p:nvPr>
        </p:nvSpPr>
        <p:spPr>
          <a:xfrm>
            <a:off x="5442300" y="1807875"/>
            <a:ext cx="3701700" cy="30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Resource contention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WG, Rx Tx E/O converters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Brown and red communication paths </a:t>
            </a:r>
            <a:r>
              <a:rPr b="1" lang="en" sz="1200">
                <a:solidFill>
                  <a:srgbClr val="000000"/>
                </a:solidFill>
              </a:rPr>
              <a:t>must not </a:t>
            </a:r>
            <a:r>
              <a:rPr lang="en" sz="1200">
                <a:solidFill>
                  <a:srgbClr val="000000"/>
                </a:solidFill>
              </a:rPr>
              <a:t>take place simultaneously using the same WG 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The two red communication paths </a:t>
            </a:r>
            <a:r>
              <a:rPr b="1" lang="en" sz="1200">
                <a:solidFill>
                  <a:srgbClr val="000000"/>
                </a:solidFill>
              </a:rPr>
              <a:t>can </a:t>
            </a:r>
            <a:r>
              <a:rPr lang="en" sz="1200">
                <a:solidFill>
                  <a:srgbClr val="000000"/>
                </a:solidFill>
              </a:rPr>
              <a:t>take place simultaneously on the same WG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Bandwidth reconfigurability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Each node-pair can be allocated different bandwidth depending on needs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GlassML Routing</a:t>
            </a:r>
            <a:endParaRPr/>
          </a:p>
        </p:txBody>
      </p:sp>
      <p:sp>
        <p:nvSpPr>
          <p:cNvPr id="395" name="Google Shape;39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Problem formulation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There are 4 key parameters in discussion. 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5969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N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: grid dimension (N×N = N² xPUs)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596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n_wg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: number of waveguides per direction per row or column (in the OJSSCS paper: 14 north/south, 12 east/west)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596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bw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: bandwidth per waveguide, including any WDM (wavelength-division-multiplexing)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596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δ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: reconfiguration latency of the crossbar switches (not specified in the OJSSCS paper; a parameter we sweep)</a:t>
            </a:r>
            <a:endParaRPr b="1"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</a:rPr>
              <a:t>Based on the above formulation, we solve a problem of the following</a:t>
            </a:r>
            <a:endParaRPr b="1"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A collective communication operator is represented as a </a:t>
            </a: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demand matrix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 of N² by N²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Each entry: the amount of data to be communicated between the pair of xPUs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Goal: Find the network configuration (or sequence of network reconfigurations) that completes the collective communication and minimizes the latency of this communication operator. 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on routing</a:t>
            </a:r>
            <a:endParaRPr/>
          </a:p>
        </p:txBody>
      </p:sp>
      <p:sp>
        <p:nvSpPr>
          <p:cNvPr id="401" name="Google Shape;401;p58"/>
          <p:cNvSpPr txBox="1"/>
          <p:nvPr>
            <p:ph idx="1" type="body"/>
          </p:nvPr>
        </p:nvSpPr>
        <p:spPr>
          <a:xfrm>
            <a:off x="311700" y="4118800"/>
            <a:ext cx="8520600" cy="9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MoE traffic matrix heatmap from 64 sender GPUs (rows) to 64 receiver GPUs (columns).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MoE traffic matrix obtained by running the Qwen2 MoE model (57B) on Megatron-LM across 64 NVIDIA H100 GPUs, organized as 8 HGX nodes (with 80 GB per GPU).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402" name="Google Shape;40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387" y="352025"/>
            <a:ext cx="5141225" cy="376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on routing</a:t>
            </a:r>
            <a:endParaRPr/>
          </a:p>
        </p:txBody>
      </p:sp>
      <p:sp>
        <p:nvSpPr>
          <p:cNvPr id="408" name="Google Shape;408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Chronos (NAIC’25) paper agrees non-MoE traffic can be precomputed from training code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For MoE traffic, a number of decomposition algorithms can be used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Chronos </a:t>
            </a:r>
            <a:r>
              <a:rPr lang="en" sz="1200">
                <a:solidFill>
                  <a:schemeClr val="dk1"/>
                </a:solidFill>
              </a:rPr>
              <a:t>(NAIC’25)</a:t>
            </a:r>
            <a:r>
              <a:rPr lang="en" sz="1200">
                <a:solidFill>
                  <a:schemeClr val="dk1"/>
                </a:solidFill>
              </a:rPr>
              <a:t> proposes repeated “maximal size matchings” (MSM) in hardware for speed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Key observation: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For all-to-all traffic, we can precompute a random orthogonal (i.e., each element is just covered by one permutation) set of 71 permutations that are “maximal size matchings”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For each permutation, take the “max” value as the “duration.”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Simulations show this works well even when the demand matrix entries vary by 2-2.5X or even by 10X, with max channel load = 40-75 WGs (way under the 126 WGs in the design)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Derived/precomputed permutations implemented as XY circuits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All 7 TX/7 RX WGs used for a permutation, estimated duration for 100-220MB around 140-300ms.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At least 71 permutations = at least 71 reconfiguration delays 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Not an issue for d = 10’s of ns, but an issue if d = 10’s to 100’s of ms.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Heterogeneous Glass Panel</a:t>
            </a:r>
            <a:endParaRPr/>
          </a:p>
        </p:txBody>
      </p:sp>
      <p:sp>
        <p:nvSpPr>
          <p:cNvPr id="414" name="Google Shape;41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60"/>
          <p:cNvPicPr preferRelativeResize="0"/>
          <p:nvPr/>
        </p:nvPicPr>
        <p:blipFill rotWithShape="1">
          <a:blip r:embed="rId3">
            <a:alphaModFix/>
          </a:blip>
          <a:srcRect b="0" l="0" r="5087" t="0"/>
          <a:stretch/>
        </p:blipFill>
        <p:spPr>
          <a:xfrm>
            <a:off x="1531025" y="1268075"/>
            <a:ext cx="6081949" cy="36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1: NVL72 on a panel</a:t>
            </a:r>
            <a:endParaRPr/>
          </a:p>
        </p:txBody>
      </p:sp>
      <p:sp>
        <p:nvSpPr>
          <p:cNvPr id="421" name="Google Shape;421;p61"/>
          <p:cNvSpPr txBox="1"/>
          <p:nvPr>
            <p:ph idx="1" type="body"/>
          </p:nvPr>
        </p:nvSpPr>
        <p:spPr>
          <a:xfrm>
            <a:off x="311700" y="1152475"/>
            <a:ext cx="8520600" cy="36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First step, most direct system configuration on a glass panel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We need to evaluate this design to justify the feasibility of glass panel as a from 0 to 1 work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Workloads: LLM (MoE) training and inference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Communication: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TP all reduce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MoE all to all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22" name="Google Shape;422;p61"/>
          <p:cNvSpPr/>
          <p:nvPr/>
        </p:nvSpPr>
        <p:spPr>
          <a:xfrm>
            <a:off x="6365175" y="2191650"/>
            <a:ext cx="2354100" cy="222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  <p:sp>
        <p:nvSpPr>
          <p:cNvPr id="423" name="Google Shape;423;p61"/>
          <p:cNvSpPr/>
          <p:nvPr/>
        </p:nvSpPr>
        <p:spPr>
          <a:xfrm>
            <a:off x="6501525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highlight>
                  <a:srgbClr val="F4CCCC"/>
                </a:highlight>
              </a:rPr>
              <a:t>H100</a:t>
            </a:r>
            <a:endParaRPr b="1" sz="900">
              <a:highlight>
                <a:srgbClr val="F4CCCC"/>
              </a:highlight>
            </a:endParaRPr>
          </a:p>
        </p:txBody>
      </p:sp>
      <p:sp>
        <p:nvSpPr>
          <p:cNvPr id="424" name="Google Shape;424;p61"/>
          <p:cNvSpPr/>
          <p:nvPr/>
        </p:nvSpPr>
        <p:spPr>
          <a:xfrm>
            <a:off x="7052050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25" name="Google Shape;425;p61"/>
          <p:cNvSpPr/>
          <p:nvPr/>
        </p:nvSpPr>
        <p:spPr>
          <a:xfrm>
            <a:off x="7602575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26" name="Google Shape;426;p61"/>
          <p:cNvSpPr/>
          <p:nvPr/>
        </p:nvSpPr>
        <p:spPr>
          <a:xfrm>
            <a:off x="8153100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27" name="Google Shape;427;p61"/>
          <p:cNvSpPr/>
          <p:nvPr/>
        </p:nvSpPr>
        <p:spPr>
          <a:xfrm>
            <a:off x="6501525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28" name="Google Shape;428;p61"/>
          <p:cNvSpPr/>
          <p:nvPr/>
        </p:nvSpPr>
        <p:spPr>
          <a:xfrm>
            <a:off x="7052050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29" name="Google Shape;429;p61"/>
          <p:cNvSpPr/>
          <p:nvPr/>
        </p:nvSpPr>
        <p:spPr>
          <a:xfrm>
            <a:off x="7602575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0" name="Google Shape;430;p61"/>
          <p:cNvSpPr/>
          <p:nvPr/>
        </p:nvSpPr>
        <p:spPr>
          <a:xfrm>
            <a:off x="8153100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1" name="Google Shape;431;p61"/>
          <p:cNvSpPr/>
          <p:nvPr/>
        </p:nvSpPr>
        <p:spPr>
          <a:xfrm>
            <a:off x="6501525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2" name="Google Shape;432;p61"/>
          <p:cNvSpPr/>
          <p:nvPr/>
        </p:nvSpPr>
        <p:spPr>
          <a:xfrm>
            <a:off x="7052050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3" name="Google Shape;433;p61"/>
          <p:cNvSpPr/>
          <p:nvPr/>
        </p:nvSpPr>
        <p:spPr>
          <a:xfrm>
            <a:off x="7602575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4" name="Google Shape;434;p61"/>
          <p:cNvSpPr/>
          <p:nvPr/>
        </p:nvSpPr>
        <p:spPr>
          <a:xfrm>
            <a:off x="8153100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5" name="Google Shape;435;p61"/>
          <p:cNvSpPr/>
          <p:nvPr/>
        </p:nvSpPr>
        <p:spPr>
          <a:xfrm>
            <a:off x="6501525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6" name="Google Shape;436;p61"/>
          <p:cNvSpPr/>
          <p:nvPr/>
        </p:nvSpPr>
        <p:spPr>
          <a:xfrm>
            <a:off x="7052050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7" name="Google Shape;437;p61"/>
          <p:cNvSpPr/>
          <p:nvPr/>
        </p:nvSpPr>
        <p:spPr>
          <a:xfrm>
            <a:off x="7602575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8" name="Google Shape;438;p61"/>
          <p:cNvSpPr/>
          <p:nvPr/>
        </p:nvSpPr>
        <p:spPr>
          <a:xfrm>
            <a:off x="8153100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39" name="Google Shape;439;p61"/>
          <p:cNvSpPr txBox="1"/>
          <p:nvPr/>
        </p:nvSpPr>
        <p:spPr>
          <a:xfrm>
            <a:off x="6758400" y="4367500"/>
            <a:ext cx="18981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Assume 8x9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System 2: Prefill-decode disaggregation (inference)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LLM inference is divided into two phases: prefill and decode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Prefill: batched processing of input prompts – compute bound due to mostly batched operations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Decode: autoregressive generation of output tokens – memory bound due to smaller GEMM dimensions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Special Communications: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KV cache transfer between Prefill and Decode instances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46" name="Google Shape;446;p62"/>
          <p:cNvSpPr/>
          <p:nvPr/>
        </p:nvSpPr>
        <p:spPr>
          <a:xfrm>
            <a:off x="6380900" y="2196900"/>
            <a:ext cx="2354100" cy="222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  <p:sp>
        <p:nvSpPr>
          <p:cNvPr id="447" name="Google Shape;447;p62"/>
          <p:cNvSpPr/>
          <p:nvPr/>
        </p:nvSpPr>
        <p:spPr>
          <a:xfrm>
            <a:off x="6501525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P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</p:txBody>
      </p:sp>
      <p:sp>
        <p:nvSpPr>
          <p:cNvPr id="448" name="Google Shape;448;p62"/>
          <p:cNvSpPr/>
          <p:nvPr/>
        </p:nvSpPr>
        <p:spPr>
          <a:xfrm>
            <a:off x="7052050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P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</p:txBody>
      </p:sp>
      <p:sp>
        <p:nvSpPr>
          <p:cNvPr id="449" name="Google Shape;449;p62"/>
          <p:cNvSpPr/>
          <p:nvPr/>
        </p:nvSpPr>
        <p:spPr>
          <a:xfrm>
            <a:off x="7602575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P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</p:txBody>
      </p:sp>
      <p:sp>
        <p:nvSpPr>
          <p:cNvPr id="450" name="Google Shape;450;p62"/>
          <p:cNvSpPr/>
          <p:nvPr/>
        </p:nvSpPr>
        <p:spPr>
          <a:xfrm>
            <a:off x="8153100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P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</p:txBody>
      </p:sp>
      <p:sp>
        <p:nvSpPr>
          <p:cNvPr id="451" name="Google Shape;451;p62"/>
          <p:cNvSpPr/>
          <p:nvPr/>
        </p:nvSpPr>
        <p:spPr>
          <a:xfrm>
            <a:off x="6501525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52" name="Google Shape;452;p62"/>
          <p:cNvSpPr/>
          <p:nvPr/>
        </p:nvSpPr>
        <p:spPr>
          <a:xfrm>
            <a:off x="7052050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53" name="Google Shape;453;p62"/>
          <p:cNvSpPr/>
          <p:nvPr/>
        </p:nvSpPr>
        <p:spPr>
          <a:xfrm>
            <a:off x="7602575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P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</p:txBody>
      </p:sp>
      <p:sp>
        <p:nvSpPr>
          <p:cNvPr id="454" name="Google Shape;454;p62"/>
          <p:cNvSpPr/>
          <p:nvPr/>
        </p:nvSpPr>
        <p:spPr>
          <a:xfrm>
            <a:off x="8153100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D9D2E9"/>
                </a:highlight>
              </a:rPr>
              <a:t>P</a:t>
            </a:r>
            <a:endParaRPr b="1" sz="900">
              <a:solidFill>
                <a:schemeClr val="dk1"/>
              </a:solidFill>
              <a:highlight>
                <a:srgbClr val="D9D2E9"/>
              </a:highlight>
            </a:endParaRPr>
          </a:p>
        </p:txBody>
      </p:sp>
      <p:sp>
        <p:nvSpPr>
          <p:cNvPr id="455" name="Google Shape;455;p62"/>
          <p:cNvSpPr/>
          <p:nvPr/>
        </p:nvSpPr>
        <p:spPr>
          <a:xfrm>
            <a:off x="6501525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56" name="Google Shape;456;p62"/>
          <p:cNvSpPr/>
          <p:nvPr/>
        </p:nvSpPr>
        <p:spPr>
          <a:xfrm>
            <a:off x="7052050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57" name="Google Shape;457;p62"/>
          <p:cNvSpPr/>
          <p:nvPr/>
        </p:nvSpPr>
        <p:spPr>
          <a:xfrm>
            <a:off x="7602575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58" name="Google Shape;458;p62"/>
          <p:cNvSpPr/>
          <p:nvPr/>
        </p:nvSpPr>
        <p:spPr>
          <a:xfrm>
            <a:off x="8153100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59" name="Google Shape;459;p62"/>
          <p:cNvSpPr/>
          <p:nvPr/>
        </p:nvSpPr>
        <p:spPr>
          <a:xfrm>
            <a:off x="6501525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60" name="Google Shape;460;p62"/>
          <p:cNvSpPr/>
          <p:nvPr/>
        </p:nvSpPr>
        <p:spPr>
          <a:xfrm>
            <a:off x="7052050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61" name="Google Shape;461;p62"/>
          <p:cNvSpPr/>
          <p:nvPr/>
        </p:nvSpPr>
        <p:spPr>
          <a:xfrm>
            <a:off x="7602575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  <p:sp>
        <p:nvSpPr>
          <p:cNvPr id="462" name="Google Shape;462;p62"/>
          <p:cNvSpPr/>
          <p:nvPr/>
        </p:nvSpPr>
        <p:spPr>
          <a:xfrm>
            <a:off x="8153100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9FC5E8"/>
                </a:highlight>
              </a:rPr>
              <a:t>D</a:t>
            </a:r>
            <a:endParaRPr b="1" sz="900">
              <a:solidFill>
                <a:schemeClr val="dk1"/>
              </a:solidFill>
              <a:highlight>
                <a:srgbClr val="9FC5E8"/>
              </a:highlight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3: heterogeneous system with PIM/PNM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3"/>
          <p:cNvSpPr txBox="1"/>
          <p:nvPr>
            <p:ph idx="1" type="body"/>
          </p:nvPr>
        </p:nvSpPr>
        <p:spPr>
          <a:xfrm>
            <a:off x="311700" y="1152475"/>
            <a:ext cx="8520600" cy="26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Why PIM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Processing in/near memory enhances memory bandwidth with new memory technologies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Example: Logic-on-base-die for 3D DRAM or HBM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Improves decoding throughput and other memory bound operations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P/D disaggregation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GPU as prefill instances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PIM/PNM as decode instances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Special communications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KV cache transfer between Prefill and Decode instances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69" name="Google Shape;469;p63"/>
          <p:cNvSpPr/>
          <p:nvPr/>
        </p:nvSpPr>
        <p:spPr>
          <a:xfrm>
            <a:off x="6380900" y="2196900"/>
            <a:ext cx="2354100" cy="222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  <p:sp>
        <p:nvSpPr>
          <p:cNvPr id="470" name="Google Shape;470;p63"/>
          <p:cNvSpPr/>
          <p:nvPr/>
        </p:nvSpPr>
        <p:spPr>
          <a:xfrm>
            <a:off x="6501525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highlight>
                  <a:srgbClr val="F4CCCC"/>
                </a:highlight>
              </a:rPr>
              <a:t>H100</a:t>
            </a:r>
            <a:endParaRPr b="1" sz="900">
              <a:highlight>
                <a:srgbClr val="F4CCCC"/>
              </a:highlight>
            </a:endParaRPr>
          </a:p>
        </p:txBody>
      </p:sp>
      <p:sp>
        <p:nvSpPr>
          <p:cNvPr id="471" name="Google Shape;471;p63"/>
          <p:cNvSpPr/>
          <p:nvPr/>
        </p:nvSpPr>
        <p:spPr>
          <a:xfrm>
            <a:off x="7052050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72" name="Google Shape;472;p63"/>
          <p:cNvSpPr/>
          <p:nvPr/>
        </p:nvSpPr>
        <p:spPr>
          <a:xfrm>
            <a:off x="7602575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73" name="Google Shape;473;p63"/>
          <p:cNvSpPr/>
          <p:nvPr/>
        </p:nvSpPr>
        <p:spPr>
          <a:xfrm>
            <a:off x="8153100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74" name="Google Shape;474;p63"/>
          <p:cNvSpPr/>
          <p:nvPr/>
        </p:nvSpPr>
        <p:spPr>
          <a:xfrm>
            <a:off x="6501525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75" name="Google Shape;475;p63"/>
          <p:cNvSpPr/>
          <p:nvPr/>
        </p:nvSpPr>
        <p:spPr>
          <a:xfrm>
            <a:off x="7052050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76" name="Google Shape;476;p63"/>
          <p:cNvSpPr/>
          <p:nvPr/>
        </p:nvSpPr>
        <p:spPr>
          <a:xfrm>
            <a:off x="7602575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77" name="Google Shape;477;p63"/>
          <p:cNvSpPr/>
          <p:nvPr/>
        </p:nvSpPr>
        <p:spPr>
          <a:xfrm>
            <a:off x="8153100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78" name="Google Shape;478;p63"/>
          <p:cNvSpPr/>
          <p:nvPr/>
        </p:nvSpPr>
        <p:spPr>
          <a:xfrm>
            <a:off x="6501525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B6D7A8"/>
                </a:highlight>
              </a:rPr>
              <a:t>PIM</a:t>
            </a:r>
            <a:endParaRPr b="1" sz="9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479" name="Google Shape;479;p63"/>
          <p:cNvSpPr/>
          <p:nvPr/>
        </p:nvSpPr>
        <p:spPr>
          <a:xfrm>
            <a:off x="7052050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B6D7A8"/>
                </a:highlight>
              </a:rPr>
              <a:t>PIM</a:t>
            </a:r>
            <a:endParaRPr b="1">
              <a:highlight>
                <a:srgbClr val="B6D7A8"/>
              </a:highlight>
            </a:endParaRPr>
          </a:p>
        </p:txBody>
      </p:sp>
      <p:sp>
        <p:nvSpPr>
          <p:cNvPr id="480" name="Google Shape;480;p63"/>
          <p:cNvSpPr/>
          <p:nvPr/>
        </p:nvSpPr>
        <p:spPr>
          <a:xfrm>
            <a:off x="7602575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B6D7A8"/>
                </a:highlight>
              </a:rPr>
              <a:t>PIM</a:t>
            </a:r>
            <a:endParaRPr b="1">
              <a:highlight>
                <a:srgbClr val="B6D7A8"/>
              </a:highlight>
            </a:endParaRPr>
          </a:p>
        </p:txBody>
      </p:sp>
      <p:sp>
        <p:nvSpPr>
          <p:cNvPr id="481" name="Google Shape;481;p63"/>
          <p:cNvSpPr/>
          <p:nvPr/>
        </p:nvSpPr>
        <p:spPr>
          <a:xfrm>
            <a:off x="8153100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B6D7A8"/>
                </a:highlight>
              </a:rPr>
              <a:t>PIM</a:t>
            </a:r>
            <a:endParaRPr b="1">
              <a:highlight>
                <a:srgbClr val="B6D7A8"/>
              </a:highlight>
            </a:endParaRPr>
          </a:p>
        </p:txBody>
      </p:sp>
      <p:sp>
        <p:nvSpPr>
          <p:cNvPr id="482" name="Google Shape;482;p63"/>
          <p:cNvSpPr/>
          <p:nvPr/>
        </p:nvSpPr>
        <p:spPr>
          <a:xfrm>
            <a:off x="6501525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B6D7A8"/>
                </a:highlight>
              </a:rPr>
              <a:t>PIM</a:t>
            </a:r>
            <a:endParaRPr b="1">
              <a:highlight>
                <a:srgbClr val="B6D7A8"/>
              </a:highlight>
            </a:endParaRPr>
          </a:p>
        </p:txBody>
      </p:sp>
      <p:sp>
        <p:nvSpPr>
          <p:cNvPr id="483" name="Google Shape;483;p63"/>
          <p:cNvSpPr/>
          <p:nvPr/>
        </p:nvSpPr>
        <p:spPr>
          <a:xfrm>
            <a:off x="7052050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B6D7A8"/>
                </a:highlight>
              </a:rPr>
              <a:t>PIM</a:t>
            </a:r>
            <a:endParaRPr b="1">
              <a:highlight>
                <a:srgbClr val="B6D7A8"/>
              </a:highlight>
            </a:endParaRPr>
          </a:p>
        </p:txBody>
      </p:sp>
      <p:sp>
        <p:nvSpPr>
          <p:cNvPr id="484" name="Google Shape;484;p63"/>
          <p:cNvSpPr/>
          <p:nvPr/>
        </p:nvSpPr>
        <p:spPr>
          <a:xfrm>
            <a:off x="7602575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B6D7A8"/>
                </a:highlight>
              </a:rPr>
              <a:t>PIM</a:t>
            </a:r>
            <a:endParaRPr b="1">
              <a:highlight>
                <a:srgbClr val="B6D7A8"/>
              </a:highlight>
            </a:endParaRPr>
          </a:p>
        </p:txBody>
      </p:sp>
      <p:sp>
        <p:nvSpPr>
          <p:cNvPr id="485" name="Google Shape;485;p63"/>
          <p:cNvSpPr/>
          <p:nvPr/>
        </p:nvSpPr>
        <p:spPr>
          <a:xfrm>
            <a:off x="8153100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B6D7A8"/>
                </a:highlight>
              </a:rPr>
              <a:t>PIM</a:t>
            </a:r>
            <a:endParaRPr b="1"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4: Hardware memory pool</a:t>
            </a:r>
            <a:endParaRPr/>
          </a:p>
        </p:txBody>
      </p:sp>
      <p:sp>
        <p:nvSpPr>
          <p:cNvPr id="491" name="Google Shape;491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Assume GPUs without local memory and hardware memory pool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Special communications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No weight duplication required for P/D disaggregation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Overall traffic volume due to weight and KV streaming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Another option: dedicated hardware KV pool on panel	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92" name="Google Shape;492;p64"/>
          <p:cNvSpPr/>
          <p:nvPr/>
        </p:nvSpPr>
        <p:spPr>
          <a:xfrm>
            <a:off x="6380900" y="2196900"/>
            <a:ext cx="2354100" cy="222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</p:txBody>
      </p:sp>
      <p:sp>
        <p:nvSpPr>
          <p:cNvPr id="493" name="Google Shape;493;p64"/>
          <p:cNvSpPr/>
          <p:nvPr/>
        </p:nvSpPr>
        <p:spPr>
          <a:xfrm>
            <a:off x="6501525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highlight>
                  <a:srgbClr val="F4CCCC"/>
                </a:highlight>
              </a:rPr>
              <a:t>H100</a:t>
            </a:r>
            <a:endParaRPr b="1" sz="900">
              <a:highlight>
                <a:srgbClr val="F4CCCC"/>
              </a:highlight>
            </a:endParaRPr>
          </a:p>
        </p:txBody>
      </p:sp>
      <p:sp>
        <p:nvSpPr>
          <p:cNvPr id="494" name="Google Shape;494;p64"/>
          <p:cNvSpPr/>
          <p:nvPr/>
        </p:nvSpPr>
        <p:spPr>
          <a:xfrm>
            <a:off x="7052050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95" name="Google Shape;495;p64"/>
          <p:cNvSpPr/>
          <p:nvPr/>
        </p:nvSpPr>
        <p:spPr>
          <a:xfrm>
            <a:off x="7602575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96" name="Google Shape;496;p64"/>
          <p:cNvSpPr/>
          <p:nvPr/>
        </p:nvSpPr>
        <p:spPr>
          <a:xfrm>
            <a:off x="8153100" y="231477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97" name="Google Shape;497;p64"/>
          <p:cNvSpPr/>
          <p:nvPr/>
        </p:nvSpPr>
        <p:spPr>
          <a:xfrm>
            <a:off x="6501525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498" name="Google Shape;498;p64"/>
          <p:cNvSpPr/>
          <p:nvPr/>
        </p:nvSpPr>
        <p:spPr>
          <a:xfrm>
            <a:off x="7052050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E599"/>
                </a:highlight>
              </a:rPr>
              <a:t>MEM</a:t>
            </a:r>
            <a:endParaRPr b="1" sz="9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499" name="Google Shape;499;p64"/>
          <p:cNvSpPr/>
          <p:nvPr/>
        </p:nvSpPr>
        <p:spPr>
          <a:xfrm>
            <a:off x="7602575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E599"/>
                </a:highlight>
              </a:rPr>
              <a:t>MEM</a:t>
            </a:r>
            <a:endParaRPr b="1" sz="9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500" name="Google Shape;500;p64"/>
          <p:cNvSpPr/>
          <p:nvPr/>
        </p:nvSpPr>
        <p:spPr>
          <a:xfrm>
            <a:off x="8153100" y="283570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501" name="Google Shape;501;p64"/>
          <p:cNvSpPr/>
          <p:nvPr/>
        </p:nvSpPr>
        <p:spPr>
          <a:xfrm>
            <a:off x="6501525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502" name="Google Shape;502;p64"/>
          <p:cNvSpPr/>
          <p:nvPr/>
        </p:nvSpPr>
        <p:spPr>
          <a:xfrm>
            <a:off x="7052050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E599"/>
                </a:highlight>
              </a:rPr>
              <a:t>MEM</a:t>
            </a:r>
            <a:endParaRPr b="1" sz="9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503" name="Google Shape;503;p64"/>
          <p:cNvSpPr/>
          <p:nvPr/>
        </p:nvSpPr>
        <p:spPr>
          <a:xfrm>
            <a:off x="7602575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E599"/>
                </a:highlight>
              </a:rPr>
              <a:t>MEM</a:t>
            </a:r>
            <a:endParaRPr b="1" sz="9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504" name="Google Shape;504;p64"/>
          <p:cNvSpPr/>
          <p:nvPr/>
        </p:nvSpPr>
        <p:spPr>
          <a:xfrm>
            <a:off x="8153100" y="3356625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505" name="Google Shape;505;p64"/>
          <p:cNvSpPr/>
          <p:nvPr/>
        </p:nvSpPr>
        <p:spPr>
          <a:xfrm>
            <a:off x="6501525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506" name="Google Shape;506;p64"/>
          <p:cNvSpPr/>
          <p:nvPr/>
        </p:nvSpPr>
        <p:spPr>
          <a:xfrm>
            <a:off x="7052050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507" name="Google Shape;507;p64"/>
          <p:cNvSpPr/>
          <p:nvPr/>
        </p:nvSpPr>
        <p:spPr>
          <a:xfrm>
            <a:off x="7602575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  <p:sp>
        <p:nvSpPr>
          <p:cNvPr id="508" name="Google Shape;508;p64"/>
          <p:cNvSpPr/>
          <p:nvPr/>
        </p:nvSpPr>
        <p:spPr>
          <a:xfrm>
            <a:off x="8153100" y="3877550"/>
            <a:ext cx="461400" cy="41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4CCCC"/>
                </a:highlight>
              </a:rPr>
              <a:t>H100</a:t>
            </a:r>
            <a:endParaRPr b="1" sz="900">
              <a:solidFill>
                <a:schemeClr val="dk1"/>
              </a:solidFill>
              <a:highlight>
                <a:srgbClr val="F4CCCC"/>
              </a:highlight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opportunities</a:t>
            </a:r>
            <a:endParaRPr/>
          </a:p>
        </p:txBody>
      </p:sp>
      <p:sp>
        <p:nvSpPr>
          <p:cNvPr id="514" name="Google Shape;514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Light splitter for near-free data multicasting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Optical PHY for HBM and other memories (optical HBM)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Simulation: Astra-sim</a:t>
            </a:r>
            <a:endParaRPr/>
          </a:p>
        </p:txBody>
      </p:sp>
      <p:sp>
        <p:nvSpPr>
          <p:cNvPr id="520" name="Google Shape;520;p66"/>
          <p:cNvSpPr txBox="1"/>
          <p:nvPr>
            <p:ph idx="1" type="body"/>
          </p:nvPr>
        </p:nvSpPr>
        <p:spPr>
          <a:xfrm>
            <a:off x="318350" y="1152475"/>
            <a:ext cx="8520600" cy="3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21" name="Google Shape;52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76" y="1051025"/>
            <a:ext cx="7201249" cy="380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6"/>
          <p:cNvSpPr/>
          <p:nvPr/>
        </p:nvSpPr>
        <p:spPr>
          <a:xfrm>
            <a:off x="6523725" y="3462150"/>
            <a:ext cx="2515500" cy="572700"/>
          </a:xfrm>
          <a:prstGeom prst="wedgeRectCallout">
            <a:avLst>
              <a:gd fmla="val -81793" name="adj1"/>
              <a:gd fmla="val -20718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Operator-granularity profiling from actual GPUs </a:t>
            </a:r>
            <a:endParaRPr/>
          </a:p>
        </p:txBody>
      </p:sp>
      <p:sp>
        <p:nvSpPr>
          <p:cNvPr id="523" name="Google Shape;523;p66"/>
          <p:cNvSpPr/>
          <p:nvPr/>
        </p:nvSpPr>
        <p:spPr>
          <a:xfrm>
            <a:off x="3886075" y="192675"/>
            <a:ext cx="4413900" cy="746700"/>
          </a:xfrm>
          <a:prstGeom prst="wedgeRectCallout">
            <a:avLst>
              <a:gd fmla="val -50686" name="adj1"/>
              <a:gd fmla="val 10535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Programmatically generate based on model config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MoE all to all from profiling and synthetic </a:t>
            </a:r>
            <a:endParaRPr/>
          </a:p>
        </p:txBody>
      </p:sp>
      <p:sp>
        <p:nvSpPr>
          <p:cNvPr id="524" name="Google Shape;524;p66"/>
          <p:cNvSpPr/>
          <p:nvPr/>
        </p:nvSpPr>
        <p:spPr>
          <a:xfrm>
            <a:off x="42875" y="2571750"/>
            <a:ext cx="1681800" cy="710400"/>
          </a:xfrm>
          <a:prstGeom prst="wedgeRectCallout">
            <a:avLst>
              <a:gd fmla="val -1577" name="adj1"/>
              <a:gd fmla="val 9686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design for our panel-scale network </a:t>
            </a:r>
            <a:endParaRPr/>
          </a:p>
        </p:txBody>
      </p:sp>
      <p:sp>
        <p:nvSpPr>
          <p:cNvPr id="525" name="Google Shape;525;p66"/>
          <p:cNvSpPr/>
          <p:nvPr/>
        </p:nvSpPr>
        <p:spPr>
          <a:xfrm>
            <a:off x="4268250" y="1881875"/>
            <a:ext cx="941100" cy="746700"/>
          </a:xfrm>
          <a:prstGeom prst="wedgeRectCallout">
            <a:avLst>
              <a:gd fmla="val -97136" name="adj1"/>
              <a:gd fmla="val 5733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change</a:t>
            </a:r>
            <a:endParaRPr/>
          </a:p>
        </p:txBody>
      </p:sp>
      <p:sp>
        <p:nvSpPr>
          <p:cNvPr id="526" name="Google Shape;526;p66"/>
          <p:cNvSpPr/>
          <p:nvPr/>
        </p:nvSpPr>
        <p:spPr>
          <a:xfrm>
            <a:off x="3736625" y="4703625"/>
            <a:ext cx="2157900" cy="322500"/>
          </a:xfrm>
          <a:prstGeom prst="wedgeRectCallout">
            <a:avLst>
              <a:gd fmla="val -45755" name="adj1"/>
              <a:gd fmla="val -19157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relevant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MixNet (SIGCOMM'25)</a:t>
            </a:r>
            <a:endParaRPr sz="2100"/>
          </a:p>
        </p:txBody>
      </p:sp>
      <p:sp>
        <p:nvSpPr>
          <p:cNvPr id="532" name="Google Shape;532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Workload: MoE training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System: 128 GPUs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Problem: larger OCS (w.r.t number of ports) has extra long reconfiguration delay. Smaller OCS reconfigs faster but does not have enough ports.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Solution: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 multiple instances of medium scale Regional OCS that reconfigures at millisecond-level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Breaks down the global np-hard scheduling problem into localized greedy problems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Overlaps reconfiguration with layer forward time (100ms-scale)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33" name="Google Shape;53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675" y="3594950"/>
            <a:ext cx="3294000" cy="134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300" y="3310447"/>
            <a:ext cx="4150025" cy="17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Silicon Photonic Accelerated Memory Pooling for  Efficient Compute Resource Allocation (HotInterconnect’25)</a:t>
            </a:r>
            <a:endParaRPr sz="2100"/>
          </a:p>
        </p:txBody>
      </p:sp>
      <p:sp>
        <p:nvSpPr>
          <p:cNvPr id="540" name="Google Shape;540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SiP (CPO) I/O bandwidth density (4 Tbps/mm) &gt;&gt; HBM electrical interface (83 GBps/mm)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Fully remove electrical interfaces from the system and go all in on CPO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Full compute-memory disaggregation (system 4 idea)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Does not addressing routing problem and does not touch MoE models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41" name="Google Shape;54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370" y="2207300"/>
            <a:ext cx="5388175" cy="26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48" name="Google Shape;5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2" name="Google Shape;56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" y="0"/>
            <a:ext cx="91413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77" name="Google Shape;57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Past Slides</a:t>
            </a:r>
            <a:endParaRPr/>
          </a:p>
        </p:txBody>
      </p:sp>
      <p:sp>
        <p:nvSpPr>
          <p:cNvPr id="595" name="Google Shape;595;p7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GlassML: Panel-Scale Glass Interposer with Integrated</a:t>
            </a:r>
            <a:endParaRPr b="1"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Reconfigurable Optics for Extreme-Scale ML</a:t>
            </a:r>
            <a:endParaRPr b="1" sz="2500"/>
          </a:p>
        </p:txBody>
      </p:sp>
      <p:sp>
        <p:nvSpPr>
          <p:cNvPr id="601" name="Google Shape;601;p7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PRISM TTA</a:t>
            </a:r>
            <a:endParaRPr sz="3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UCSD: </a:t>
            </a:r>
            <a:r>
              <a:rPr lang="en" sz="3050">
                <a:solidFill>
                  <a:schemeClr val="dk1"/>
                </a:solidFill>
              </a:rPr>
              <a:t>Yue Pan, Junda Chen, Mingjia Huo, Zihan Xia, Jaewon Lee</a:t>
            </a:r>
            <a:endParaRPr sz="30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50">
                <a:solidFill>
                  <a:schemeClr val="dk1"/>
                </a:solidFill>
              </a:rPr>
              <a:t> Georgia Tech: Vima Gupta, Vishal Rao</a:t>
            </a:r>
            <a:endParaRPr sz="30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8"/>
          <p:cNvSpPr txBox="1"/>
          <p:nvPr/>
        </p:nvSpPr>
        <p:spPr>
          <a:xfrm>
            <a:off x="480073" y="788670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07" name="Google Shape;60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Workloads Are Outgrowing Infrastructure</a:t>
            </a:r>
            <a:endParaRPr/>
          </a:p>
        </p:txBody>
      </p:sp>
      <p:sp>
        <p:nvSpPr>
          <p:cNvPr id="608" name="Google Shape;608;p78"/>
          <p:cNvSpPr txBox="1"/>
          <p:nvPr>
            <p:ph idx="1" type="body"/>
          </p:nvPr>
        </p:nvSpPr>
        <p:spPr>
          <a:xfrm>
            <a:off x="311700" y="1152475"/>
            <a:ext cx="8520600" cy="3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Capacity Wall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Limited HBM capacity forces costly solutions such as gradient checkpointing → 33% runtime overhead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Trillion-param MoE models (DeepSeek-V3: 0.7TB, Kimi-K2.5: ~2TB) exceed single-node VRAM capacity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Solutions such as CPU offloading interrupts training/inference flow and incurs severe penalty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Bandwidth Wall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High-bandwidth domain is limited, NVlink scaling subject to switch capability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Expensive LLM communication patterns: TP, SP, and MoE all-to-all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Copper PCB &amp; rack cabling incur latency + energy penalties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SoTA GPU systems are fixed in network topology and have no configuration options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Scaling Wall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Silicon interposer bound by 300mm wafer reticle limit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Wafer-scale processors are subject to yield and size constraints</a:t>
            </a:r>
            <a:endParaRPr sz="13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9"/>
          <p:cNvSpPr txBox="1"/>
          <p:nvPr/>
        </p:nvSpPr>
        <p:spPr>
          <a:xfrm>
            <a:off x="480073" y="240030"/>
            <a:ext cx="720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4" name="Google Shape;614;p79"/>
          <p:cNvSpPr txBox="1"/>
          <p:nvPr/>
        </p:nvSpPr>
        <p:spPr>
          <a:xfrm>
            <a:off x="480073" y="788670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5" name="Google Shape;615;p79"/>
          <p:cNvSpPr txBox="1"/>
          <p:nvPr/>
        </p:nvSpPr>
        <p:spPr>
          <a:xfrm>
            <a:off x="480073" y="1718904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6" name="Google Shape;616;p79"/>
          <p:cNvSpPr txBox="1"/>
          <p:nvPr/>
        </p:nvSpPr>
        <p:spPr>
          <a:xfrm>
            <a:off x="480073" y="3124793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7" name="Google Shape;617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Training:</a:t>
            </a:r>
            <a:r>
              <a:rPr lang="en"/>
              <a:t> Network-Bound at Scale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300">
                <a:solidFill>
                  <a:schemeClr val="dk1"/>
                </a:solidFill>
              </a:rPr>
              <a:t>Training Bottleneck Shifts with Scale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1–8 GPUs: compute-bound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64+ GPUs: compute to network transition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16K+ GPUs: dominated by network and compute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300">
                <a:solidFill>
                  <a:schemeClr val="dk1"/>
                </a:solidFill>
              </a:rPr>
              <a:t>Communication Overhead Dominates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All-reduce for gradient sync grows with model + cluster size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MoE Expert Parallel all-to-all: 33–55% of training iteration on 400Gbps networks [SIGCOMM'25]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Disk checkpointing is blocking — memory can't hold a second copy for async [SC'21]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Weight duplication: NVL72 with 13TB holds only ~3 copies of a 2T model [GB300 NVL72]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n" sz="1300">
                <a:solidFill>
                  <a:schemeClr val="dk1"/>
                </a:solidFill>
              </a:rPr>
              <a:t>Emerging Workload Challenges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Video diffusion (Sora, Wan): dense spatiotemporal latents across hundreds of frames → MFU 30–40%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World models: real-time at 30+ FPS, zero room for communication overhead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EP efficiency degrades with token batching [Lynx, arXiv'24]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GlassML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80"/>
          <p:cNvSpPr txBox="1"/>
          <p:nvPr>
            <p:ph idx="1" type="body"/>
          </p:nvPr>
        </p:nvSpPr>
        <p:spPr>
          <a:xfrm>
            <a:off x="2620725" y="4536000"/>
            <a:ext cx="4126500" cy="4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25" name="Google Shape;62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350" y="1017725"/>
            <a:ext cx="3680101" cy="368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1"/>
          <p:cNvSpPr txBox="1"/>
          <p:nvPr/>
        </p:nvSpPr>
        <p:spPr>
          <a:xfrm>
            <a:off x="480073" y="240030"/>
            <a:ext cx="7201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1" name="Google Shape;631;p81"/>
          <p:cNvSpPr txBox="1"/>
          <p:nvPr/>
        </p:nvSpPr>
        <p:spPr>
          <a:xfrm>
            <a:off x="3697248" y="4626015"/>
            <a:ext cx="8229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32" name="Google Shape;632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GlassML Architecture Overview</a:t>
            </a:r>
            <a:endParaRPr sz="2500"/>
          </a:p>
        </p:txBody>
      </p:sp>
      <p:sp>
        <p:nvSpPr>
          <p:cNvPr id="633" name="Google Shape;633;p81"/>
          <p:cNvSpPr txBox="1"/>
          <p:nvPr>
            <p:ph idx="1" type="body"/>
          </p:nvPr>
        </p:nvSpPr>
        <p:spPr>
          <a:xfrm>
            <a:off x="311700" y="1152475"/>
            <a:ext cx="8520600" cy="38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Key Numbers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500×500 mm glass panel (OJSSCS'25, ECTC'22)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Unit interposers for xPUs and memory, multi-TB capacity, in a mesh layout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PB/s-scale aggregate bandwidth via embedded optical waveguides at ~10 µm pitch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Dynamic network topology adaptation for application-specific communication patterns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Glass Panel Advantages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No 300mm reticle limit on silicon wafer, glass panels up to 510–610mm square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Decouples xPU process from substrate process, no yield issues in waferscale-like chips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Optical Interconnect Advantages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Considering a no-Serdes design: dramatically lower energy per bit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Distance-insensitive latency: 10–50ns across entire panel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Optical multicast: broadcast for near-free; MRR crossbar switches enable runtime reconfiguration (IEEE OJSSCS'25)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Eliminates topology-induced NUMA (unlike wafer-scale chips)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Reconfigurable routing and adaptability according to workloads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Interposer Overview</a:t>
            </a:r>
            <a:endParaRPr/>
          </a:p>
        </p:txBody>
      </p:sp>
      <p:sp>
        <p:nvSpPr>
          <p:cNvPr id="639" name="Google Shape;639;p82"/>
          <p:cNvSpPr txBox="1"/>
          <p:nvPr>
            <p:ph idx="1" type="body"/>
          </p:nvPr>
        </p:nvSpPr>
        <p:spPr>
          <a:xfrm>
            <a:off x="311700" y="1152475"/>
            <a:ext cx="1782000" cy="6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40" name="Google Shape;64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348" y="883025"/>
            <a:ext cx="5674452" cy="4213851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82"/>
          <p:cNvSpPr/>
          <p:nvPr/>
        </p:nvSpPr>
        <p:spPr>
          <a:xfrm>
            <a:off x="5368650" y="445025"/>
            <a:ext cx="13722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66FF"/>
                </a:solidFill>
              </a:rPr>
              <a:t>Input Laser comb source</a:t>
            </a:r>
            <a:endParaRPr b="1">
              <a:solidFill>
                <a:srgbClr val="9966FF"/>
              </a:solidFill>
            </a:endParaRPr>
          </a:p>
        </p:txBody>
      </p:sp>
      <p:sp>
        <p:nvSpPr>
          <p:cNvPr id="642" name="Google Shape;642;p82"/>
          <p:cNvSpPr/>
          <p:nvPr/>
        </p:nvSpPr>
        <p:spPr>
          <a:xfrm>
            <a:off x="7500125" y="1659628"/>
            <a:ext cx="1432200" cy="50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9966FF"/>
                </a:solidFill>
              </a:rPr>
              <a:t>Input Laser comb source</a:t>
            </a:r>
            <a:endParaRPr b="1">
              <a:solidFill>
                <a:srgbClr val="9966FF"/>
              </a:solidFill>
            </a:endParaRPr>
          </a:p>
        </p:txBody>
      </p:sp>
      <p:sp>
        <p:nvSpPr>
          <p:cNvPr id="643" name="Google Shape;643;p82"/>
          <p:cNvSpPr/>
          <p:nvPr/>
        </p:nvSpPr>
        <p:spPr>
          <a:xfrm>
            <a:off x="2644400" y="2301300"/>
            <a:ext cx="10458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Interposer</a:t>
            </a:r>
            <a:endParaRPr/>
          </a:p>
        </p:txBody>
      </p:sp>
      <p:sp>
        <p:nvSpPr>
          <p:cNvPr id="644" name="Google Shape;644;p82"/>
          <p:cNvSpPr/>
          <p:nvPr/>
        </p:nvSpPr>
        <p:spPr>
          <a:xfrm>
            <a:off x="4183675" y="2301300"/>
            <a:ext cx="1045800" cy="540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Interposer</a:t>
            </a:r>
            <a:endParaRPr/>
          </a:p>
        </p:txBody>
      </p:sp>
      <p:sp>
        <p:nvSpPr>
          <p:cNvPr id="645" name="Google Shape;645;p82"/>
          <p:cNvSpPr/>
          <p:nvPr/>
        </p:nvSpPr>
        <p:spPr>
          <a:xfrm>
            <a:off x="193225" y="2201400"/>
            <a:ext cx="1045800" cy="74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Optical Switching Crossbar</a:t>
            </a:r>
            <a:endParaRPr/>
          </a:p>
        </p:txBody>
      </p:sp>
      <p:sp>
        <p:nvSpPr>
          <p:cNvPr id="646" name="Google Shape;646;p82"/>
          <p:cNvSpPr/>
          <p:nvPr/>
        </p:nvSpPr>
        <p:spPr>
          <a:xfrm>
            <a:off x="6481050" y="3249175"/>
            <a:ext cx="1572000" cy="454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9BC61"/>
                </a:solidFill>
              </a:rPr>
              <a:t>Horizontal WGs</a:t>
            </a:r>
            <a:endParaRPr b="1">
              <a:solidFill>
                <a:srgbClr val="39BC61"/>
              </a:solidFill>
            </a:endParaRPr>
          </a:p>
        </p:txBody>
      </p:sp>
      <p:sp>
        <p:nvSpPr>
          <p:cNvPr id="647" name="Google Shape;647;p82"/>
          <p:cNvSpPr/>
          <p:nvPr/>
        </p:nvSpPr>
        <p:spPr>
          <a:xfrm>
            <a:off x="2053725" y="4621300"/>
            <a:ext cx="1372200" cy="307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5B1EE"/>
                </a:solidFill>
              </a:rPr>
              <a:t>Vertical</a:t>
            </a:r>
            <a:r>
              <a:rPr b="1" lang="en">
                <a:solidFill>
                  <a:srgbClr val="05B1EE"/>
                </a:solidFill>
              </a:rPr>
              <a:t> WGs</a:t>
            </a:r>
            <a:endParaRPr b="1">
              <a:solidFill>
                <a:srgbClr val="05B1EE"/>
              </a:solidFill>
            </a:endParaRPr>
          </a:p>
        </p:txBody>
      </p:sp>
      <p:cxnSp>
        <p:nvCxnSpPr>
          <p:cNvPr id="648" name="Google Shape;648;p82"/>
          <p:cNvCxnSpPr>
            <a:stCxn id="645" idx="3"/>
          </p:cNvCxnSpPr>
          <p:nvPr/>
        </p:nvCxnSpPr>
        <p:spPr>
          <a:xfrm flipH="1" rot="10800000">
            <a:off x="1239025" y="1991700"/>
            <a:ext cx="1398600" cy="584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Interposer</a:t>
            </a:r>
            <a:endParaRPr/>
          </a:p>
        </p:txBody>
      </p:sp>
      <p:sp>
        <p:nvSpPr>
          <p:cNvPr id="654" name="Google Shape;654;p83"/>
          <p:cNvSpPr txBox="1"/>
          <p:nvPr>
            <p:ph idx="1" type="body"/>
          </p:nvPr>
        </p:nvSpPr>
        <p:spPr>
          <a:xfrm>
            <a:off x="4524800" y="1951625"/>
            <a:ext cx="4619100" cy="21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Example: A100 GPU as EIC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EIC and xbar switching are connected via microbumps to allow data communication between EICs in different unit interposers.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Local communications, e.g. xPU to HBM can also utilize a portion of WG </a:t>
            </a:r>
            <a:r>
              <a:rPr lang="en" sz="1400">
                <a:solidFill>
                  <a:schemeClr val="dk1"/>
                </a:solidFill>
              </a:rPr>
              <a:t>instead</a:t>
            </a:r>
            <a:r>
              <a:rPr lang="en" sz="1400">
                <a:solidFill>
                  <a:schemeClr val="dk1"/>
                </a:solidFill>
              </a:rPr>
              <a:t> of </a:t>
            </a:r>
            <a:r>
              <a:rPr lang="en" sz="1400">
                <a:solidFill>
                  <a:schemeClr val="dk1"/>
                </a:solidFill>
              </a:rPr>
              <a:t>silicon</a:t>
            </a:r>
            <a:r>
              <a:rPr lang="en" sz="1400">
                <a:solidFill>
                  <a:schemeClr val="dk1"/>
                </a:solidFill>
              </a:rPr>
              <a:t> interposer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55" name="Google Shape;655;p83"/>
          <p:cNvPicPr preferRelativeResize="0"/>
          <p:nvPr/>
        </p:nvPicPr>
        <p:blipFill rotWithShape="1">
          <a:blip r:embed="rId3">
            <a:alphaModFix/>
          </a:blip>
          <a:srcRect b="0" l="0" r="6664" t="0"/>
          <a:stretch/>
        </p:blipFill>
        <p:spPr>
          <a:xfrm>
            <a:off x="73250" y="1066975"/>
            <a:ext cx="4556026" cy="40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Interposer</a:t>
            </a:r>
            <a:endParaRPr/>
          </a:p>
        </p:txBody>
      </p:sp>
      <p:sp>
        <p:nvSpPr>
          <p:cNvPr id="661" name="Google Shape;661;p84"/>
          <p:cNvSpPr txBox="1"/>
          <p:nvPr>
            <p:ph idx="1" type="body"/>
          </p:nvPr>
        </p:nvSpPr>
        <p:spPr>
          <a:xfrm>
            <a:off x="4524800" y="1951625"/>
            <a:ext cx="4619100" cy="21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Example: A100 GPU as EIC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EIC and xbar switching are connected via microbumps to allow data communication between EICs in different unit interposers.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Local communications, e.g. xPU to HBM can also utilize a portion of WG instead of silicon interposer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62" name="Google Shape;662;p84"/>
          <p:cNvPicPr preferRelativeResize="0"/>
          <p:nvPr/>
        </p:nvPicPr>
        <p:blipFill rotWithShape="1">
          <a:blip r:embed="rId3">
            <a:alphaModFix/>
          </a:blip>
          <a:srcRect b="0" l="0" r="6664" t="0"/>
          <a:stretch/>
        </p:blipFill>
        <p:spPr>
          <a:xfrm>
            <a:off x="73250" y="1066975"/>
            <a:ext cx="4556026" cy="40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Interposer Components</a:t>
            </a:r>
            <a:endParaRPr/>
          </a:p>
        </p:txBody>
      </p:sp>
      <p:sp>
        <p:nvSpPr>
          <p:cNvPr id="668" name="Google Shape;668;p8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Unit interposer (space reserved </a:t>
            </a:r>
            <a:r>
              <a:rPr lang="en" sz="1400">
                <a:solidFill>
                  <a:srgbClr val="000000"/>
                </a:solidFill>
              </a:rPr>
              <a:t>for the yellow block</a:t>
            </a:r>
            <a:r>
              <a:rPr lang="en" sz="1400">
                <a:solidFill>
                  <a:srgbClr val="000000"/>
                </a:solidFill>
              </a:rPr>
              <a:t>)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Carved slots on the glass panel to contain PIC, EIC, and switching fabric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EIC (Electronic Integrated Chip)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xPUs, memories, accelerators, CPUs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Heterogeneous EICs integration is </a:t>
            </a:r>
            <a:r>
              <a:rPr lang="en">
                <a:solidFill>
                  <a:srgbClr val="000000"/>
                </a:solidFill>
              </a:rPr>
              <a:t>possible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PIC (Photonic Integrated Chip) (yellow block)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Handles electric to optical signal conversion (E/O)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Waveguides (WG)	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Carries light signal, akin to a light fiber and are embedded into or deposited on top of glass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669" name="Google Shape;66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612" y="3314527"/>
            <a:ext cx="7266776" cy="165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Heterogeneous Glass Panel</a:t>
            </a:r>
            <a:endParaRPr/>
          </a:p>
        </p:txBody>
      </p:sp>
      <p:sp>
        <p:nvSpPr>
          <p:cNvPr id="675" name="Google Shape;675;p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76" name="Google Shape;676;p86"/>
          <p:cNvPicPr preferRelativeResize="0"/>
          <p:nvPr/>
        </p:nvPicPr>
        <p:blipFill rotWithShape="1">
          <a:blip r:embed="rId3">
            <a:alphaModFix/>
          </a:blip>
          <a:srcRect b="0" l="0" r="5087" t="0"/>
          <a:stretch/>
        </p:blipFill>
        <p:spPr>
          <a:xfrm>
            <a:off x="1531025" y="1268075"/>
            <a:ext cx="6081949" cy="36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Heterogeneous EIC Options</a:t>
            </a:r>
            <a:endParaRPr/>
          </a:p>
        </p:txBody>
      </p:sp>
      <p:sp>
        <p:nvSpPr>
          <p:cNvPr id="682" name="Google Shape;682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Compute-variant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H100 / B200 or similar GPU compute die with or without local memory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Custom LLM accelerators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Capacity-variant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Hardware memory pool using variants of memory </a:t>
            </a:r>
            <a:r>
              <a:rPr lang="en" sz="1200">
                <a:solidFill>
                  <a:schemeClr val="dk1"/>
                </a:solidFill>
              </a:rPr>
              <a:t>technology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Optical interfaces allow data communication to the entire panel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Processing-near-memory (PNM) variant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Monolithic 3D Stackable DRAM (MICRO’25)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Hybrid-bonding interconnect between M3D DRAM and base die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PNM logic on base die benefit from extreme internal </a:t>
            </a:r>
            <a:r>
              <a:rPr lang="en" sz="1200">
                <a:solidFill>
                  <a:schemeClr val="dk1"/>
                </a:solidFill>
              </a:rPr>
              <a:t>bandwidth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free from TSV constraints (~20 TB/s)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83" name="Google Shape;68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425" y="569525"/>
            <a:ext cx="2549900" cy="15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87"/>
          <p:cNvPicPr preferRelativeResize="0"/>
          <p:nvPr/>
        </p:nvPicPr>
        <p:blipFill rotWithShape="1">
          <a:blip r:embed="rId4">
            <a:alphaModFix/>
          </a:blip>
          <a:srcRect b="0" l="744" r="0" t="0"/>
          <a:stretch/>
        </p:blipFill>
        <p:spPr>
          <a:xfrm>
            <a:off x="5851325" y="2118350"/>
            <a:ext cx="3134100" cy="295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 Interposer Design Options</a:t>
            </a:r>
            <a:endParaRPr/>
          </a:p>
        </p:txBody>
      </p:sp>
      <p:sp>
        <p:nvSpPr>
          <p:cNvPr id="690" name="Google Shape;690;p88"/>
          <p:cNvSpPr txBox="1"/>
          <p:nvPr>
            <p:ph idx="1" type="body"/>
          </p:nvPr>
        </p:nvSpPr>
        <p:spPr>
          <a:xfrm>
            <a:off x="311700" y="1146425"/>
            <a:ext cx="43386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PIC embedded (left)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PIC is embedded into the glass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Light goes through PIC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Switching is done inside the PIC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Limited switching room and WG routing space </a:t>
            </a:r>
            <a:r>
              <a:rPr lang="en" sz="1400">
                <a:solidFill>
                  <a:srgbClr val="000000"/>
                </a:solidFill>
              </a:rPr>
              <a:t>within</a:t>
            </a:r>
            <a:r>
              <a:rPr lang="en" sz="1400">
                <a:solidFill>
                  <a:srgbClr val="000000"/>
                </a:solidFill>
              </a:rPr>
              <a:t> the glass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691" name="Google Shape;691;p88"/>
          <p:cNvPicPr preferRelativeResize="0"/>
          <p:nvPr/>
        </p:nvPicPr>
        <p:blipFill rotWithShape="1">
          <a:blip r:embed="rId3">
            <a:alphaModFix/>
          </a:blip>
          <a:srcRect b="11967" l="5375" r="5482" t="7284"/>
          <a:stretch/>
        </p:blipFill>
        <p:spPr>
          <a:xfrm>
            <a:off x="1604127" y="3088025"/>
            <a:ext cx="5400948" cy="19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88"/>
          <p:cNvSpPr txBox="1"/>
          <p:nvPr>
            <p:ph idx="1" type="body"/>
          </p:nvPr>
        </p:nvSpPr>
        <p:spPr>
          <a:xfrm>
            <a:off x="4400450" y="1085850"/>
            <a:ext cx="48915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PIC-on-top (right)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PIC sits on top of the glass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Light goes in/out PIC at every node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Switching is inside the PIC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More area for switching fabric (entire PIC) and WG routing space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More loss to incur by mirroring light into the PIC above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Switching </a:t>
            </a:r>
            <a:r>
              <a:rPr lang="en"/>
              <a:t>fabric</a:t>
            </a:r>
            <a:endParaRPr/>
          </a:p>
        </p:txBody>
      </p:sp>
      <p:sp>
        <p:nvSpPr>
          <p:cNvPr id="698" name="Google Shape;698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At each unit interposer, horizontal optical links and verticals links cross each other.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Vertically-Coupled Add-Drop Racetrack Resonator (VC-AD-RTR) are used for switching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Racetrack </a:t>
            </a:r>
            <a:r>
              <a:rPr lang="en" sz="1300">
                <a:solidFill>
                  <a:schemeClr val="dk1"/>
                </a:solidFill>
              </a:rPr>
              <a:t>are </a:t>
            </a:r>
            <a:r>
              <a:rPr lang="en" sz="1300">
                <a:solidFill>
                  <a:schemeClr val="dk1"/>
                </a:solidFill>
              </a:rPr>
              <a:t>placed</a:t>
            </a:r>
            <a:r>
              <a:rPr lang="en" sz="1300">
                <a:solidFill>
                  <a:schemeClr val="dk1"/>
                </a:solidFill>
              </a:rPr>
              <a:t> at each crossing of vertical and horizontal links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Racetrack </a:t>
            </a:r>
            <a:r>
              <a:rPr lang="en" sz="1300">
                <a:solidFill>
                  <a:schemeClr val="dk1"/>
                </a:solidFill>
              </a:rPr>
              <a:t>can be reconfigured to individually control each crossing node routing (go straight or turn)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Per-waveguide</a:t>
            </a:r>
            <a:r>
              <a:rPr lang="en" sz="1300">
                <a:solidFill>
                  <a:schemeClr val="dk1"/>
                </a:solidFill>
              </a:rPr>
              <a:t> routing is achieved between any direction of the optical crossbar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699" name="Google Shape;69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00" y="2553840"/>
            <a:ext cx="9144000" cy="2589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GlassML Routing</a:t>
            </a:r>
            <a:endParaRPr/>
          </a:p>
        </p:txBody>
      </p:sp>
      <p:sp>
        <p:nvSpPr>
          <p:cNvPr id="705" name="Google Shape;705;p90"/>
          <p:cNvSpPr txBox="1"/>
          <p:nvPr>
            <p:ph idx="1" type="body"/>
          </p:nvPr>
        </p:nvSpPr>
        <p:spPr>
          <a:xfrm>
            <a:off x="377500" y="1152475"/>
            <a:ext cx="845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Reconfiguration optical interconnect require optical circuit switching, different from packet switching commonly used in copper-based interconnect. 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706" name="Google Shape;706;p90"/>
          <p:cNvPicPr preferRelativeResize="0"/>
          <p:nvPr/>
        </p:nvPicPr>
        <p:blipFill rotWithShape="1">
          <a:blip r:embed="rId3">
            <a:alphaModFix/>
          </a:blip>
          <a:srcRect b="0" l="0" r="0" t="12026"/>
          <a:stretch/>
        </p:blipFill>
        <p:spPr>
          <a:xfrm>
            <a:off x="311700" y="1764625"/>
            <a:ext cx="5057848" cy="321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90"/>
          <p:cNvSpPr txBox="1"/>
          <p:nvPr>
            <p:ph idx="1" type="body"/>
          </p:nvPr>
        </p:nvSpPr>
        <p:spPr>
          <a:xfrm>
            <a:off x="5442300" y="1807875"/>
            <a:ext cx="3701700" cy="30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Resource contention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WG, Rx Tx E/O converters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Brown and red communication paths must not take place simultaneously using the same WG 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The two red communication paths can take place simultaneously on the same WG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Bandwidth reconfigurability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</a:rPr>
              <a:t>Each node-pair can be allocated different bandwidth depending on needs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GlassML Routing</a:t>
            </a:r>
            <a:endParaRPr/>
          </a:p>
        </p:txBody>
      </p:sp>
      <p:sp>
        <p:nvSpPr>
          <p:cNvPr id="713" name="Google Shape;713;p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Problem formulation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There are 4 key parameters in discussion. 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5969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N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: grid dimension (N×N = N² xPUs)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596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n_wg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: number of waveguides per direction per row or column (in the OJSSCS paper: 14 north/south, 12 east/west)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596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bw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: bandwidth per waveguide, including any WDM (wavelength-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division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-multiplexing)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596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i="1" lang="en" sz="1200">
                <a:solidFill>
                  <a:srgbClr val="000000"/>
                </a:solidFill>
                <a:highlight>
                  <a:srgbClr val="FFFFFF"/>
                </a:highlight>
              </a:rPr>
              <a:t>δ</a:t>
            </a: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: reconfiguration latency of the crossbar switches (not specified in the OJSSCS paper; a parameter we sweep)</a:t>
            </a:r>
            <a:endParaRPr b="1"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highlight>
                  <a:srgbClr val="FFFFFF"/>
                </a:highlight>
              </a:rPr>
              <a:t>Based on the above formulation, we solve a problem of the following</a:t>
            </a:r>
            <a:endParaRPr b="1"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A collective communication operator is represented as a demand matrix of N² by N²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Each entry: the amount of data to be communicated between the pair of xPUs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</a:rPr>
              <a:t>Goal: Find the network configuration (or sequence of network reconfigurations) that completes the collective communication and minimizes the latency of this communication operator. 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GlassML System example</a:t>
            </a:r>
            <a:endParaRPr/>
          </a:p>
        </p:txBody>
      </p:sp>
      <p:sp>
        <p:nvSpPr>
          <p:cNvPr id="719" name="Google Shape;719;p9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As a first step, we replicate the NVL72 rack performance using just one glass panel with glass interconnect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72 GB300 GPUs in a single NVLink domain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P2P </a:t>
            </a:r>
            <a:r>
              <a:rPr lang="en" sz="1300">
                <a:solidFill>
                  <a:srgbClr val="000000"/>
                </a:solidFill>
              </a:rPr>
              <a:t>communication</a:t>
            </a:r>
            <a:r>
              <a:rPr lang="en" sz="1300">
                <a:solidFill>
                  <a:srgbClr val="000000"/>
                </a:solidFill>
              </a:rPr>
              <a:t> achieved through expensive rack-scale switch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Bidirectional </a:t>
            </a:r>
            <a:r>
              <a:rPr lang="en" sz="1300">
                <a:solidFill>
                  <a:srgbClr val="000000"/>
                </a:solidFill>
              </a:rPr>
              <a:t>bandwidth</a:t>
            </a:r>
            <a:r>
              <a:rPr lang="en" sz="1300">
                <a:solidFill>
                  <a:srgbClr val="000000"/>
                </a:solidFill>
              </a:rPr>
              <a:t> per GPU: 1.8 TB/s 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Glass Panel Setups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64 GPUs laid out in an 8x8 mesh (8x9 is possible too to exactly match NVL72)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Each GPU is allocated 16 waveguides at 1Tbps each. 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○"/>
            </a:pPr>
            <a:r>
              <a:rPr lang="en" sz="1300">
                <a:solidFill>
                  <a:srgbClr val="000000"/>
                </a:solidFill>
              </a:rPr>
              <a:t>Each GPU’s bidirectional bandwidth is 2TB/s 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Each crossnode contains a 128x128 crossbar (switchbox) using racetrack switches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○"/>
            </a:pPr>
            <a:r>
              <a:rPr lang="en" sz="1300">
                <a:solidFill>
                  <a:srgbClr val="000000"/>
                </a:solidFill>
              </a:rPr>
              <a:t>Pitch of a racetrack: ~50um</a:t>
            </a:r>
            <a:endParaRPr sz="13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○"/>
            </a:pPr>
            <a:r>
              <a:rPr lang="en" sz="1300">
                <a:solidFill>
                  <a:srgbClr val="000000"/>
                </a:solidFill>
              </a:rPr>
              <a:t>Power of a racetrack: ~0.015mW</a:t>
            </a:r>
            <a:endParaRPr sz="1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3"/>
          <p:cNvSpPr txBox="1"/>
          <p:nvPr/>
        </p:nvSpPr>
        <p:spPr>
          <a:xfrm>
            <a:off x="480073" y="240030"/>
            <a:ext cx="720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25" name="Google Shape;725;p93"/>
          <p:cNvSpPr txBox="1"/>
          <p:nvPr/>
        </p:nvSpPr>
        <p:spPr>
          <a:xfrm>
            <a:off x="429348" y="1263971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1A73E8"/>
              </a:solidFill>
            </a:endParaRPr>
          </a:p>
        </p:txBody>
      </p:sp>
      <p:sp>
        <p:nvSpPr>
          <p:cNvPr id="726" name="Google Shape;726;p93"/>
          <p:cNvSpPr txBox="1"/>
          <p:nvPr/>
        </p:nvSpPr>
        <p:spPr>
          <a:xfrm>
            <a:off x="2555385" y="1263971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73E8"/>
                </a:solidFill>
              </a:rPr>
              <a:t>NVL72 (HBM3e)</a:t>
            </a:r>
            <a:endParaRPr sz="1100"/>
          </a:p>
        </p:txBody>
      </p:sp>
      <p:sp>
        <p:nvSpPr>
          <p:cNvPr id="727" name="Google Shape;727;p93"/>
          <p:cNvSpPr txBox="1"/>
          <p:nvPr/>
        </p:nvSpPr>
        <p:spPr>
          <a:xfrm>
            <a:off x="4681421" y="1263971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73E8"/>
                </a:solidFill>
              </a:rPr>
              <a:t>Glass + HBM3e Pool</a:t>
            </a:r>
            <a:endParaRPr sz="1100"/>
          </a:p>
        </p:txBody>
      </p:sp>
      <p:sp>
        <p:nvSpPr>
          <p:cNvPr id="728" name="Google Shape;728;p93"/>
          <p:cNvSpPr txBox="1"/>
          <p:nvPr/>
        </p:nvSpPr>
        <p:spPr>
          <a:xfrm>
            <a:off x="6807458" y="1263971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A73E8"/>
                </a:solidFill>
              </a:rPr>
              <a:t>Glass (heterogeneous)</a:t>
            </a:r>
            <a:endParaRPr sz="1100"/>
          </a:p>
        </p:txBody>
      </p:sp>
      <p:sp>
        <p:nvSpPr>
          <p:cNvPr id="729" name="Google Shape;729;p93"/>
          <p:cNvSpPr txBox="1"/>
          <p:nvPr/>
        </p:nvSpPr>
        <p:spPr>
          <a:xfrm>
            <a:off x="429348" y="1552007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</a:rPr>
              <a:t>Slot Types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0" name="Google Shape;730;p93"/>
          <p:cNvSpPr txBox="1"/>
          <p:nvPr/>
        </p:nvSpPr>
        <p:spPr>
          <a:xfrm>
            <a:off x="2555385" y="1552007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72 GPUs (homogeneous)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1" name="Google Shape;731;p93"/>
          <p:cNvSpPr txBox="1"/>
          <p:nvPr/>
        </p:nvSpPr>
        <p:spPr>
          <a:xfrm>
            <a:off x="4681421" y="1552007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64 xPU+HBM slots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2" name="Google Shape;732;p93"/>
          <p:cNvSpPr txBox="1"/>
          <p:nvPr/>
        </p:nvSpPr>
        <p:spPr>
          <a:xfrm>
            <a:off x="6807458" y="1552007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xPU slots + 3D DRAM slots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3" name="Google Shape;733;p93"/>
          <p:cNvSpPr txBox="1"/>
          <p:nvPr/>
        </p:nvSpPr>
        <p:spPr>
          <a:xfrm>
            <a:off x="429348" y="1805753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</a:rPr>
              <a:t>Per-slot Memory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4" name="Google Shape;734;p93"/>
          <p:cNvSpPr txBox="1"/>
          <p:nvPr/>
        </p:nvSpPr>
        <p:spPr>
          <a:xfrm>
            <a:off x="2555385" y="1805753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192 GB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5" name="Google Shape;735;p93"/>
          <p:cNvSpPr txBox="1"/>
          <p:nvPr/>
        </p:nvSpPr>
        <p:spPr>
          <a:xfrm>
            <a:off x="4681421" y="1805753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192 GB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6" name="Google Shape;736;p93"/>
          <p:cNvSpPr txBox="1"/>
          <p:nvPr/>
        </p:nvSpPr>
        <p:spPr>
          <a:xfrm>
            <a:off x="6807458" y="1805753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960 GB (3D DRAM slots)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7" name="Google Shape;737;p93"/>
          <p:cNvSpPr txBox="1"/>
          <p:nvPr/>
        </p:nvSpPr>
        <p:spPr>
          <a:xfrm>
            <a:off x="429348" y="2059499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</a:rPr>
              <a:t>Total System Memory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8" name="Google Shape;738;p93"/>
          <p:cNvSpPr txBox="1"/>
          <p:nvPr/>
        </p:nvSpPr>
        <p:spPr>
          <a:xfrm>
            <a:off x="2555385" y="2059499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~13 TB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9" name="Google Shape;739;p93"/>
          <p:cNvSpPr txBox="1"/>
          <p:nvPr/>
        </p:nvSpPr>
        <p:spPr>
          <a:xfrm>
            <a:off x="4681421" y="2059499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~12 TB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0" name="Google Shape;740;p93"/>
          <p:cNvSpPr txBox="1"/>
          <p:nvPr/>
        </p:nvSpPr>
        <p:spPr>
          <a:xfrm>
            <a:off x="6807458" y="2059499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Configurable, up to ~60 TB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1" name="Google Shape;741;p93"/>
          <p:cNvSpPr txBox="1"/>
          <p:nvPr/>
        </p:nvSpPr>
        <p:spPr>
          <a:xfrm>
            <a:off x="429348" y="2313245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</a:rPr>
              <a:t>Per-slot BW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2" name="Google Shape;742;p93"/>
          <p:cNvSpPr txBox="1"/>
          <p:nvPr/>
        </p:nvSpPr>
        <p:spPr>
          <a:xfrm>
            <a:off x="2555385" y="2313245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8 TB/s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3" name="Google Shape;743;p93"/>
          <p:cNvSpPr txBox="1"/>
          <p:nvPr/>
        </p:nvSpPr>
        <p:spPr>
          <a:xfrm>
            <a:off x="4681421" y="2313245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8 TB/s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4" name="Google Shape;744;p93"/>
          <p:cNvSpPr txBox="1"/>
          <p:nvPr/>
        </p:nvSpPr>
        <p:spPr>
          <a:xfrm>
            <a:off x="6807458" y="2313245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20 TB/s (3D DRAM slots)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5" name="Google Shape;745;p93"/>
          <p:cNvSpPr txBox="1"/>
          <p:nvPr/>
        </p:nvSpPr>
        <p:spPr>
          <a:xfrm>
            <a:off x="429348" y="2568371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chemeClr val="dk1"/>
                </a:solidFill>
              </a:rPr>
              <a:t>NMP Compute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6" name="Google Shape;746;p93"/>
          <p:cNvSpPr txBox="1"/>
          <p:nvPr/>
        </p:nvSpPr>
        <p:spPr>
          <a:xfrm>
            <a:off x="2555385" y="2568371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None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7" name="Google Shape;747;p93"/>
          <p:cNvSpPr txBox="1"/>
          <p:nvPr/>
        </p:nvSpPr>
        <p:spPr>
          <a:xfrm>
            <a:off x="4681421" y="2568371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None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8" name="Google Shape;748;p93"/>
          <p:cNvSpPr txBox="1"/>
          <p:nvPr/>
        </p:nvSpPr>
        <p:spPr>
          <a:xfrm>
            <a:off x="6807458" y="2568371"/>
            <a:ext cx="205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chemeClr val="dk1"/>
                </a:solidFill>
              </a:rPr>
              <a:t>500 TFLOPS/die (3D DRAM)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9" name="Google Shape;749;p93"/>
          <p:cNvSpPr txBox="1"/>
          <p:nvPr/>
        </p:nvSpPr>
        <p:spPr>
          <a:xfrm>
            <a:off x="429348" y="3105983"/>
            <a:ext cx="822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chemeClr val="dk1"/>
                </a:solidFill>
              </a:rPr>
              <a:t>Heterogeneous </a:t>
            </a:r>
            <a:r>
              <a:rPr b="1" lang="en" sz="1500">
                <a:solidFill>
                  <a:schemeClr val="dk1"/>
                </a:solidFill>
              </a:rPr>
              <a:t>integration is possible given glass interposer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50" name="Google Shape;750;p93"/>
          <p:cNvSpPr txBox="1"/>
          <p:nvPr/>
        </p:nvSpPr>
        <p:spPr>
          <a:xfrm>
            <a:off x="429348" y="3513629"/>
            <a:ext cx="82299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i="0" lang="en" sz="1300" u="none" cap="none" strike="noStrike">
                <a:solidFill>
                  <a:schemeClr val="dk1"/>
                </a:solidFill>
              </a:rPr>
              <a:t>Some slots dedicated to xPU (compute), some to 3D DRAM (memory)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i="0" lang="en" sz="1300" u="none" cap="none" strike="noStrike">
                <a:solidFill>
                  <a:schemeClr val="dk1"/>
                </a:solidFill>
              </a:rPr>
              <a:t>Shared optical memory pool: model weights stored once, no duplication across slots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51" name="Google Shape;751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composition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94"/>
          <p:cNvSpPr txBox="1"/>
          <p:nvPr/>
        </p:nvSpPr>
        <p:spPr>
          <a:xfrm>
            <a:off x="480073" y="240030"/>
            <a:ext cx="720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57" name="Google Shape;757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500">
                <a:solidFill>
                  <a:srgbClr val="333333"/>
                </a:solidFill>
              </a:rPr>
              <a:t>Potential Application: </a:t>
            </a:r>
            <a:r>
              <a:rPr lang="en" sz="2500">
                <a:solidFill>
                  <a:srgbClr val="333333"/>
                </a:solidFill>
              </a:rPr>
              <a:t>MoE Inference 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94"/>
          <p:cNvSpPr txBox="1"/>
          <p:nvPr>
            <p:ph idx="1" type="body"/>
          </p:nvPr>
        </p:nvSpPr>
        <p:spPr>
          <a:xfrm>
            <a:off x="311700" y="1152475"/>
            <a:ext cx="8520600" cy="31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●"/>
            </a:pPr>
            <a:r>
              <a:rPr b="1" lang="en" sz="1200">
                <a:solidFill>
                  <a:srgbClr val="333333"/>
                </a:solidFill>
              </a:rPr>
              <a:t>Prefill-Decode Disaggregation</a:t>
            </a:r>
            <a:endParaRPr b="1" sz="1200">
              <a:solidFill>
                <a:srgbClr val="333333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Prefill (compute-bound) → dedicate high-FLOPS xPU slots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Decode (memory-BW-bound) → 3D DRAM slots or similar high memory bandwidth processors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Panel-scale memory pool design → No weight duplication required on GPU architectures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Expert Routing Optimization</a:t>
            </a:r>
            <a:endParaRPr b="1"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Predict expert loads via router confidence scores or topic-based statistical usage [Lynx, arXiv'24; Stratum, MICRO'25]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Predict expert usage through inter-layer expert choice correlation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</a:rPr>
              <a:t>Prediction-guided dynamic network configuration to adapt to communication patterns</a:t>
            </a:r>
            <a:br>
              <a:rPr lang="en" sz="1200">
                <a:solidFill>
                  <a:schemeClr val="dk1"/>
                </a:solidFill>
              </a:rPr>
            </a:br>
            <a:endParaRPr sz="12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95"/>
          <p:cNvSpPr txBox="1"/>
          <p:nvPr/>
        </p:nvSpPr>
        <p:spPr>
          <a:xfrm>
            <a:off x="1134423" y="-23545"/>
            <a:ext cx="720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64" name="Google Shape;764;p95"/>
          <p:cNvSpPr txBox="1"/>
          <p:nvPr/>
        </p:nvSpPr>
        <p:spPr>
          <a:xfrm>
            <a:off x="480073" y="788670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65" name="Google Shape;765;p95"/>
          <p:cNvSpPr txBox="1"/>
          <p:nvPr/>
        </p:nvSpPr>
        <p:spPr>
          <a:xfrm>
            <a:off x="480073" y="4594860"/>
            <a:ext cx="8229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[SIGCOMM'25] Liao et al., MixNet  |  [arXiv'24] Gupta et al., Lynx  |  [MICRO'25] Pan et al., Stratum</a:t>
            </a:r>
            <a:endParaRPr sz="1100"/>
          </a:p>
        </p:txBody>
      </p:sp>
      <p:sp>
        <p:nvSpPr>
          <p:cNvPr id="766" name="Google Shape;766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rgbClr val="333333"/>
                </a:solidFill>
              </a:rPr>
              <a:t>Potential Application: Training and Video Generation </a:t>
            </a:r>
            <a:endParaRPr sz="25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70">
              <a:solidFill>
                <a:srgbClr val="333333"/>
              </a:solidFill>
            </a:endParaRPr>
          </a:p>
        </p:txBody>
      </p:sp>
      <p:sp>
        <p:nvSpPr>
          <p:cNvPr id="767" name="Google Shape;767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MoE Training on GlassML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Tailored optical networks for Expert Parallelism: workload-adaptive BW allocation [SIGCOMM'25]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Dynamic batch-aware expert selection: per batch, per layer [Lynx, arXiv'24]; router confidence for remapping: no prior profiling required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Significantly reduce all-to-all overhead, as much as 55% of training iteration time (SIGCOMM’25)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Video Generation &amp; World Models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Sora, Wan: latent tensors &gt;&gt; LLM KV-caches, need multi-TB memory [Sora, OpenAI'24; Wan, arXiv'25]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60 TB Glass+3DDRAM eliminates checkpointing and improve MFU (SoTA 30–40%)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World models: 30+ FPS requires &lt;33ms per step; 10–50ns on-panel latency meets real-time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highlight>
                  <a:schemeClr val="lt1"/>
                </a:highlight>
              </a:rPr>
              <a:t>20 TB/s per-slot BW for dense spatiotemporal data [Stratum, MICRO'25]</a:t>
            </a:r>
            <a:endParaRPr sz="1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