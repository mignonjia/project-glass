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Gill Sans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hKMV78CBnWZ+vccjB0ap62pTa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GillSans-regular.fntdata"/><Relationship Id="rId7" Type="http://schemas.openxmlformats.org/officeDocument/2006/relationships/font" Target="fonts/GillSans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8601184d51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28601184d51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g28601184d51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347472" y="34747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5F9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347472" y="1261872"/>
            <a:ext cx="1143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2957" y="685800"/>
            <a:ext cx="54864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7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>
                <a:solidFill>
                  <a:srgbClr val="4D98D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ctrTitle"/>
          </p:nvPr>
        </p:nvSpPr>
        <p:spPr>
          <a:xfrm>
            <a:off x="457200" y="1828799"/>
            <a:ext cx="11274552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5F98"/>
              </a:buClr>
              <a:buSzPts val="6000"/>
              <a:buFont typeface="Georgia"/>
              <a:buNone/>
              <a:defRPr b="0" sz="6000">
                <a:solidFill>
                  <a:srgbClr val="225F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" name="Google Shape;2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57200"/>
            <a:ext cx="2240280" cy="91302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8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logo&#10;&#10;Description automatically generated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7731" y="210772"/>
            <a:ext cx="1429270" cy="1174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57200" y="3657600"/>
            <a:ext cx="1127455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5F98"/>
              </a:buClr>
              <a:buSzPts val="4800"/>
              <a:buFont typeface="Georgia"/>
              <a:buNone/>
              <a:defRPr sz="4800">
                <a:solidFill>
                  <a:srgbClr val="225F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D98D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347472" y="347472"/>
            <a:ext cx="10415121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5F9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347472" y="1258066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291072" y="1258066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347472" y="347472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5F98"/>
              </a:buClr>
              <a:buSzPts val="3200"/>
              <a:buFont typeface="Georgia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4647161" y="347472"/>
            <a:ext cx="7114032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347472" y="2176272"/>
            <a:ext cx="3932237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6" name="Google Shape;46;p11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347472" y="347472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5F98"/>
              </a:buClr>
              <a:buSzPts val="3200"/>
              <a:buFont typeface="Georgia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/>
          <p:nvPr>
            <p:ph idx="2" type="pic"/>
          </p:nvPr>
        </p:nvSpPr>
        <p:spPr>
          <a:xfrm>
            <a:off x="4647161" y="347471"/>
            <a:ext cx="7114032" cy="54864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347472" y="2176272"/>
            <a:ext cx="3932237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347472" y="34747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5F9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ntent (white, no logo)">
  <p:cSld name="Title + Content (white, no logo)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47472" y="347472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5F9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47472" y="1261872"/>
            <a:ext cx="1143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, no logo)">
  <p:cSld name="Blank (White, no logo)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type="title"/>
          </p:nvPr>
        </p:nvSpPr>
        <p:spPr>
          <a:xfrm>
            <a:off x="1874822" y="6309360"/>
            <a:ext cx="6435165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5F98"/>
              </a:buClr>
              <a:buSzPts val="2400"/>
              <a:buFont typeface="Georgia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50000"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5"/>
          <p:cNvCxnSpPr/>
          <p:nvPr/>
        </p:nvCxnSpPr>
        <p:spPr>
          <a:xfrm>
            <a:off x="1874520" y="6349959"/>
            <a:ext cx="9902952" cy="0"/>
          </a:xfrm>
          <a:prstGeom prst="straightConnector1">
            <a:avLst/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" name="Google Shape;1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472" y="6062472"/>
            <a:ext cx="1197864" cy="57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5"/>
          <p:cNvSpPr txBox="1"/>
          <p:nvPr>
            <p:ph type="title"/>
          </p:nvPr>
        </p:nvSpPr>
        <p:spPr>
          <a:xfrm>
            <a:off x="347473" y="347472"/>
            <a:ext cx="102469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5F98"/>
              </a:buClr>
              <a:buSzPts val="3600"/>
              <a:buFont typeface="Georgia"/>
              <a:buNone/>
              <a:defRPr b="0" i="0" sz="36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347472" y="1261872"/>
            <a:ext cx="1143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1" type="ftr"/>
          </p:nvPr>
        </p:nvSpPr>
        <p:spPr>
          <a:xfrm>
            <a:off x="7662672" y="6355080"/>
            <a:ext cx="3657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4D98D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5"/>
          <p:cNvSpPr txBox="1"/>
          <p:nvPr>
            <p:ph idx="12" type="sldNum"/>
          </p:nvPr>
        </p:nvSpPr>
        <p:spPr>
          <a:xfrm>
            <a:off x="11320272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5F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logo&#10;&#10;Description automatically generated" id="16" name="Google Shape;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9261" y="129947"/>
            <a:ext cx="1099153" cy="903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8601184d51_0_87"/>
          <p:cNvSpPr txBox="1"/>
          <p:nvPr>
            <p:ph type="title"/>
          </p:nvPr>
        </p:nvSpPr>
        <p:spPr>
          <a:xfrm>
            <a:off x="334950" y="80321"/>
            <a:ext cx="92814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Learnable Watermarking Enables Traceable Medical Text Generation with Large Language Models</a:t>
            </a:r>
            <a:br>
              <a:rPr b="1" lang="en-US" sz="2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lang="en-US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Presenter:  Mingjia Huo (PhD, UCSD),</a:t>
            </a:r>
            <a:r>
              <a:rPr lang="en-US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Ruiyi Zhang (PhD, UCSD), Avi Patel (MD, UCSD), Akshat Kumar (MD, UCSD), Joseph Ahn (MD, Mayo Clinic), Atul Malhotra (MD, UCSD), Robert N. Weinreb (MD, UCSD), Davey Smith (MD, UCSD)</a:t>
            </a:r>
            <a:br>
              <a:rPr lang="en-US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Tajana Rosing (PI, UCSD), Pengtao Xie (PI, UCSD)</a:t>
            </a:r>
            <a:br>
              <a:rPr lang="en-US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Project</a:t>
            </a:r>
            <a:r>
              <a:rPr lang="en-US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#: T1 - 3135.004</a:t>
            </a:r>
            <a:endParaRPr sz="14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28601184d51_0_87"/>
          <p:cNvSpPr txBox="1"/>
          <p:nvPr>
            <p:ph idx="1" type="body"/>
          </p:nvPr>
        </p:nvSpPr>
        <p:spPr>
          <a:xfrm>
            <a:off x="154236" y="1806766"/>
            <a:ext cx="7899094" cy="4500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Problem &amp; State of the Art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integration of Large Language Models (LLMs) in healthcare creates risks of misuse, unauthorized distribution, and leakage of sensitive medical information.</a:t>
            </a:r>
            <a:endParaRPr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Technical Approach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MedMark is a learnable, context-aware framework to distinguish machine-generated text from human-written ones,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advancing secure and trustworthy systems software.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We use a multi-task learning objective (optimizing detection loss and semantic coherence loss) to train neural networks that guide token generations.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Results &amp; metrics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MedMark consistently outperforms SOTA methods [ICML’2023, Nature’24], achieving high detection rates (TPR@FPR=1%) alongside superior semantic similarity before and after watermarking, greater diversity, and robustness against text manipulation. 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Clinical expert evaluations verified that MedMark maintains high clinical utility. 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Showstopper: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Watermark detection remains unreliable in very short texts (&lt;50 tokens) due to insufficient statistical evidence.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Grand challenge application: 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Precision medicine.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28601184d51_0_87"/>
          <p:cNvSpPr txBox="1"/>
          <p:nvPr>
            <p:ph idx="12" type="sldNum"/>
          </p:nvPr>
        </p:nvSpPr>
        <p:spPr>
          <a:xfrm>
            <a:off x="11320272" y="6355080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" name="Google Shape;78;g28601184d51_0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7742" y="1891339"/>
            <a:ext cx="4090022" cy="403768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28601184d51_0_87"/>
          <p:cNvSpPr txBox="1"/>
          <p:nvPr/>
        </p:nvSpPr>
        <p:spPr>
          <a:xfrm>
            <a:off x="1748926" y="6307645"/>
            <a:ext cx="957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2E4C"/>
                </a:solidFill>
                <a:latin typeface="Arial"/>
                <a:ea typeface="Arial"/>
                <a:cs typeface="Arial"/>
                <a:sym typeface="Arial"/>
              </a:rPr>
              <a:t>Publications: </a:t>
            </a:r>
            <a:r>
              <a:rPr lang="en-US" sz="1100">
                <a:solidFill>
                  <a:srgbClr val="0F2E4C"/>
                </a:solidFill>
              </a:rPr>
              <a:t>Learnable Watermarking Enables Traceable Medical Text Generation with Large Language Models</a:t>
            </a:r>
            <a:r>
              <a:rPr i="0" lang="en-US" sz="1100" u="none" cap="none" strike="noStrike">
                <a:solidFill>
                  <a:srgbClr val="0F2E4C"/>
                </a:solidFill>
              </a:rPr>
              <a:t>. </a:t>
            </a:r>
            <a:r>
              <a:rPr i="1" lang="en-US" sz="1100" u="none" cap="none" strike="noStrike">
                <a:solidFill>
                  <a:srgbClr val="0F2E4C"/>
                </a:solidFill>
              </a:rPr>
              <a:t>Mingjia Huo, Ruiyi Zhang, Avi Patel, Akshat Kumar, Joseph Ahn, Tajana Rosing, Atul Malhotra, Robert N. Weinreb, Davey Smith, and Pengtao Xie</a:t>
            </a:r>
            <a:r>
              <a:rPr i="0" lang="en-US" sz="1100" u="none" cap="none" strike="noStrike">
                <a:solidFill>
                  <a:srgbClr val="0F2E4C"/>
                </a:solidFill>
              </a:rPr>
              <a:t>, 2025, to be submitted.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RC 2022: White with gradient blue logo">
  <a:themeElements>
    <a:clrScheme name="SRC 2022 Bold">
      <a:dk1>
        <a:srgbClr val="0F2E4C"/>
      </a:dk1>
      <a:lt1>
        <a:srgbClr val="FFFFFF"/>
      </a:lt1>
      <a:dk2>
        <a:srgbClr val="205D98"/>
      </a:dk2>
      <a:lt2>
        <a:srgbClr val="E7E6E6"/>
      </a:lt2>
      <a:accent1>
        <a:srgbClr val="205D98"/>
      </a:accent1>
      <a:accent2>
        <a:srgbClr val="720534"/>
      </a:accent2>
      <a:accent3>
        <a:srgbClr val="1D897C"/>
      </a:accent3>
      <a:accent4>
        <a:srgbClr val="EA0200"/>
      </a:accent4>
      <a:accent5>
        <a:srgbClr val="EEBF13"/>
      </a:accent5>
      <a:accent6>
        <a:srgbClr val="AC1C6D"/>
      </a:accent6>
      <a:hlink>
        <a:srgbClr val="0055A3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