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43891200" cx="32918400"/>
  <p:notesSz cx="6858000" cy="9144000"/>
  <p:embeddedFontLst>
    <p:embeddedFont>
      <p:font typeface="Helvetica Neue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j8HuZqDKL7ekU9vfy6nIFsXnJE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HelveticaNeue-boldItalic.fntdata"/><Relationship Id="rId5" Type="http://schemas.openxmlformats.org/officeDocument/2006/relationships/slide" Target="slides/slide1.xml"/><Relationship Id="rId6" Type="http://schemas.openxmlformats.org/officeDocument/2006/relationships/font" Target="fonts/HelveticaNeue-regular.fntdata"/><Relationship Id="rId7" Type="http://schemas.openxmlformats.org/officeDocument/2006/relationships/font" Target="fonts/HelveticaNeue-bold.fntdata"/><Relationship Id="rId8" Type="http://schemas.openxmlformats.org/officeDocument/2006/relationships/font" Target="fonts/HelveticaNeue-italic.fntdata"/><Relationship Id="rId10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61" y="685800"/>
            <a:ext cx="5143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857461" y="685800"/>
            <a:ext cx="5143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2468880" y="7183123"/>
            <a:ext cx="27980700" cy="15280500"/>
          </a:xfrm>
          <a:prstGeom prst="rect">
            <a:avLst/>
          </a:prstGeom>
          <a:noFill/>
          <a:ln>
            <a:noFill/>
          </a:ln>
        </p:spPr>
        <p:txBody>
          <a:bodyPr anchorCtr="0" anchor="b" bIns="66000" lIns="132050" spcFirstLastPara="1" rIns="132050" wrap="square" tIns="66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0"/>
              <a:buFont typeface="Calibri"/>
              <a:buNone/>
              <a:defRPr sz="20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4114800" y="23053043"/>
            <a:ext cx="24688800" cy="10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normAutofit/>
          </a:bodyPr>
          <a:lstStyle>
            <a:lvl1pPr lvl="0" algn="ctr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8300"/>
              <a:buNone/>
              <a:defRPr sz="8300"/>
            </a:lvl1pPr>
            <a:lvl2pPr lvl="1" algn="ctr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900"/>
              <a:buNone/>
              <a:defRPr sz="6900"/>
            </a:lvl2pPr>
            <a:lvl3pPr lvl="2" algn="ctr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6200"/>
            </a:lvl3pPr>
            <a:lvl4pPr lvl="3" algn="ctr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/>
            </a:lvl4pPr>
            <a:lvl5pPr lvl="4" algn="ctr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/>
            </a:lvl5pPr>
            <a:lvl6pPr lvl="5" algn="ctr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/>
            </a:lvl6pPr>
            <a:lvl7pPr lvl="6" algn="ctr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/>
            </a:lvl7pPr>
            <a:lvl8pPr lvl="7" algn="ctr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/>
            </a:lvl8pPr>
            <a:lvl9pPr lvl="8" algn="ctr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226314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10904220" y="40680649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2324862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2263140" y="2336809"/>
            <a:ext cx="28392000" cy="84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2263140" y="11684000"/>
            <a:ext cx="28392000" cy="27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normAutofit/>
          </a:bodyPr>
          <a:lstStyle>
            <a:lvl1pPr indent="-393700" lvl="0" marL="4572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1pPr>
            <a:lvl2pPr indent="-3937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2pPr>
            <a:lvl3pPr indent="-3937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3pPr>
            <a:lvl4pPr indent="-3937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4pPr>
            <a:lvl5pPr indent="-3937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5pPr>
            <a:lvl6pPr indent="-3937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6pPr>
            <a:lvl7pPr indent="-3937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7pPr>
            <a:lvl8pPr indent="-3937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8pPr>
            <a:lvl9pPr indent="-3937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226314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10904220" y="40680649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2324862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2245996" y="10942332"/>
            <a:ext cx="28392000" cy="182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66000" lIns="132050" spcFirstLastPara="1" rIns="132050" wrap="square" tIns="66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0"/>
              <a:buFont typeface="Calibri"/>
              <a:buNone/>
              <a:defRPr sz="20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2245996" y="29372572"/>
            <a:ext cx="283920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8300"/>
              <a:buNone/>
              <a:defRPr sz="83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888888"/>
              </a:buClr>
              <a:buSzPts val="6900"/>
              <a:buNone/>
              <a:defRPr sz="6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888888"/>
              </a:buClr>
              <a:buSzPts val="6200"/>
              <a:buNone/>
              <a:defRPr sz="6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888888"/>
              </a:buClr>
              <a:buSzPts val="5500"/>
              <a:buNone/>
              <a:defRPr sz="55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888888"/>
              </a:buClr>
              <a:buSzPts val="5500"/>
              <a:buNone/>
              <a:defRPr sz="55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888888"/>
              </a:buClr>
              <a:buSzPts val="5500"/>
              <a:buNone/>
              <a:defRPr sz="55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888888"/>
              </a:buClr>
              <a:buSzPts val="5500"/>
              <a:buNone/>
              <a:defRPr sz="55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888888"/>
              </a:buClr>
              <a:buSzPts val="5500"/>
              <a:buNone/>
              <a:defRPr sz="55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888888"/>
              </a:buClr>
              <a:buSzPts val="5500"/>
              <a:buNone/>
              <a:defRPr sz="55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226314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10904220" y="40680649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2324862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2263140" y="2336809"/>
            <a:ext cx="28392000" cy="84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2263140" y="11684000"/>
            <a:ext cx="13990200" cy="27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normAutofit/>
          </a:bodyPr>
          <a:lstStyle>
            <a:lvl1pPr indent="-393700" lvl="0" marL="4572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1pPr>
            <a:lvl2pPr indent="-3937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2pPr>
            <a:lvl3pPr indent="-3937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3pPr>
            <a:lvl4pPr indent="-3937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4pPr>
            <a:lvl5pPr indent="-3937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5pPr>
            <a:lvl6pPr indent="-3937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6pPr>
            <a:lvl7pPr indent="-3937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7pPr>
            <a:lvl8pPr indent="-3937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8pPr>
            <a:lvl9pPr indent="-3937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16664940" y="11684000"/>
            <a:ext cx="13990200" cy="27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normAutofit/>
          </a:bodyPr>
          <a:lstStyle>
            <a:lvl1pPr indent="-393700" lvl="0" marL="4572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1pPr>
            <a:lvl2pPr indent="-3937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2pPr>
            <a:lvl3pPr indent="-3937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3pPr>
            <a:lvl4pPr indent="-3937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4pPr>
            <a:lvl5pPr indent="-3937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5pPr>
            <a:lvl6pPr indent="-3937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6pPr>
            <a:lvl7pPr indent="-3937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7pPr>
            <a:lvl8pPr indent="-3937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8pPr>
            <a:lvl9pPr indent="-3937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226314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10904220" y="40680649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2324862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2267427" y="2336809"/>
            <a:ext cx="28392000" cy="84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2267432" y="10759443"/>
            <a:ext cx="13926000" cy="5273100"/>
          </a:xfrm>
          <a:prstGeom prst="rect">
            <a:avLst/>
          </a:prstGeom>
          <a:noFill/>
          <a:ln>
            <a:noFill/>
          </a:ln>
        </p:spPr>
        <p:txBody>
          <a:bodyPr anchorCtr="0" anchor="b" bIns="66000" lIns="132050" spcFirstLastPara="1" rIns="132050" wrap="square" tIns="66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8300"/>
              <a:buNone/>
              <a:defRPr b="1" sz="8300"/>
            </a:lvl1pPr>
            <a:lvl2pPr indent="-2286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900"/>
              <a:buNone/>
              <a:defRPr b="1" sz="6900"/>
            </a:lvl2pPr>
            <a:lvl3pPr indent="-2286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b="1" sz="6200"/>
            </a:lvl3pPr>
            <a:lvl4pPr indent="-2286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4pPr>
            <a:lvl5pPr indent="-2286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5pPr>
            <a:lvl6pPr indent="-2286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6pPr>
            <a:lvl7pPr indent="-2286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7pPr>
            <a:lvl8pPr indent="-2286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8pPr>
            <a:lvl9pPr indent="-2286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2267432" y="16032480"/>
            <a:ext cx="13926000" cy="235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normAutofit/>
          </a:bodyPr>
          <a:lstStyle>
            <a:lvl1pPr indent="-393700" lvl="0" marL="4572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1pPr>
            <a:lvl2pPr indent="-3937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2pPr>
            <a:lvl3pPr indent="-3937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3pPr>
            <a:lvl4pPr indent="-3937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4pPr>
            <a:lvl5pPr indent="-3937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5pPr>
            <a:lvl6pPr indent="-3937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6pPr>
            <a:lvl7pPr indent="-3937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7pPr>
            <a:lvl8pPr indent="-3937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8pPr>
            <a:lvl9pPr indent="-3937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16664941" y="10759443"/>
            <a:ext cx="13994700" cy="5273100"/>
          </a:xfrm>
          <a:prstGeom prst="rect">
            <a:avLst/>
          </a:prstGeom>
          <a:noFill/>
          <a:ln>
            <a:noFill/>
          </a:ln>
        </p:spPr>
        <p:txBody>
          <a:bodyPr anchorCtr="0" anchor="b" bIns="66000" lIns="132050" spcFirstLastPara="1" rIns="132050" wrap="square" tIns="66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8300"/>
              <a:buNone/>
              <a:defRPr b="1" sz="8300"/>
            </a:lvl1pPr>
            <a:lvl2pPr indent="-2286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900"/>
              <a:buNone/>
              <a:defRPr b="1" sz="6900"/>
            </a:lvl2pPr>
            <a:lvl3pPr indent="-2286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b="1" sz="6200"/>
            </a:lvl3pPr>
            <a:lvl4pPr indent="-2286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4pPr>
            <a:lvl5pPr indent="-2286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5pPr>
            <a:lvl6pPr indent="-2286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6pPr>
            <a:lvl7pPr indent="-2286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7pPr>
            <a:lvl8pPr indent="-2286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8pPr>
            <a:lvl9pPr indent="-2286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b="1" sz="55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16664941" y="16032480"/>
            <a:ext cx="13994700" cy="235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normAutofit/>
          </a:bodyPr>
          <a:lstStyle>
            <a:lvl1pPr indent="-393700" lvl="0" marL="4572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1pPr>
            <a:lvl2pPr indent="-3937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2pPr>
            <a:lvl3pPr indent="-3937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3pPr>
            <a:lvl4pPr indent="-3937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4pPr>
            <a:lvl5pPr indent="-3937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5pPr>
            <a:lvl6pPr indent="-3937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6pPr>
            <a:lvl7pPr indent="-3937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7pPr>
            <a:lvl8pPr indent="-3937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8pPr>
            <a:lvl9pPr indent="-3937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226314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10904220" y="40680649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2324862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2263140" y="2336809"/>
            <a:ext cx="28392000" cy="84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226314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10904220" y="40680649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2324862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226314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10904220" y="40680649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2324862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2267429" y="2926080"/>
            <a:ext cx="10617000" cy="10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66000" lIns="132050" spcFirstLastPara="1" rIns="132050" wrap="square" tIns="66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0"/>
              <a:buFont typeface="Calibri"/>
              <a:buNone/>
              <a:defRPr sz="1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13994607" y="6319529"/>
            <a:ext cx="16665000" cy="311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normAutofit/>
          </a:bodyPr>
          <a:lstStyle>
            <a:lvl1pPr indent="-933450" lvl="0" marL="4572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11100"/>
              <a:buChar char="•"/>
              <a:defRPr sz="11100"/>
            </a:lvl1pPr>
            <a:lvl2pPr indent="-84455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2pPr>
            <a:lvl3pPr indent="-75565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300"/>
              <a:buChar char="•"/>
              <a:defRPr sz="8300"/>
            </a:lvl3pPr>
            <a:lvl4pPr indent="-66675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900"/>
              <a:buChar char="•"/>
              <a:defRPr sz="6900"/>
            </a:lvl4pPr>
            <a:lvl5pPr indent="-66675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900"/>
              <a:buChar char="•"/>
              <a:defRPr sz="6900"/>
            </a:lvl5pPr>
            <a:lvl6pPr indent="-66675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900"/>
              <a:buChar char="•"/>
              <a:defRPr sz="6900"/>
            </a:lvl6pPr>
            <a:lvl7pPr indent="-66675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900"/>
              <a:buChar char="•"/>
              <a:defRPr sz="6900"/>
            </a:lvl7pPr>
            <a:lvl8pPr indent="-66675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900"/>
              <a:buChar char="•"/>
              <a:defRPr sz="6900"/>
            </a:lvl8pPr>
            <a:lvl9pPr indent="-66675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900"/>
              <a:buChar char="•"/>
              <a:defRPr sz="69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2267429" y="13167360"/>
            <a:ext cx="10617000" cy="24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/>
            </a:lvl1pPr>
            <a:lvl2pPr indent="-2286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/>
            </a:lvl2pPr>
            <a:lvl3pPr indent="-2286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3pPr>
            <a:lvl4pPr indent="-2286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4pPr>
            <a:lvl5pPr indent="-2286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5pPr>
            <a:lvl6pPr indent="-2286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6pPr>
            <a:lvl7pPr indent="-2286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7pPr>
            <a:lvl8pPr indent="-2286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8pPr>
            <a:lvl9pPr indent="-2286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226314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10904220" y="40680649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2324862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2267429" y="2926080"/>
            <a:ext cx="10617000" cy="10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66000" lIns="132050" spcFirstLastPara="1" rIns="132050" wrap="square" tIns="66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0"/>
              <a:buFont typeface="Calibri"/>
              <a:buNone/>
              <a:defRPr sz="1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13994607" y="6319529"/>
            <a:ext cx="16665000" cy="311913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2267429" y="13167360"/>
            <a:ext cx="10617000" cy="24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/>
            </a:lvl1pPr>
            <a:lvl2pPr indent="-2286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/>
            </a:lvl2pPr>
            <a:lvl3pPr indent="-2286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3pPr>
            <a:lvl4pPr indent="-2286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4pPr>
            <a:lvl5pPr indent="-2286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5pPr>
            <a:lvl6pPr indent="-2286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6pPr>
            <a:lvl7pPr indent="-2286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7pPr>
            <a:lvl8pPr indent="-2286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8pPr>
            <a:lvl9pPr indent="-2286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226314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10904220" y="40680649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2324862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2263140" y="2336809"/>
            <a:ext cx="28392000" cy="84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2534910" y="11412350"/>
            <a:ext cx="27848700" cy="28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normAutofit/>
          </a:bodyPr>
          <a:lstStyle>
            <a:lvl1pPr indent="-393700" lvl="0" marL="4572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1pPr>
            <a:lvl2pPr indent="-3937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2pPr>
            <a:lvl3pPr indent="-3937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3pPr>
            <a:lvl4pPr indent="-3937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4pPr>
            <a:lvl5pPr indent="-3937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5pPr>
            <a:lvl6pPr indent="-3937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6pPr>
            <a:lvl7pPr indent="-3937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7pPr>
            <a:lvl8pPr indent="-3937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8pPr>
            <a:lvl9pPr indent="-3937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226314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10904220" y="40680649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2324862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8508361" y="17385700"/>
            <a:ext cx="37195800" cy="70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-5893498" y="10493350"/>
            <a:ext cx="37195800" cy="208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normAutofit/>
          </a:bodyPr>
          <a:lstStyle>
            <a:lvl1pPr indent="-393700" lvl="0" marL="45720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1pPr>
            <a:lvl2pPr indent="-3937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2pPr>
            <a:lvl3pPr indent="-3937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3pPr>
            <a:lvl4pPr indent="-3937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4pPr>
            <a:lvl5pPr indent="-3937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5pPr>
            <a:lvl6pPr indent="-3937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6pPr>
            <a:lvl7pPr indent="-3937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7pPr>
            <a:lvl8pPr indent="-3937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8pPr>
            <a:lvl9pPr indent="-3937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226314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10904220" y="40680649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2324862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2263140" y="2336809"/>
            <a:ext cx="28392000" cy="84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0"/>
              <a:buFont typeface="Calibri"/>
              <a:buNone/>
              <a:defRPr b="0" i="0" sz="15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2263140" y="11684000"/>
            <a:ext cx="28392000" cy="27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normAutofit/>
          </a:bodyPr>
          <a:lstStyle>
            <a:lvl1pPr indent="-844550" lvl="0" marL="457200" marR="0" rtl="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55650" lvl="1" marL="91440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300"/>
              <a:buFont typeface="Arial"/>
              <a:buChar char="•"/>
              <a:defRPr b="0" i="0" sz="8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66750" lvl="2" marL="137160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Arial"/>
              <a:buChar char="•"/>
              <a:defRPr b="0" i="0" sz="6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22300" lvl="3" marL="182880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Arial"/>
              <a:buChar char="•"/>
              <a:defRPr b="0" i="0" sz="6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22300" lvl="4" marL="228600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Arial"/>
              <a:buChar char="•"/>
              <a:defRPr b="0" i="0" sz="6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22300" lvl="5" marL="274320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Arial"/>
              <a:buChar char="•"/>
              <a:defRPr b="0" i="0" sz="6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22300" lvl="6" marL="320040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Arial"/>
              <a:buChar char="•"/>
              <a:defRPr b="0" i="0" sz="6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22300" lvl="7" marL="365760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Arial"/>
              <a:buChar char="•"/>
              <a:defRPr b="0" i="0" sz="6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22300" lvl="8" marL="411480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Arial"/>
              <a:buChar char="•"/>
              <a:defRPr b="0" i="0" sz="6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226314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10904220" y="40680649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23248620" y="40680649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4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4.png"/><Relationship Id="rId22" Type="http://schemas.openxmlformats.org/officeDocument/2006/relationships/image" Target="../media/image7.png"/><Relationship Id="rId21" Type="http://schemas.openxmlformats.org/officeDocument/2006/relationships/image" Target="../media/image13.png"/><Relationship Id="rId24" Type="http://schemas.openxmlformats.org/officeDocument/2006/relationships/image" Target="../media/image21.png"/><Relationship Id="rId23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7.png"/><Relationship Id="rId26" Type="http://schemas.openxmlformats.org/officeDocument/2006/relationships/image" Target="../media/image20.png"/><Relationship Id="rId25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16.png"/><Relationship Id="rId8" Type="http://schemas.openxmlformats.org/officeDocument/2006/relationships/image" Target="../media/image23.png"/><Relationship Id="rId11" Type="http://schemas.openxmlformats.org/officeDocument/2006/relationships/image" Target="../media/image5.png"/><Relationship Id="rId10" Type="http://schemas.openxmlformats.org/officeDocument/2006/relationships/image" Target="../media/image11.png"/><Relationship Id="rId13" Type="http://schemas.openxmlformats.org/officeDocument/2006/relationships/image" Target="../media/image6.png"/><Relationship Id="rId12" Type="http://schemas.openxmlformats.org/officeDocument/2006/relationships/image" Target="../media/image22.png"/><Relationship Id="rId15" Type="http://schemas.openxmlformats.org/officeDocument/2006/relationships/image" Target="../media/image12.png"/><Relationship Id="rId14" Type="http://schemas.openxmlformats.org/officeDocument/2006/relationships/image" Target="../media/image3.png"/><Relationship Id="rId17" Type="http://schemas.openxmlformats.org/officeDocument/2006/relationships/image" Target="../media/image4.jpg"/><Relationship Id="rId16" Type="http://schemas.openxmlformats.org/officeDocument/2006/relationships/image" Target="../media/image8.png"/><Relationship Id="rId19" Type="http://schemas.openxmlformats.org/officeDocument/2006/relationships/image" Target="../media/image9.png"/><Relationship Id="rId1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140025" y="-191200"/>
            <a:ext cx="33058500" cy="44013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66000" lIns="132050" spcFirstLastPara="1" rIns="132050" wrap="square" tIns="6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BC8E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44225" y="86000"/>
            <a:ext cx="25790100" cy="4566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195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000" lIns="132050" spcFirstLastPara="1" rIns="132050" wrap="square" tIns="6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en-US" sz="4100" u="none" cap="none" strike="noStrike">
                <a:solidFill>
                  <a:srgbClr val="225F98"/>
                </a:solidFill>
                <a:latin typeface="Lucida Sans"/>
                <a:ea typeface="Lucida Sans"/>
                <a:cs typeface="Lucida Sans"/>
                <a:sym typeface="Lucida Sans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Theme 1 - 3135.003</a:t>
            </a:r>
            <a:r>
              <a:rPr b="0" i="0" lang="en-US" sz="5600" u="none" cap="none" strike="noStrike">
                <a:solidFill>
                  <a:srgbClr val="225F98"/>
                </a:solidFill>
                <a:latin typeface="Lucida Sans"/>
                <a:ea typeface="Lucida Sans"/>
                <a:cs typeface="Lucida Sans"/>
                <a:sym typeface="Lucida Sans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 </a:t>
            </a:r>
            <a:r>
              <a:rPr b="1" i="0" lang="en-US" sz="7000" u="none" cap="none" strike="noStrike">
                <a:solidFill>
                  <a:srgbClr val="195A99"/>
                </a:solidFill>
                <a:latin typeface="Lucida Sans"/>
                <a:ea typeface="Lucida Sans"/>
                <a:cs typeface="Lucida Sans"/>
                <a:sym typeface="Lucida Sans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Lmgame-Bench: </a:t>
            </a:r>
            <a:br>
              <a:rPr b="1" i="0" lang="en-US" sz="7000" u="none" cap="none" strike="noStrike">
                <a:solidFill>
                  <a:srgbClr val="195A99"/>
                </a:solidFill>
                <a:latin typeface="Lucida Sans"/>
                <a:ea typeface="Lucida Sans"/>
                <a:cs typeface="Lucida Sans"/>
                <a:sym typeface="Lucida Sans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</a:br>
            <a:r>
              <a:rPr b="1" i="0" lang="en-US" sz="7000" u="none" cap="none" strike="noStrike">
                <a:solidFill>
                  <a:srgbClr val="195A99"/>
                </a:solidFill>
                <a:latin typeface="Lucida Sans"/>
                <a:ea typeface="Lucida Sans"/>
                <a:cs typeface="Lucida Sans"/>
                <a:sym typeface="Lucida Sans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Benchmarking and Training LLMs and VLMs </a:t>
            </a:r>
            <a:br>
              <a:rPr b="1" i="0" lang="en-US" sz="7000" u="none" cap="none" strike="noStrike">
                <a:solidFill>
                  <a:srgbClr val="195A99"/>
                </a:solidFill>
                <a:latin typeface="Lucida Sans"/>
                <a:ea typeface="Lucida Sans"/>
                <a:cs typeface="Lucida Sans"/>
                <a:sym typeface="Lucida Sans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</a:br>
            <a:r>
              <a:rPr b="1" i="0" lang="en-US" sz="7000" u="none" cap="none" strike="noStrike">
                <a:solidFill>
                  <a:srgbClr val="195A99"/>
                </a:solidFill>
                <a:latin typeface="Lucida Sans"/>
                <a:ea typeface="Lucida Sans"/>
                <a:cs typeface="Lucida Sans"/>
                <a:sym typeface="Lucida Sans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through Gaming Simulation Environments</a:t>
            </a:r>
            <a:endParaRPr b="1" i="0" sz="7000" u="none" cap="none" strike="noStrike">
              <a:solidFill>
                <a:srgbClr val="195A99"/>
              </a:solidFill>
              <a:latin typeface="Lucida Sans"/>
              <a:ea typeface="Lucida Sans"/>
              <a:cs typeface="Lucida Sans"/>
              <a:sym typeface="Lucida Sans"/>
              <a:extLst>
                <a:ext uri="http://customooxmlschemas.google.com/">
                  <go:slidesCustomData xmlns:go="http://customooxmlschemas.google.com/" textRoundtripDataId="3"/>
                </a:ext>
              </a:extLs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lang="en-US" sz="3000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Mingjia Huo (PhD), </a:t>
            </a:r>
            <a:r>
              <a:rPr i="0" lang="en-US" sz="30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Lanxiang Hu (PhD),</a:t>
            </a:r>
            <a:endParaRPr i="0" sz="3000" u="none" cap="none" strike="noStrik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0" i="0" lang="en-US" sz="30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Yuxuan Zhang (BS), Haoyang Yu (BS), Hao Zhang (PI@UCSD), Haojian Jin (PI@UCSD), </a:t>
            </a:r>
            <a:r>
              <a:rPr b="1" lang="en-US" sz="3000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Tajana Rosing (PI@UCSD)</a:t>
            </a:r>
            <a:endParaRPr b="0" i="0" sz="3000" u="none" cap="none" strike="noStrike">
              <a:solidFill>
                <a:srgbClr val="C27BA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1436000" y="4895600"/>
            <a:ext cx="10105800" cy="15945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9BB7D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000" lIns="132050" spcFirstLastPara="1" rIns="132050" wrap="square" tIns="6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21981950" y="4895700"/>
            <a:ext cx="10491900" cy="15945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195A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000" lIns="132050" spcFirstLastPara="1" rIns="132050" wrap="square" tIns="6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86147" y="9208767"/>
            <a:ext cx="104922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171616"/>
                </a:solidFill>
                <a:latin typeface="Lucida Sans"/>
                <a:ea typeface="Lucida Sans"/>
                <a:cs typeface="Lucida Sans"/>
                <a:sym typeface="Lucida Sans"/>
              </a:rPr>
              <a:t>Text Body 24 pt Lucida Sans.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1659625" y="6981300"/>
            <a:ext cx="9637500" cy="127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6000" lIns="132050" spcFirstLastPara="1" rIns="132050" wrap="square" tIns="660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Games as Evaluation Benchmarks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Sokoban: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Grid puzzles with irreversible moves (planning)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Tetris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Fast-paced spatial game (geometric reasoning)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2048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Tile-merging game (value tracking)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Candy Crush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Match-3 with cascades (pattern reasoning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 Attorney: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novel (vision language reasoning)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 Mario Bros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platformer game (spatial reasoning)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We leveraged a unified </a:t>
            </a:r>
            <a:r>
              <a:rPr b="1" lang="en-US" sz="2400">
                <a:solidFill>
                  <a:schemeClr val="dk1"/>
                </a:solidFill>
              </a:rPr>
              <a:t>Gym-style API </a:t>
            </a:r>
            <a:r>
              <a:rPr lang="en-US" sz="2400">
                <a:solidFill>
                  <a:schemeClr val="dk1"/>
                </a:solidFill>
              </a:rPr>
              <a:t>to interact with gaming environments, with the following standard inputs and outputs: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 outputs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observation, reward, terminatio</a:t>
            </a:r>
            <a:r>
              <a:rPr lang="en-US" sz="2400">
                <a:solidFill>
                  <a:schemeClr val="dk1"/>
                </a:solidFill>
              </a:rPr>
              <a:t>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 inputs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LLM-generated action(s)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2243125" y="7060072"/>
            <a:ext cx="10017000" cy="85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(Vision) Perception module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Load ground truth symbolic game state (e.g. as a text table) from backend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5"/>
                </a:ext>
              </a:extLst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Extract symbolic game state from vision input to facilitate spatial reasoning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module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 term memory: state, action, reward for past N turns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 term memory: state, action, reward for all past turns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Reflection module: synthesize lessons learned (to avoid critical mistakes — actions that lead to failures)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Reasoning module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>
                <a:solidFill>
                  <a:schemeClr val="dk1"/>
                </a:solidFill>
              </a:rPr>
              <a:t>Recent reasoning models explore reasoning paths and synthesize final answers, achieving strong results in math, coding, and planning. LMGame-Bench supports evaluating such models with or without long chain-of-thought reasoning.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1454350" y="4929200"/>
            <a:ext cx="10105800" cy="1912800"/>
          </a:xfrm>
          <a:prstGeom prst="rect">
            <a:avLst/>
          </a:prstGeom>
          <a:solidFill>
            <a:srgbClr val="9BB7DC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00" lIns="132050" spcFirstLastPara="1" rIns="132050" wrap="square" tIns="6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71616"/>
              </a:solidFill>
              <a:highlight>
                <a:srgbClr val="F9EADB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21981950" y="4895700"/>
            <a:ext cx="10491900" cy="1989600"/>
          </a:xfrm>
          <a:prstGeom prst="rect">
            <a:avLst/>
          </a:prstGeom>
          <a:solidFill>
            <a:srgbClr val="195A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00" lIns="132050" spcFirstLastPara="1" rIns="132050" wrap="square" tIns="6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2018650" y="5465750"/>
            <a:ext cx="10491900" cy="19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en-US" sz="39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Technical Approach</a:t>
            </a:r>
            <a:endParaRPr b="1" sz="39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t/>
            </a:r>
            <a:endParaRPr b="1" sz="39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t/>
            </a:r>
            <a:endParaRPr b="1" sz="39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368016" y="4894724"/>
            <a:ext cx="10787495" cy="15945174"/>
            <a:chOff x="537880" y="5152522"/>
            <a:chExt cx="10501845" cy="11953800"/>
          </a:xfrm>
        </p:grpSpPr>
        <p:sp>
          <p:nvSpPr>
            <p:cNvPr id="95" name="Google Shape;95;p1"/>
            <p:cNvSpPr/>
            <p:nvPr/>
          </p:nvSpPr>
          <p:spPr>
            <a:xfrm>
              <a:off x="537880" y="5152522"/>
              <a:ext cx="10454100" cy="11953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6000" lIns="132050" spcFirstLastPara="1" rIns="132050" wrap="square" tIns="6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585625" y="5170986"/>
              <a:ext cx="10454100" cy="1464000"/>
            </a:xfrm>
            <a:prstGeom prst="rect">
              <a:avLst/>
            </a:prstGeom>
            <a:solidFill>
              <a:srgbClr val="195A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6000" lIns="132050" spcFirstLastPara="1" rIns="132050" wrap="square" tIns="6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"/>
          <p:cNvSpPr txBox="1"/>
          <p:nvPr/>
        </p:nvSpPr>
        <p:spPr>
          <a:xfrm>
            <a:off x="503650" y="5465750"/>
            <a:ext cx="104922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Objectives</a:t>
            </a:r>
            <a:endParaRPr b="0" i="0" sz="20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712875" y="7209875"/>
            <a:ext cx="10105800" cy="68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We create a benchmark (lmgame-Bench) to test how well </a:t>
            </a:r>
            <a:r>
              <a:rPr lang="en-US" sz="2400">
                <a:solidFill>
                  <a:schemeClr val="dk1"/>
                </a:solidFill>
              </a:rPr>
              <a:t>Large Language Models (LLMs)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400">
                <a:solidFill>
                  <a:schemeClr val="dk1"/>
                </a:solidFill>
              </a:rPr>
              <a:t>Vision Language Models (VLMs)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perceive, remember, and plan while performing agentic tasks in gaming environments.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today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Existing agentic benchmarks for LLMs are brittle—models often fail due to poor visual understanding, prompt sensitivity, and data contamination—making results unreliable.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Solution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Combining perception, memory, and long-horizon reasoning into a benchmark.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Scalability: it’s very expensive craft agentic benchmark. We can repurpose gaming environments into agentic benchmarks.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It advances state-of-the-art general-purpose AI systems that can act and adapt in dynamic environments.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1435975" y="22325525"/>
            <a:ext cx="10105800" cy="15297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9BB7D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000" lIns="132050" spcFirstLastPara="1" rIns="132050" wrap="square" tIns="6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21946500" y="21343785"/>
            <a:ext cx="10491900" cy="16279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195A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000" lIns="132050" spcFirstLastPara="1" rIns="132050" wrap="square" tIns="6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95A99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0" i="0" sz="1200" u="none" cap="none" strike="noStrike">
              <a:solidFill>
                <a:srgbClr val="195A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22183950" y="23542372"/>
            <a:ext cx="10017000" cy="14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en-US" sz="2400">
                <a:solidFill>
                  <a:schemeClr val="dk1"/>
                </a:solidFill>
              </a:rPr>
              <a:t>Key accomplishments:</a:t>
            </a:r>
            <a:endParaRPr b="1"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</a:rPr>
              <a:t>lmgame-Bench</a:t>
            </a:r>
            <a:r>
              <a:rPr lang="en-US" sz="2400">
                <a:solidFill>
                  <a:schemeClr val="dk1"/>
                </a:solidFill>
              </a:rPr>
              <a:t> is a unified benchmark that evaluates and trains language models through interactive reasoning and decision-making across diverse games.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Grand Challenge Applications: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Deep insi</a:t>
            </a:r>
            <a:r>
              <a:rPr lang="en-US" sz="2400">
                <a:solidFill>
                  <a:schemeClr val="dk1"/>
                </a:solidFill>
              </a:rPr>
              <a:t>ghts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Contribute to grand challenges in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agentic AI and generalizable model training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focusing on perception, planning, and decision-making in uncertain environments.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Datasets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rPr>
              <a:t>: Six curated games (Super Mario Bros., Tetris, Sokoban, Candy Crush, 2048, Ace Attorney) with structured state/action/reward annotations, plus contamination-mitigated variants.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Infrastructure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open-source RL frameworks (RAGEN, veRL), and standardized Gym-style APIs for reproducibility.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en-US" sz="2400">
                <a:solidFill>
                  <a:schemeClr val="dk1"/>
                </a:solidFill>
              </a:rPr>
              <a:t>Lessons learned:</a:t>
            </a:r>
            <a:endParaRPr b="1" sz="2400">
              <a:solidFill>
                <a:schemeClr val="dk1"/>
              </a:solidFill>
            </a:endParaRPr>
          </a:p>
          <a:p>
            <a:pPr indent="-3810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lang="en-US" sz="2400">
                <a:solidFill>
                  <a:schemeClr val="dk1"/>
                </a:solidFill>
              </a:rPr>
              <a:t>Current VLMs are far from human-level perception, underscoring the need for our perception module.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lang="en-US" sz="2400">
                <a:solidFill>
                  <a:schemeClr val="dk1"/>
                </a:solidFill>
              </a:rPr>
              <a:t>Spatial and temporal reasoning remain key bottlenecks, limiting real-time decision-making.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lang="en-US" sz="2400">
                <a:solidFill>
                  <a:schemeClr val="dk1"/>
                </a:solidFill>
              </a:rPr>
              <a:t>Long-context understanding is weak, as models fail to extract useful information from full game trajectories.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</a:rPr>
              <a:t>C</a:t>
            </a:r>
            <a:r>
              <a:rPr lang="en-US" sz="2400">
                <a:solidFill>
                  <a:schemeClr val="dk1"/>
                </a:solidFill>
              </a:rPr>
              <a:t>omputational cost of inference remains a barrier, as multi-turn gameplay often requires long reasoning traces that drive up latency and resource usage, reducing scalability for larger models.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Showstoppers: 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contamination was observed in narrative-heavy gam</a:t>
            </a:r>
            <a:r>
              <a:rPr lang="en-US" sz="2400">
                <a:solidFill>
                  <a:schemeClr val="dk1"/>
                </a:solidFill>
              </a:rPr>
              <a:t>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 Attorney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where model outputs initially showed strong correlation with publicly available transcripts.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algorithm optimization and build a automatic prompt optimization pipeline for agentic applications.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lang="en-US" sz="2400">
                <a:solidFill>
                  <a:schemeClr val="dk1"/>
                </a:solidFill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dapt hardware-software codesign to improve agent efficiency.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368075" y="21343619"/>
            <a:ext cx="10663200" cy="16279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195A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000" lIns="132050" spcFirstLastPara="1" rIns="132050" wrap="square" tIns="6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368025" y="21250593"/>
            <a:ext cx="10663200" cy="2121900"/>
          </a:xfrm>
          <a:prstGeom prst="rect">
            <a:avLst/>
          </a:prstGeom>
          <a:solidFill>
            <a:srgbClr val="9BB7DC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00" lIns="132050" spcFirstLastPara="1" rIns="132050" wrap="square" tIns="6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highlight>
                <a:srgbClr val="F9EADB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386350" y="21971725"/>
            <a:ext cx="106632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</a:pPr>
            <a:r>
              <a:rPr b="1" lang="en-US" sz="3900">
                <a:solidFill>
                  <a:srgbClr val="171616"/>
                </a:solidFill>
                <a:latin typeface="Lucida Sans"/>
                <a:ea typeface="Lucida Sans"/>
                <a:cs typeface="Lucida Sans"/>
                <a:sym typeface="Lucida Sans"/>
              </a:rPr>
              <a:t>Experimental Setup</a:t>
            </a:r>
            <a:endParaRPr sz="3900">
              <a:solidFill>
                <a:srgbClr val="17161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11412525" y="21235250"/>
            <a:ext cx="10105800" cy="2121900"/>
          </a:xfrm>
          <a:prstGeom prst="rect">
            <a:avLst/>
          </a:prstGeom>
          <a:solidFill>
            <a:srgbClr val="225F98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00" lIns="132050" spcFirstLastPara="1" rIns="132050" wrap="square" tIns="6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21928200" y="21343667"/>
            <a:ext cx="10491900" cy="1989600"/>
          </a:xfrm>
          <a:prstGeom prst="rect">
            <a:avLst/>
          </a:prstGeom>
          <a:solidFill>
            <a:srgbClr val="9BB7DC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00" lIns="132050" spcFirstLastPara="1" rIns="132050" wrap="square" tIns="6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21995415" y="21726419"/>
            <a:ext cx="104919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  <a:extLst>
                  <a:ext uri="http://customooxmlschemas.google.com/">
                    <go:slidesCustomData xmlns:go="http://customooxmlschemas.google.com/" textRoundtripDataId="9"/>
                  </a:ext>
                </a:extLst>
              </a:rPr>
              <a:t>Key Accomplishments, </a:t>
            </a:r>
            <a:br>
              <a:rPr b="1" i="0" lang="en-US" sz="3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  <a:extLst>
                  <a:ext uri="http://customooxmlschemas.google.com/">
                    <go:slidesCustomData xmlns:go="http://customooxmlschemas.google.com/" textRoundtripDataId="9"/>
                  </a:ext>
                </a:extLst>
              </a:rPr>
            </a:br>
            <a:r>
              <a:rPr b="1" i="0" lang="en-US" sz="3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  <a:extLst>
                  <a:ext uri="http://customooxmlschemas.google.com/">
                    <go:slidesCustomData xmlns:go="http://customooxmlschemas.google.com/" textRoundtripDataId="9"/>
                  </a:ext>
                </a:extLst>
              </a:rPr>
              <a:t>Showstoppers &amp; Next Steps</a:t>
            </a:r>
            <a:endParaRPr b="0" i="0" sz="20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543001" y="23542372"/>
            <a:ext cx="10257900" cy="9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en-US" sz="2400">
                <a:solidFill>
                  <a:schemeClr val="dk1"/>
                </a:solidFill>
              </a:rPr>
              <a:t>Setup:</a:t>
            </a:r>
            <a:endParaRPr b="1" sz="2400">
              <a:solidFill>
                <a:schemeClr val="dk1"/>
              </a:solidFill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</a:rPr>
              <a:t>13 state-of-the-art models from OpenAI, Claude, etc., covering both open and closed source models.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</a:rPr>
              <a:t>Turn on/off memory/perception/reasoning harness modules.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Leaderboard: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put the models into the gaming environment, to test how the most advanced models of today perform on gaming tasks that require environment interaction skills.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Agentic design </a:t>
            </a:r>
            <a:r>
              <a:rPr lang="en-US" sz="2400">
                <a:solidFill>
                  <a:schemeClr val="dk1"/>
                </a:solidFill>
              </a:rPr>
              <a:t>significantly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improves model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335675" y="38003500"/>
            <a:ext cx="32222400" cy="2324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95A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000" lIns="132050" spcFirstLastPara="1" rIns="132050" wrap="square" tIns="6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560775" y="38172900"/>
            <a:ext cx="31640100" cy="17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This work was supported in part by the Semiconductor Research Corporation (SRC) and DARPA.</a:t>
            </a:r>
            <a:endParaRPr b="1" i="0" sz="22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i="0" lang="en-US" sz="2200" u="none" cap="none" strike="noStrik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Publications: </a:t>
            </a:r>
            <a:r>
              <a:rPr b="0" i="0" lang="en-US" sz="2200" u="none" cap="none" strike="noStrike">
                <a:solidFill>
                  <a:srgbClr val="225F9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Hu, L., Huo, M., Zhang, Y., Yu, H., Xing, E.P., Stoica, I., Rosing, T., Jin, H. and Zhang, H., </a:t>
            </a:r>
            <a:r>
              <a:rPr lang="en-US" sz="2200">
                <a:solidFill>
                  <a:srgbClr val="225F9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b="0" i="0" lang="en-US" sz="2200" u="none" cap="none" strike="noStrike">
                <a:solidFill>
                  <a:srgbClr val="225F9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lmgame-Bench: How Good are LLMs at Playing Games?</a:t>
            </a:r>
            <a:r>
              <a:rPr lang="en-US" sz="2200">
                <a:solidFill>
                  <a:srgbClr val="225F9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</a:t>
            </a:r>
            <a:r>
              <a:rPr b="0" i="0" lang="en-US" sz="2200" u="none" cap="none" strike="noStrike">
                <a:solidFill>
                  <a:srgbClr val="225F9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ICLR In Submission.</a:t>
            </a:r>
            <a:endParaRPr b="0" i="0" sz="2200" u="none" cap="none" strike="noStrike">
              <a:solidFill>
                <a:srgbClr val="225F9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25F9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17161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11" name="Google Shape;1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14" y="41505209"/>
            <a:ext cx="4510244" cy="1836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&#10;&#10;Description automatically generated" id="112" name="Google Shape;1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60750" y="41061861"/>
            <a:ext cx="3179232" cy="253581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"/>
          <p:cNvSpPr txBox="1"/>
          <p:nvPr/>
        </p:nvSpPr>
        <p:spPr>
          <a:xfrm>
            <a:off x="11635575" y="23542372"/>
            <a:ext cx="9637500" cy="111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lmgame bench, we also build a testbed for </a:t>
            </a:r>
            <a:r>
              <a:rPr b="1" i="0" lang="en-US" sz="2400" u="none" cap="none" strike="noStrike">
                <a:solidFill>
                  <a:schemeClr val="dk1"/>
                </a:solidFill>
              </a:rPr>
              <a:t>RL agent training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Setup</a:t>
            </a:r>
            <a:r>
              <a:rPr lang="en-US" sz="2400">
                <a:solidFill>
                  <a:schemeClr val="dk1"/>
                </a:solidFill>
              </a:rPr>
              <a:t>: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</a:rPr>
              <a:t>Multi-turn RL on Text-only LLMs (7B parameters)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</a:rPr>
              <a:t>Trained on Sokoban or Tetris, and evaluated on planning, math, coding and agentic tasks.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results show not only improvement on the game itself, but also on other </a:t>
            </a:r>
            <a:r>
              <a:rPr b="1" i="0" lang="en-US" sz="2400" u="none" cap="none" strike="noStrike">
                <a:solidFill>
                  <a:schemeClr val="dk1"/>
                </a:solidFill>
              </a:rPr>
              <a:t>reasoning and decision making tasks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(e.g. if we train on Sokoban, results on Tetris and BLocksworld improve).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en-US" sz="2400">
                <a:solidFill>
                  <a:schemeClr val="dk1"/>
                </a:solidFill>
              </a:rPr>
              <a:t>I</a:t>
            </a:r>
            <a:r>
              <a:rPr b="1" i="0" lang="en-US" sz="2400" u="none" cap="none" strike="noStrike">
                <a:solidFill>
                  <a:schemeClr val="dk1"/>
                </a:solidFill>
              </a:rPr>
              <a:t>n-domain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generalization (other games</a:t>
            </a:r>
            <a:r>
              <a:rPr lang="en-US" sz="2400">
                <a:solidFill>
                  <a:schemeClr val="dk1"/>
                </a:solidFill>
              </a:rPr>
              <a:t> or the same game under different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settings):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1"/>
                </a:solidFill>
              </a:rPr>
              <a:t>Out-of-domain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</a:rPr>
              <a:t>generalization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(math</a:t>
            </a:r>
            <a:r>
              <a:rPr lang="en-US" sz="2400">
                <a:solidFill>
                  <a:schemeClr val="dk1"/>
                </a:solidFill>
              </a:rPr>
              <a:t>,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codin</a:t>
            </a:r>
            <a:r>
              <a:rPr lang="en-US" sz="2400">
                <a:solidFill>
                  <a:schemeClr val="dk1"/>
                </a:solidFill>
              </a:rPr>
              <a:t>g, and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agentic </a:t>
            </a:r>
            <a:r>
              <a:rPr lang="en-US" sz="2400">
                <a:solidFill>
                  <a:schemeClr val="dk1"/>
                </a:solidFill>
              </a:rPr>
              <a:t>tasks)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Mixed data</a:t>
            </a:r>
            <a:r>
              <a:rPr lang="en-US" sz="2400">
                <a:solidFill>
                  <a:schemeClr val="dk1"/>
                </a:solidFill>
              </a:rPr>
              <a:t> training, where we trained LLMs with a half-half mixture of math and game.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11480400" y="5465750"/>
            <a:ext cx="10017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en-US" sz="39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Technical Approach</a:t>
            </a:r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t/>
            </a:r>
            <a:endParaRPr b="1" sz="39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5448300" y="40735875"/>
            <a:ext cx="22993500" cy="2868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195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highlight>
                <a:schemeClr val="accen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7427" y="42433904"/>
            <a:ext cx="2342370" cy="883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69959" y="41384233"/>
            <a:ext cx="3225884" cy="969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334307" y="41384233"/>
            <a:ext cx="2818161" cy="969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72922" y="42135815"/>
            <a:ext cx="2040082" cy="132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099726" y="42349205"/>
            <a:ext cx="3689677" cy="1052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554026" y="41024982"/>
            <a:ext cx="3537075" cy="1687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966713" y="41466100"/>
            <a:ext cx="2571900" cy="9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673601" y="41322155"/>
            <a:ext cx="3693218" cy="1093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"/>
          <p:cNvPicPr preferRelativeResize="0"/>
          <p:nvPr/>
        </p:nvPicPr>
        <p:blipFill rotWithShape="1">
          <a:blip r:embed="rId13">
            <a:alphaModFix/>
          </a:blip>
          <a:srcRect b="22035" l="12649" r="15028" t="14804"/>
          <a:stretch/>
        </p:blipFill>
        <p:spPr>
          <a:xfrm>
            <a:off x="8996519" y="42329036"/>
            <a:ext cx="3689680" cy="1093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0399925" y="41929183"/>
            <a:ext cx="3967478" cy="1892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99000" y="41483675"/>
            <a:ext cx="3693200" cy="770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5130326" y="42490554"/>
            <a:ext cx="2957750" cy="77018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"/>
          <p:cNvSpPr txBox="1"/>
          <p:nvPr/>
        </p:nvSpPr>
        <p:spPr>
          <a:xfrm>
            <a:off x="8736975" y="40705238"/>
            <a:ext cx="1504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  <a:extLst>
                  <a:ext uri="http://customooxmlschemas.google.com/">
                    <go:slidesCustomData xmlns:go="http://customooxmlschemas.google.com/" textRoundtripDataId="10"/>
                  </a:ext>
                </a:extLst>
              </a:rPr>
              <a:t>PRISM Annual Review </a:t>
            </a:r>
            <a:r>
              <a:rPr b="0" i="0" lang="en-US" sz="36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  <a:extLst>
                  <a:ext uri="http://customooxmlschemas.google.com/">
                    <go:slidesCustomData xmlns:go="http://customooxmlschemas.google.com/" textRoundtripDataId="11"/>
                  </a:ext>
                </a:extLst>
              </a:rPr>
              <a:t>| November </a:t>
            </a:r>
            <a:r>
              <a:rPr b="0" i="0" lang="en-US" sz="36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12-13, 2025</a:t>
            </a:r>
            <a:endParaRPr b="1" i="0" sz="2500" u="none" cap="none" strike="noStrik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29" name="Google Shape;129;p1" title="22611759887977_.pic_hd.jpg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6521876" y="487938"/>
            <a:ext cx="2571900" cy="3739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" title="Screenshot 2025-10-29 at 2.32.34 PM.png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604250" y="10863669"/>
            <a:ext cx="9592089" cy="3843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"/>
          <p:cNvPicPr preferRelativeResize="0"/>
          <p:nvPr/>
        </p:nvPicPr>
        <p:blipFill rotWithShape="1">
          <a:blip r:embed="rId19">
            <a:alphaModFix/>
          </a:blip>
          <a:srcRect b="0" l="0" r="0" t="18770"/>
          <a:stretch/>
        </p:blipFill>
        <p:spPr>
          <a:xfrm>
            <a:off x="535900" y="27542377"/>
            <a:ext cx="10257900" cy="4361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" title="Screenshot 2025-10-29 at 3.14.14 PM.png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35900" y="33149727"/>
            <a:ext cx="10257901" cy="376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1597445" y="30971854"/>
            <a:ext cx="9592101" cy="1598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" title="Screenshot 2025-10-29 at 3.20.55 PM.png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1586088" y="28033852"/>
            <a:ext cx="9637501" cy="149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9381325" y="857050"/>
            <a:ext cx="3537076" cy="3153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"/>
          <p:cNvSpPr txBox="1"/>
          <p:nvPr/>
        </p:nvSpPr>
        <p:spPr>
          <a:xfrm>
            <a:off x="11676300" y="14891725"/>
            <a:ext cx="9592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b="1" lang="en-US" sz="1600"/>
              <a:t>2.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600"/>
              <a:t>O</a:t>
            </a:r>
            <a:r>
              <a:rPr b="1" lang="en-US" sz="1600">
                <a:solidFill>
                  <a:schemeClr val="dk1"/>
                </a:solidFill>
              </a:rPr>
              <a:t>verview of lmgame-Bench,</a:t>
            </a:r>
            <a:r>
              <a:rPr lang="en-US" sz="1600">
                <a:solidFill>
                  <a:schemeClr val="dk1"/>
                </a:solidFill>
              </a:rPr>
              <a:t> where models interact with diverse game environments through perception, memory, and reasoning modules to interpret states and decide actions in a closed evaluation loop.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22396500" y="19641568"/>
            <a:ext cx="9736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b="1" lang="en-US" sz="1600"/>
              <a:t>3</a:t>
            </a:r>
            <a:r>
              <a:rPr b="1" lang="en-US" sz="1600"/>
              <a:t>.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/>
              <a:t>lmgame-Bench </a:t>
            </a:r>
            <a:r>
              <a:rPr lang="en-US" sz="1600"/>
              <a:t>uses </a:t>
            </a:r>
            <a:r>
              <a:rPr b="1" lang="en-US" sz="1600"/>
              <a:t>modular harnesses</a:t>
            </a:r>
            <a:r>
              <a:rPr lang="en-US" sz="1600"/>
              <a:t>—such as perception, memory, and reasoning modules—to systematically extend a model’s game-playing capabilities, allowing the model to engage with a simulated game environment through iterative interaction loops.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  <p:pic>
        <p:nvPicPr>
          <p:cNvPr id="138" name="Google Shape;138;p1" title="Screenshot 2025-11-04 at 2.41.50 PM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1187749" y="14219575"/>
            <a:ext cx="9328908" cy="315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"/>
          <p:cNvSpPr txBox="1"/>
          <p:nvPr/>
        </p:nvSpPr>
        <p:spPr>
          <a:xfrm>
            <a:off x="998475" y="17583206"/>
            <a:ext cx="9736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b="1" lang="en-US" sz="1600"/>
              <a:t>1</a:t>
            </a:r>
            <a:r>
              <a:rPr b="1" lang="en-US" sz="1600"/>
              <a:t>.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0" lang="en-US" sz="1600" u="none" cap="none" strike="noStrike">
                <a:solidFill>
                  <a:srgbClr val="000000"/>
                </a:solidFill>
              </a:rPr>
              <a:t>There are </a:t>
            </a:r>
            <a:r>
              <a:rPr b="1" lang="en-US" sz="1600"/>
              <a:t>various gaming environments </a:t>
            </a:r>
            <a:r>
              <a:rPr lang="en-US" sz="1600"/>
              <a:t>that have long been used to study decision making and reinforcement learning algorithms, and we repurpose gaming environments to evaluate perception, memory, long-horizon reasoning of LLMs and VLMs.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96750" y="31741246"/>
            <a:ext cx="973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b="1" lang="en-US" sz="1600"/>
              <a:t>4</a:t>
            </a:r>
            <a:r>
              <a:rPr b="1" lang="en-US" sz="1600"/>
              <a:t>.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/>
              <a:t>Leaderboard of state-of-the-art LLMs.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3850" y="37000758"/>
            <a:ext cx="973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Table 1</a:t>
            </a:r>
            <a:r>
              <a:rPr b="1" lang="en-US" sz="1600"/>
              <a:t>.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/>
              <a:t>The performance gains with agentic harness modules.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11655476" y="29668546"/>
            <a:ext cx="973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Table 2</a:t>
            </a:r>
            <a:r>
              <a:rPr b="1" lang="en-US" sz="1600"/>
              <a:t>.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600"/>
              <a:t>In-domain RL generalization </a:t>
            </a:r>
            <a:r>
              <a:rPr lang="en-US" sz="1600"/>
              <a:t>after </a:t>
            </a:r>
            <a:r>
              <a:rPr lang="en-US" sz="1600"/>
              <a:t>training</a:t>
            </a:r>
            <a:r>
              <a:rPr lang="en-US" sz="1600"/>
              <a:t> on Sokoban and evaluated on other board games.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11644113" y="32599927"/>
            <a:ext cx="9736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Table 3.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600"/>
              <a:t>Out-of-domain RL generalization </a:t>
            </a:r>
            <a:r>
              <a:rPr lang="en-US" sz="1600"/>
              <a:t>after training on Sokoban and evaluated on Planning, Math, Coding and Agentic Tasks. After training on Sokoban or Tetris, we observed a better performance on planning and agentic tasks, due to similar input format and multi-turn capabilities.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  <p:pic>
        <p:nvPicPr>
          <p:cNvPr id="144" name="Google Shape;144;p1" title="Screenshot 2025-11-04 at 3.15.59 PM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11620787" y="34529276"/>
            <a:ext cx="9736201" cy="236084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"/>
          <p:cNvSpPr txBox="1"/>
          <p:nvPr/>
        </p:nvSpPr>
        <p:spPr>
          <a:xfrm>
            <a:off x="11620775" y="36991830"/>
            <a:ext cx="9736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b="1" lang="en-US" sz="1600"/>
              <a:t>5</a:t>
            </a:r>
            <a:r>
              <a:rPr b="1" lang="en-US" sz="1600"/>
              <a:t>.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/>
              <a:t>Success rates during training across different evaluation tasks, with models trained on Sokoban, GSM8K, or a half-half mixture of both.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  <p:pic>
        <p:nvPicPr>
          <p:cNvPr id="146" name="Google Shape;146;p1" title="Screenshot 2025-11-04 at 3.22.54 PM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24367400" y="13427197"/>
            <a:ext cx="5030124" cy="5998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"/>
          <p:cNvSpPr txBox="1"/>
          <p:nvPr/>
        </p:nvSpPr>
        <p:spPr>
          <a:xfrm>
            <a:off x="11424675" y="21629300"/>
            <a:ext cx="101058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00" lIns="132050" spcFirstLastPara="1" rIns="132050" wrap="square" tIns="6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Results and Comparison </a:t>
            </a:r>
            <a:endParaRPr b="1" i="0" sz="39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to the State-of-the-Art </a:t>
            </a:r>
            <a:endParaRPr b="0" i="0" sz="20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2023-02-27T16:13:55Z</dcterms:created>
  <dc:creator>Rogers, Lindsey</dc:creator>
</cp:coreProperties>
</file>